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1.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2.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bookmarkIdSeed="6">
  <p:sldMasterIdLst>
    <p:sldMasterId id="2147483648" r:id="rId1"/>
  </p:sldMasterIdLst>
  <p:notesMasterIdLst>
    <p:notesMasterId r:id="rId30"/>
  </p:notesMasterIdLst>
  <p:handoutMasterIdLst>
    <p:handoutMasterId r:id="rId31"/>
  </p:handoutMasterIdLst>
  <p:sldIdLst>
    <p:sldId id="348" r:id="rId2"/>
    <p:sldId id="257" r:id="rId3"/>
    <p:sldId id="258" r:id="rId4"/>
    <p:sldId id="418" r:id="rId5"/>
    <p:sldId id="393" r:id="rId6"/>
    <p:sldId id="392" r:id="rId7"/>
    <p:sldId id="394" r:id="rId8"/>
    <p:sldId id="419" r:id="rId9"/>
    <p:sldId id="420" r:id="rId10"/>
    <p:sldId id="349" r:id="rId11"/>
    <p:sldId id="397" r:id="rId12"/>
    <p:sldId id="421" r:id="rId13"/>
    <p:sldId id="422" r:id="rId14"/>
    <p:sldId id="424" r:id="rId15"/>
    <p:sldId id="423" r:id="rId16"/>
    <p:sldId id="401" r:id="rId17"/>
    <p:sldId id="425" r:id="rId18"/>
    <p:sldId id="426" r:id="rId19"/>
    <p:sldId id="260" r:id="rId20"/>
    <p:sldId id="274" r:id="rId21"/>
    <p:sldId id="410" r:id="rId22"/>
    <p:sldId id="411" r:id="rId23"/>
    <p:sldId id="413" r:id="rId24"/>
    <p:sldId id="414" r:id="rId25"/>
    <p:sldId id="416" r:id="rId26"/>
    <p:sldId id="417" r:id="rId27"/>
    <p:sldId id="415" r:id="rId28"/>
    <p:sldId id="281" r:id="rId29"/>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始" id="{71940C98-1D32-472D-A2AB-0C38DC433412}">
          <p14:sldIdLst>
            <p14:sldId id="348"/>
            <p14:sldId id="257"/>
          </p14:sldIdLst>
        </p14:section>
        <p14:section name="Part 1" id="{E28C0AA7-C14C-4EA1-9E95-9A5BD0251C3D}">
          <p14:sldIdLst>
            <p14:sldId id="258"/>
            <p14:sldId id="418"/>
            <p14:sldId id="393"/>
          </p14:sldIdLst>
        </p14:section>
        <p14:section name="Part 2" id="{3565B906-583A-4933-8E3A-F99E90835EF0}">
          <p14:sldIdLst>
            <p14:sldId id="392"/>
            <p14:sldId id="394"/>
            <p14:sldId id="419"/>
            <p14:sldId id="420"/>
          </p14:sldIdLst>
        </p14:section>
        <p14:section name="Part 3" id="{3F7497CF-3265-46CA-B9B2-451A978DC6AD}">
          <p14:sldIdLst>
            <p14:sldId id="349"/>
            <p14:sldId id="397"/>
            <p14:sldId id="421"/>
            <p14:sldId id="422"/>
            <p14:sldId id="424"/>
            <p14:sldId id="423"/>
            <p14:sldId id="401"/>
            <p14:sldId id="425"/>
            <p14:sldId id="426"/>
          </p14:sldIdLst>
        </p14:section>
        <p14:section name="Part 4" id="{CC9FEC1E-87DD-464B-8BA3-017806CDBFAA}">
          <p14:sldIdLst>
            <p14:sldId id="260"/>
            <p14:sldId id="274"/>
            <p14:sldId id="410"/>
            <p14:sldId id="411"/>
            <p14:sldId id="413"/>
            <p14:sldId id="414"/>
            <p14:sldId id="416"/>
            <p14:sldId id="417"/>
            <p14:sldId id="415"/>
            <p14:sldId id="2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E48E1"/>
    <a:srgbClr val="8B0012"/>
    <a:srgbClr val="ED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90337" autoAdjust="0"/>
  </p:normalViewPr>
  <p:slideViewPr>
    <p:cSldViewPr snapToGrid="0">
      <p:cViewPr varScale="1">
        <p:scale>
          <a:sx n="99" d="100"/>
          <a:sy n="99" d="100"/>
        </p:scale>
        <p:origin x="704" y="76"/>
      </p:cViewPr>
      <p:guideLst/>
    </p:cSldViewPr>
  </p:slideViewPr>
  <p:notesTextViewPr>
    <p:cViewPr>
      <p:scale>
        <a:sx n="1" d="1"/>
        <a:sy n="1" d="1"/>
      </p:scale>
      <p:origin x="0" y="0"/>
    </p:cViewPr>
  </p:notesTextViewPr>
  <p:notesViewPr>
    <p:cSldViewPr snapToGrid="0">
      <p:cViewPr varScale="1">
        <p:scale>
          <a:sx n="56" d="100"/>
          <a:sy n="56" d="100"/>
        </p:scale>
        <p:origin x="2370" y="51"/>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590072-8290-46F1-B3DB-9541D0D5A8F1}" type="datetimeFigureOut">
              <a:rPr lang="zh-CN" altLang="en-US" smtClean="0"/>
              <a:t>2026/5/29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51A3E5-A43A-4665-A576-A46483EFB43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16601-C416-4692-B5D7-BFEC92D9B52C}" type="datetimeFigureOut">
              <a:rPr lang="zh-CN" altLang="en-US" smtClean="0"/>
              <a:t>2026/5/29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5DE0D-E504-42F3-A81B-DF77FB5AF6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9462-FADB-F8F3-C966-C1A6779703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CB8E26-B240-6BBE-9912-E6EEA58A1E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AC10E2-AF85-0708-4623-7127227738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457A58E-C6E2-9D5F-9828-35C0E5D81EE6}"/>
              </a:ext>
            </a:extLst>
          </p:cNvPr>
          <p:cNvSpPr>
            <a:spLocks noGrp="1"/>
          </p:cNvSpPr>
          <p:nvPr>
            <p:ph type="sldNum" sz="quarter" idx="5"/>
          </p:nvPr>
        </p:nvSpPr>
        <p:spPr/>
        <p:txBody>
          <a:bodyPr/>
          <a:lstStyle/>
          <a:p>
            <a:fld id="{1535DE0D-E504-42F3-A81B-DF77FB5AF627}" type="slidenum">
              <a:rPr lang="zh-CN" altLang="en-US" smtClean="0"/>
              <a:t>6</a:t>
            </a:fld>
            <a:endParaRPr lang="zh-CN" altLang="en-US"/>
          </a:p>
        </p:txBody>
      </p:sp>
    </p:spTree>
    <p:extLst>
      <p:ext uri="{BB962C8B-B14F-4D97-AF65-F5344CB8AC3E}">
        <p14:creationId xmlns:p14="http://schemas.microsoft.com/office/powerpoint/2010/main" val="198705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C8E77-3171-E133-BEC7-8CCE122E89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91BC0C5-E1FE-F3DF-35AC-48852BA660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9CD6DF-1DF6-317A-D3BB-9C43CAD06083}"/>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770C8796-C0CB-F4D9-3C4E-AC583F80A127}"/>
              </a:ext>
            </a:extLst>
          </p:cNvPr>
          <p:cNvSpPr>
            <a:spLocks noGrp="1"/>
          </p:cNvSpPr>
          <p:nvPr>
            <p:ph type="sldNum" sz="quarter" idx="5"/>
          </p:nvPr>
        </p:nvSpPr>
        <p:spPr/>
        <p:txBody>
          <a:bodyPr/>
          <a:lstStyle/>
          <a:p>
            <a:fld id="{1535DE0D-E504-42F3-A81B-DF77FB5AF627}" type="slidenum">
              <a:rPr lang="zh-CN" altLang="en-US" smtClean="0"/>
              <a:t>11</a:t>
            </a:fld>
            <a:endParaRPr lang="zh-CN" altLang="en-US"/>
          </a:p>
        </p:txBody>
      </p:sp>
    </p:spTree>
    <p:extLst>
      <p:ext uri="{BB962C8B-B14F-4D97-AF65-F5344CB8AC3E}">
        <p14:creationId xmlns:p14="http://schemas.microsoft.com/office/powerpoint/2010/main" val="855332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01F79-9A19-22C2-403D-CD8E35938B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F8F7A5-732A-87FD-56C9-B1F1DE6D34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A9F3D5C-C37C-06E3-BB35-33CECA3EFCBC}"/>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E7FB5DED-A644-AAB8-E3C1-6ADAD9F7C243}"/>
              </a:ext>
            </a:extLst>
          </p:cNvPr>
          <p:cNvSpPr>
            <a:spLocks noGrp="1"/>
          </p:cNvSpPr>
          <p:nvPr>
            <p:ph type="sldNum" sz="quarter" idx="5"/>
          </p:nvPr>
        </p:nvSpPr>
        <p:spPr/>
        <p:txBody>
          <a:bodyPr/>
          <a:lstStyle/>
          <a:p>
            <a:fld id="{1535DE0D-E504-42F3-A81B-DF77FB5AF627}" type="slidenum">
              <a:rPr lang="zh-CN" altLang="en-US" smtClean="0"/>
              <a:t>12</a:t>
            </a:fld>
            <a:endParaRPr lang="zh-CN" altLang="en-US"/>
          </a:p>
        </p:txBody>
      </p:sp>
    </p:spTree>
    <p:extLst>
      <p:ext uri="{BB962C8B-B14F-4D97-AF65-F5344CB8AC3E}">
        <p14:creationId xmlns:p14="http://schemas.microsoft.com/office/powerpoint/2010/main" val="118387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EB34-F226-228F-75B1-F141311225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624723-6EED-7F96-AB99-8792A9F56B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002CEE-359F-7584-40FD-3C34F1BF603E}"/>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24B563AE-3D6E-5474-56F7-2E06702CEA8C}"/>
              </a:ext>
            </a:extLst>
          </p:cNvPr>
          <p:cNvSpPr>
            <a:spLocks noGrp="1"/>
          </p:cNvSpPr>
          <p:nvPr>
            <p:ph type="sldNum" sz="quarter" idx="5"/>
          </p:nvPr>
        </p:nvSpPr>
        <p:spPr/>
        <p:txBody>
          <a:bodyPr/>
          <a:lstStyle/>
          <a:p>
            <a:fld id="{1535DE0D-E504-42F3-A81B-DF77FB5AF627}" type="slidenum">
              <a:rPr lang="zh-CN" altLang="en-US" smtClean="0"/>
              <a:t>13</a:t>
            </a:fld>
            <a:endParaRPr lang="zh-CN" altLang="en-US"/>
          </a:p>
        </p:txBody>
      </p:sp>
    </p:spTree>
    <p:extLst>
      <p:ext uri="{BB962C8B-B14F-4D97-AF65-F5344CB8AC3E}">
        <p14:creationId xmlns:p14="http://schemas.microsoft.com/office/powerpoint/2010/main" val="957190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3A41A-06D7-3B1C-7C49-1982A840DF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B46BDE-BB3F-281F-117B-D23930ED41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5660F4-5370-F771-774B-1280EDB6EE19}"/>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83C7CE68-8455-1BB2-F7EE-4232AE5D06C7}"/>
              </a:ext>
            </a:extLst>
          </p:cNvPr>
          <p:cNvSpPr>
            <a:spLocks noGrp="1"/>
          </p:cNvSpPr>
          <p:nvPr>
            <p:ph type="sldNum" sz="quarter" idx="5"/>
          </p:nvPr>
        </p:nvSpPr>
        <p:spPr/>
        <p:txBody>
          <a:bodyPr/>
          <a:lstStyle/>
          <a:p>
            <a:fld id="{1535DE0D-E504-42F3-A81B-DF77FB5AF627}" type="slidenum">
              <a:rPr lang="zh-CN" altLang="en-US" smtClean="0"/>
              <a:t>14</a:t>
            </a:fld>
            <a:endParaRPr lang="zh-CN" altLang="en-US"/>
          </a:p>
        </p:txBody>
      </p:sp>
    </p:spTree>
    <p:extLst>
      <p:ext uri="{BB962C8B-B14F-4D97-AF65-F5344CB8AC3E}">
        <p14:creationId xmlns:p14="http://schemas.microsoft.com/office/powerpoint/2010/main" val="432857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8EF89-E593-7B03-BE02-5A9149D59BB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1D650F-9CEF-6419-5F4C-CC003FB213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F81729A-EBCD-B4B2-892C-6AD8FEC6F749}"/>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6222FFD7-BDF5-72B1-004C-93124A630F88}"/>
              </a:ext>
            </a:extLst>
          </p:cNvPr>
          <p:cNvSpPr>
            <a:spLocks noGrp="1"/>
          </p:cNvSpPr>
          <p:nvPr>
            <p:ph type="sldNum" sz="quarter" idx="5"/>
          </p:nvPr>
        </p:nvSpPr>
        <p:spPr/>
        <p:txBody>
          <a:bodyPr/>
          <a:lstStyle/>
          <a:p>
            <a:fld id="{1535DE0D-E504-42F3-A81B-DF77FB5AF627}" type="slidenum">
              <a:rPr lang="zh-CN" altLang="en-US" smtClean="0"/>
              <a:t>16</a:t>
            </a:fld>
            <a:endParaRPr lang="zh-CN" altLang="en-US"/>
          </a:p>
        </p:txBody>
      </p:sp>
    </p:spTree>
    <p:extLst>
      <p:ext uri="{BB962C8B-B14F-4D97-AF65-F5344CB8AC3E}">
        <p14:creationId xmlns:p14="http://schemas.microsoft.com/office/powerpoint/2010/main" val="3307316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7762-0A06-E38B-864A-8038BF28FF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750036D-69D6-8FA5-7FDD-4C186AF84F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E781E4-F8E0-EC28-4F39-BD1466CF58D8}"/>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AAD830E7-5E62-1C02-1964-217A626F0E8F}"/>
              </a:ext>
            </a:extLst>
          </p:cNvPr>
          <p:cNvSpPr>
            <a:spLocks noGrp="1"/>
          </p:cNvSpPr>
          <p:nvPr>
            <p:ph type="sldNum" sz="quarter" idx="5"/>
          </p:nvPr>
        </p:nvSpPr>
        <p:spPr/>
        <p:txBody>
          <a:bodyPr/>
          <a:lstStyle/>
          <a:p>
            <a:fld id="{1535DE0D-E504-42F3-A81B-DF77FB5AF627}" type="slidenum">
              <a:rPr lang="zh-CN" altLang="en-US" smtClean="0"/>
              <a:t>17</a:t>
            </a:fld>
            <a:endParaRPr lang="zh-CN" altLang="en-US"/>
          </a:p>
        </p:txBody>
      </p:sp>
    </p:spTree>
    <p:extLst>
      <p:ext uri="{BB962C8B-B14F-4D97-AF65-F5344CB8AC3E}">
        <p14:creationId xmlns:p14="http://schemas.microsoft.com/office/powerpoint/2010/main" val="1959139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56F9B-AF8C-6C0F-3E18-35086EF12F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88771B-4EEC-9874-D3D1-A4F85F63A28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BAA9FFE-74F3-51F8-6976-18A2AB2BB660}"/>
              </a:ext>
            </a:extLst>
          </p:cNvPr>
          <p:cNvSpPr>
            <a:spLocks noGrp="1"/>
          </p:cNvSpPr>
          <p:nvPr>
            <p:ph type="body" idx="1"/>
          </p:nvPr>
        </p:nvSpPr>
        <p:spPr/>
        <p:txBody>
          <a:bodyPr/>
          <a:lstStyle/>
          <a:p>
            <a:pPr>
              <a:lnSpc>
                <a:spcPct val="125000"/>
              </a:lnSpc>
            </a:pPr>
            <a:endParaRPr lang="zh-CN" altLang="en-US" dirty="0"/>
          </a:p>
          <a:p>
            <a:endParaRPr lang="zh-CN" altLang="en-US" dirty="0"/>
          </a:p>
        </p:txBody>
      </p:sp>
      <p:sp>
        <p:nvSpPr>
          <p:cNvPr id="4" name="灯片编号占位符 3">
            <a:extLst>
              <a:ext uri="{FF2B5EF4-FFF2-40B4-BE49-F238E27FC236}">
                <a16:creationId xmlns:a16="http://schemas.microsoft.com/office/drawing/2014/main" id="{B7C966E8-3848-6CAC-599B-5F3F0C58B2D4}"/>
              </a:ext>
            </a:extLst>
          </p:cNvPr>
          <p:cNvSpPr>
            <a:spLocks noGrp="1"/>
          </p:cNvSpPr>
          <p:nvPr>
            <p:ph type="sldNum" sz="quarter" idx="5"/>
          </p:nvPr>
        </p:nvSpPr>
        <p:spPr/>
        <p:txBody>
          <a:bodyPr/>
          <a:lstStyle/>
          <a:p>
            <a:fld id="{1535DE0D-E504-42F3-A81B-DF77FB5AF627}" type="slidenum">
              <a:rPr lang="zh-CN" altLang="en-US" smtClean="0"/>
              <a:t>18</a:t>
            </a:fld>
            <a:endParaRPr lang="zh-CN" altLang="en-US"/>
          </a:p>
        </p:txBody>
      </p:sp>
    </p:spTree>
    <p:extLst>
      <p:ext uri="{BB962C8B-B14F-4D97-AF65-F5344CB8AC3E}">
        <p14:creationId xmlns:p14="http://schemas.microsoft.com/office/powerpoint/2010/main" val="3836168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535DE0D-E504-42F3-A81B-DF77FB5AF627}"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75C6D3-133E-4A51-8F1C-F484242B8F0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12192000" cy="20516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r="80387"/>
          <a:stretch>
            <a:fillRect/>
          </a:stretch>
        </p:blipFill>
        <p:spPr>
          <a:xfrm>
            <a:off x="9941969" y="272512"/>
            <a:ext cx="1562614" cy="1494735"/>
          </a:xfrm>
          <a:prstGeom prst="rect">
            <a:avLst/>
          </a:prstGeom>
        </p:spPr>
      </p:pic>
      <p:grpSp>
        <p:nvGrpSpPr>
          <p:cNvPr id="32" name="图形 282"/>
          <p:cNvGrpSpPr/>
          <p:nvPr userDrawn="1"/>
        </p:nvGrpSpPr>
        <p:grpSpPr>
          <a:xfrm>
            <a:off x="521922" y="96706"/>
            <a:ext cx="1858200" cy="1858200"/>
            <a:chOff x="5514975" y="2847975"/>
            <a:chExt cx="1164812" cy="1164812"/>
          </a:xfrm>
          <a:solidFill>
            <a:schemeClr val="bg1">
              <a:alpha val="15000"/>
            </a:schemeClr>
          </a:solidFill>
        </p:grpSpPr>
        <p:sp>
          <p:nvSpPr>
            <p:cNvPr id="33" name="任意多边形: 形状 32"/>
            <p:cNvSpPr/>
            <p:nvPr/>
          </p:nvSpPr>
          <p:spPr>
            <a:xfrm>
              <a:off x="5750623" y="2852832"/>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34" name="任意多边形: 形状 33"/>
            <p:cNvSpPr/>
            <p:nvPr/>
          </p:nvSpPr>
          <p:spPr>
            <a:xfrm>
              <a:off x="5864352" y="2851213"/>
              <a:ext cx="3810" cy="3810"/>
            </a:xfrm>
            <a:custGeom>
              <a:avLst/>
              <a:gdLst>
                <a:gd name="connsiteX0" fmla="*/ 1905 w 3810"/>
                <a:gd name="connsiteY0" fmla="*/ 3810 h 3810"/>
                <a:gd name="connsiteX1" fmla="*/ 3810 w 3810"/>
                <a:gd name="connsiteY1" fmla="*/ 1905 h 3810"/>
                <a:gd name="connsiteX2" fmla="*/ 1905 w 3810"/>
                <a:gd name="connsiteY2" fmla="*/ 0 h 3810"/>
                <a:gd name="connsiteX3" fmla="*/ 0 w 3810"/>
                <a:gd name="connsiteY3" fmla="*/ 1905 h 3810"/>
                <a:gd name="connsiteX4" fmla="*/ 1905 w 3810"/>
                <a:gd name="connsiteY4" fmla="*/ 3810 h 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 h="3810">
                  <a:moveTo>
                    <a:pt x="1905" y="3810"/>
                  </a:moveTo>
                  <a:cubicBezTo>
                    <a:pt x="2953" y="3810"/>
                    <a:pt x="3810" y="2953"/>
                    <a:pt x="3810" y="1905"/>
                  </a:cubicBezTo>
                  <a:cubicBezTo>
                    <a:pt x="3810" y="857"/>
                    <a:pt x="2953" y="0"/>
                    <a:pt x="1905" y="0"/>
                  </a:cubicBezTo>
                  <a:cubicBezTo>
                    <a:pt x="857" y="0"/>
                    <a:pt x="0" y="857"/>
                    <a:pt x="0" y="1905"/>
                  </a:cubicBezTo>
                  <a:cubicBezTo>
                    <a:pt x="0" y="2953"/>
                    <a:pt x="857" y="3810"/>
                    <a:pt x="1905" y="3810"/>
                  </a:cubicBezTo>
                  <a:close/>
                </a:path>
              </a:pathLst>
            </a:custGeom>
            <a:grpFill/>
            <a:ln w="9525" cap="flat">
              <a:noFill/>
              <a:prstDash val="solid"/>
              <a:miter/>
            </a:ln>
          </p:spPr>
          <p:txBody>
            <a:bodyPr rtlCol="0" anchor="ctr"/>
            <a:lstStyle/>
            <a:p>
              <a:endParaRPr lang="zh-CN" altLang="en-US"/>
            </a:p>
          </p:txBody>
        </p:sp>
        <p:sp>
          <p:nvSpPr>
            <p:cNvPr id="35" name="任意多边形: 形状 34"/>
            <p:cNvSpPr/>
            <p:nvPr/>
          </p:nvSpPr>
          <p:spPr>
            <a:xfrm>
              <a:off x="5977509" y="2848927"/>
              <a:ext cx="8381" cy="8286"/>
            </a:xfrm>
            <a:custGeom>
              <a:avLst/>
              <a:gdLst>
                <a:gd name="connsiteX0" fmla="*/ 4191 w 8381"/>
                <a:gd name="connsiteY0" fmla="*/ 8287 h 8286"/>
                <a:gd name="connsiteX1" fmla="*/ 8382 w 8381"/>
                <a:gd name="connsiteY1" fmla="*/ 4096 h 8286"/>
                <a:gd name="connsiteX2" fmla="*/ 4191 w 8381"/>
                <a:gd name="connsiteY2" fmla="*/ 0 h 8286"/>
                <a:gd name="connsiteX3" fmla="*/ 0 w 8381"/>
                <a:gd name="connsiteY3" fmla="*/ 4191 h 8286"/>
                <a:gd name="connsiteX4" fmla="*/ 4191 w 8381"/>
                <a:gd name="connsiteY4" fmla="*/ 8287 h 8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286">
                  <a:moveTo>
                    <a:pt x="4191" y="8287"/>
                  </a:moveTo>
                  <a:cubicBezTo>
                    <a:pt x="6477" y="8287"/>
                    <a:pt x="8382" y="6382"/>
                    <a:pt x="8382" y="4096"/>
                  </a:cubicBezTo>
                  <a:cubicBezTo>
                    <a:pt x="8382" y="1810"/>
                    <a:pt x="6477" y="0"/>
                    <a:pt x="4191" y="0"/>
                  </a:cubicBezTo>
                  <a:cubicBezTo>
                    <a:pt x="1905" y="0"/>
                    <a:pt x="0" y="1905"/>
                    <a:pt x="0" y="4191"/>
                  </a:cubicBezTo>
                  <a:cubicBezTo>
                    <a:pt x="0" y="6477"/>
                    <a:pt x="1905" y="8287"/>
                    <a:pt x="4191" y="8287"/>
                  </a:cubicBezTo>
                  <a:close/>
                </a:path>
              </a:pathLst>
            </a:custGeom>
            <a:grpFill/>
            <a:ln w="9525" cap="flat">
              <a:noFill/>
              <a:prstDash val="solid"/>
              <a:miter/>
            </a:ln>
          </p:spPr>
          <p:txBody>
            <a:bodyPr rtlCol="0" anchor="ctr"/>
            <a:lstStyle/>
            <a:p>
              <a:endParaRPr lang="zh-CN" altLang="en-US"/>
            </a:p>
          </p:txBody>
        </p:sp>
        <p:sp>
          <p:nvSpPr>
            <p:cNvPr id="36" name="任意多边形: 形状 35"/>
            <p:cNvSpPr/>
            <p:nvPr/>
          </p:nvSpPr>
          <p:spPr>
            <a:xfrm>
              <a:off x="6091904" y="2847975"/>
              <a:ext cx="10286" cy="10287"/>
            </a:xfrm>
            <a:custGeom>
              <a:avLst/>
              <a:gdLst>
                <a:gd name="connsiteX0" fmla="*/ 10287 w 10286"/>
                <a:gd name="connsiteY0" fmla="*/ 5144 h 10287"/>
                <a:gd name="connsiteX1" fmla="*/ 5144 w 10286"/>
                <a:gd name="connsiteY1" fmla="*/ 10287 h 10287"/>
                <a:gd name="connsiteX2" fmla="*/ 0 w 10286"/>
                <a:gd name="connsiteY2" fmla="*/ 5144 h 10287"/>
                <a:gd name="connsiteX3" fmla="*/ 5144 w 10286"/>
                <a:gd name="connsiteY3" fmla="*/ 0 h 10287"/>
                <a:gd name="connsiteX4" fmla="*/ 10287 w 10286"/>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6" h="10287">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37" name="任意多边形: 形状 36"/>
            <p:cNvSpPr/>
            <p:nvPr/>
          </p:nvSpPr>
          <p:spPr>
            <a:xfrm>
              <a:off x="6208299" y="2848927"/>
              <a:ext cx="8381" cy="8381"/>
            </a:xfrm>
            <a:custGeom>
              <a:avLst/>
              <a:gdLst>
                <a:gd name="connsiteX0" fmla="*/ 8382 w 8381"/>
                <a:gd name="connsiteY0" fmla="*/ 4191 h 8381"/>
                <a:gd name="connsiteX1" fmla="*/ 4191 w 8381"/>
                <a:gd name="connsiteY1" fmla="*/ 8382 h 8381"/>
                <a:gd name="connsiteX2" fmla="*/ 0 w 8381"/>
                <a:gd name="connsiteY2" fmla="*/ 4191 h 8381"/>
                <a:gd name="connsiteX3" fmla="*/ 4191 w 8381"/>
                <a:gd name="connsiteY3" fmla="*/ 0 h 8381"/>
                <a:gd name="connsiteX4" fmla="*/ 8382 w 8381"/>
                <a:gd name="connsiteY4" fmla="*/ 4191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381">
                  <a:moveTo>
                    <a:pt x="8382" y="4191"/>
                  </a:moveTo>
                  <a:cubicBezTo>
                    <a:pt x="8382" y="6506"/>
                    <a:pt x="6506" y="8382"/>
                    <a:pt x="4191" y="8382"/>
                  </a:cubicBezTo>
                  <a:cubicBezTo>
                    <a:pt x="1876" y="8382"/>
                    <a:pt x="0" y="6506"/>
                    <a:pt x="0" y="4191"/>
                  </a:cubicBezTo>
                  <a:cubicBezTo>
                    <a:pt x="0" y="1876"/>
                    <a:pt x="1876" y="0"/>
                    <a:pt x="4191" y="0"/>
                  </a:cubicBezTo>
                  <a:cubicBezTo>
                    <a:pt x="6506" y="0"/>
                    <a:pt x="8382" y="1876"/>
                    <a:pt x="8382" y="4191"/>
                  </a:cubicBezTo>
                  <a:close/>
                </a:path>
              </a:pathLst>
            </a:custGeom>
            <a:grpFill/>
            <a:ln w="9525" cap="flat">
              <a:noFill/>
              <a:prstDash val="solid"/>
              <a:miter/>
            </a:ln>
          </p:spPr>
          <p:txBody>
            <a:bodyPr rtlCol="0" anchor="ctr"/>
            <a:lstStyle/>
            <a:p>
              <a:endParaRPr lang="zh-CN" altLang="en-US"/>
            </a:p>
          </p:txBody>
        </p:sp>
        <p:sp>
          <p:nvSpPr>
            <p:cNvPr id="38" name="任意多边形: 形状 37"/>
            <p:cNvSpPr/>
            <p:nvPr/>
          </p:nvSpPr>
          <p:spPr>
            <a:xfrm>
              <a:off x="6325552" y="2850832"/>
              <a:ext cx="4572" cy="4476"/>
            </a:xfrm>
            <a:custGeom>
              <a:avLst/>
              <a:gdLst>
                <a:gd name="connsiteX0" fmla="*/ 2286 w 4572"/>
                <a:gd name="connsiteY0" fmla="*/ 4477 h 4476"/>
                <a:gd name="connsiteX1" fmla="*/ 4572 w 4572"/>
                <a:gd name="connsiteY1" fmla="*/ 2191 h 4476"/>
                <a:gd name="connsiteX2" fmla="*/ 2286 w 4572"/>
                <a:gd name="connsiteY2" fmla="*/ 0 h 4476"/>
                <a:gd name="connsiteX3" fmla="*/ 0 w 4572"/>
                <a:gd name="connsiteY3" fmla="*/ 2286 h 4476"/>
                <a:gd name="connsiteX4" fmla="*/ 2286 w 4572"/>
                <a:gd name="connsiteY4" fmla="*/ 4477 h 44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 h="4476">
                  <a:moveTo>
                    <a:pt x="2286" y="4477"/>
                  </a:moveTo>
                  <a:cubicBezTo>
                    <a:pt x="3524" y="4477"/>
                    <a:pt x="4572" y="3429"/>
                    <a:pt x="4572" y="2191"/>
                  </a:cubicBezTo>
                  <a:cubicBezTo>
                    <a:pt x="4572" y="952"/>
                    <a:pt x="3524" y="0"/>
                    <a:pt x="2286" y="0"/>
                  </a:cubicBezTo>
                  <a:cubicBezTo>
                    <a:pt x="1048" y="0"/>
                    <a:pt x="0" y="1048"/>
                    <a:pt x="0" y="2286"/>
                  </a:cubicBezTo>
                  <a:cubicBezTo>
                    <a:pt x="0" y="3524"/>
                    <a:pt x="1048" y="4477"/>
                    <a:pt x="2286" y="4477"/>
                  </a:cubicBezTo>
                  <a:close/>
                </a:path>
              </a:pathLst>
            </a:custGeom>
            <a:grpFill/>
            <a:ln w="9525" cap="flat">
              <a:noFill/>
              <a:prstDash val="solid"/>
              <a:miter/>
            </a:ln>
          </p:spPr>
          <p:txBody>
            <a:bodyPr rtlCol="0" anchor="ctr"/>
            <a:lstStyle/>
            <a:p>
              <a:endParaRPr lang="zh-CN" altLang="en-US"/>
            </a:p>
          </p:txBody>
        </p:sp>
        <p:sp>
          <p:nvSpPr>
            <p:cNvPr id="39" name="任意多边形: 形状 38"/>
            <p:cNvSpPr/>
            <p:nvPr/>
          </p:nvSpPr>
          <p:spPr>
            <a:xfrm>
              <a:off x="6442995" y="2852832"/>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40" name="任意多边形: 形状 39"/>
            <p:cNvSpPr/>
            <p:nvPr/>
          </p:nvSpPr>
          <p:spPr>
            <a:xfrm>
              <a:off x="5634799" y="2967799"/>
              <a:ext cx="1333" cy="1333"/>
            </a:xfrm>
            <a:custGeom>
              <a:avLst/>
              <a:gdLst>
                <a:gd name="connsiteX0" fmla="*/ 667 w 1333"/>
                <a:gd name="connsiteY0" fmla="*/ 1334 h 1333"/>
                <a:gd name="connsiteX1" fmla="*/ 1334 w 1333"/>
                <a:gd name="connsiteY1" fmla="*/ 667 h 1333"/>
                <a:gd name="connsiteX2" fmla="*/ 667 w 1333"/>
                <a:gd name="connsiteY2" fmla="*/ 0 h 1333"/>
                <a:gd name="connsiteX3" fmla="*/ 0 w 1333"/>
                <a:gd name="connsiteY3" fmla="*/ 667 h 1333"/>
                <a:gd name="connsiteX4" fmla="*/ 667 w 1333"/>
                <a:gd name="connsiteY4" fmla="*/ 1334 h 1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 h="1333">
                  <a:moveTo>
                    <a:pt x="667" y="1334"/>
                  </a:moveTo>
                  <a:cubicBezTo>
                    <a:pt x="1048" y="1334"/>
                    <a:pt x="1334" y="1048"/>
                    <a:pt x="1334" y="667"/>
                  </a:cubicBezTo>
                  <a:cubicBezTo>
                    <a:pt x="1334" y="286"/>
                    <a:pt x="1048" y="0"/>
                    <a:pt x="667" y="0"/>
                  </a:cubicBezTo>
                  <a:cubicBezTo>
                    <a:pt x="286" y="0"/>
                    <a:pt x="0" y="286"/>
                    <a:pt x="0" y="667"/>
                  </a:cubicBezTo>
                  <a:cubicBezTo>
                    <a:pt x="0" y="1048"/>
                    <a:pt x="381" y="1334"/>
                    <a:pt x="667" y="1334"/>
                  </a:cubicBezTo>
                  <a:close/>
                </a:path>
              </a:pathLst>
            </a:custGeom>
            <a:grpFill/>
            <a:ln w="9525" cap="flat">
              <a:noFill/>
              <a:prstDash val="solid"/>
              <a:miter/>
            </a:ln>
          </p:spPr>
          <p:txBody>
            <a:bodyPr rtlCol="0" anchor="ctr"/>
            <a:lstStyle/>
            <a:p>
              <a:endParaRPr lang="zh-CN" altLang="en-US"/>
            </a:p>
          </p:txBody>
        </p:sp>
        <p:sp>
          <p:nvSpPr>
            <p:cNvPr id="41" name="任意多边形: 形状 40"/>
            <p:cNvSpPr/>
            <p:nvPr/>
          </p:nvSpPr>
          <p:spPr>
            <a:xfrm>
              <a:off x="5745765" y="2963322"/>
              <a:ext cx="10286" cy="10287"/>
            </a:xfrm>
            <a:custGeom>
              <a:avLst/>
              <a:gdLst>
                <a:gd name="connsiteX0" fmla="*/ 10287 w 10286"/>
                <a:gd name="connsiteY0" fmla="*/ 5143 h 10287"/>
                <a:gd name="connsiteX1" fmla="*/ 5143 w 10286"/>
                <a:gd name="connsiteY1" fmla="*/ 10287 h 10287"/>
                <a:gd name="connsiteX2" fmla="*/ 0 w 10286"/>
                <a:gd name="connsiteY2" fmla="*/ 5143 h 10287"/>
                <a:gd name="connsiteX3" fmla="*/ 5143 w 10286"/>
                <a:gd name="connsiteY3" fmla="*/ 0 h 10287"/>
                <a:gd name="connsiteX4" fmla="*/ 10287 w 10286"/>
                <a:gd name="connsiteY4" fmla="*/ 5143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6" h="10287">
                  <a:moveTo>
                    <a:pt x="10287" y="5143"/>
                  </a:moveTo>
                  <a:cubicBezTo>
                    <a:pt x="10287" y="7984"/>
                    <a:pt x="7984" y="10287"/>
                    <a:pt x="5143" y="10287"/>
                  </a:cubicBezTo>
                  <a:cubicBezTo>
                    <a:pt x="2303" y="10287"/>
                    <a:pt x="0" y="7984"/>
                    <a:pt x="0" y="5143"/>
                  </a:cubicBezTo>
                  <a:cubicBezTo>
                    <a:pt x="0" y="2303"/>
                    <a:pt x="2303" y="0"/>
                    <a:pt x="5143" y="0"/>
                  </a:cubicBezTo>
                  <a:cubicBezTo>
                    <a:pt x="7984" y="0"/>
                    <a:pt x="10287" y="2303"/>
                    <a:pt x="10287" y="5143"/>
                  </a:cubicBezTo>
                  <a:close/>
                </a:path>
              </a:pathLst>
            </a:custGeom>
            <a:grpFill/>
            <a:ln w="9525" cap="flat">
              <a:noFill/>
              <a:prstDash val="solid"/>
              <a:miter/>
            </a:ln>
          </p:spPr>
          <p:txBody>
            <a:bodyPr rtlCol="0" anchor="ctr"/>
            <a:lstStyle/>
            <a:p>
              <a:endParaRPr lang="zh-CN" altLang="en-US"/>
            </a:p>
          </p:txBody>
        </p:sp>
        <p:sp>
          <p:nvSpPr>
            <p:cNvPr id="42" name="任意多边形: 形状 41"/>
            <p:cNvSpPr/>
            <p:nvPr/>
          </p:nvSpPr>
          <p:spPr>
            <a:xfrm>
              <a:off x="5856351" y="2958560"/>
              <a:ext cx="19811" cy="19812"/>
            </a:xfrm>
            <a:custGeom>
              <a:avLst/>
              <a:gdLst>
                <a:gd name="connsiteX0" fmla="*/ 19812 w 19811"/>
                <a:gd name="connsiteY0" fmla="*/ 9906 h 19812"/>
                <a:gd name="connsiteX1" fmla="*/ 9906 w 19811"/>
                <a:gd name="connsiteY1" fmla="*/ 19812 h 19812"/>
                <a:gd name="connsiteX2" fmla="*/ 0 w 19811"/>
                <a:gd name="connsiteY2" fmla="*/ 9906 h 19812"/>
                <a:gd name="connsiteX3" fmla="*/ 9906 w 19811"/>
                <a:gd name="connsiteY3" fmla="*/ 0 h 19812"/>
                <a:gd name="connsiteX4" fmla="*/ 19812 w 19811"/>
                <a:gd name="connsiteY4" fmla="*/ 9906 h 198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1" h="19812">
                  <a:moveTo>
                    <a:pt x="19812" y="9906"/>
                  </a:moveTo>
                  <a:cubicBezTo>
                    <a:pt x="19812" y="15377"/>
                    <a:pt x="15377" y="19812"/>
                    <a:pt x="9906" y="19812"/>
                  </a:cubicBezTo>
                  <a:cubicBezTo>
                    <a:pt x="4435" y="19812"/>
                    <a:pt x="0" y="15377"/>
                    <a:pt x="0" y="9906"/>
                  </a:cubicBezTo>
                  <a:cubicBezTo>
                    <a:pt x="0" y="4435"/>
                    <a:pt x="4435" y="0"/>
                    <a:pt x="9906" y="0"/>
                  </a:cubicBezTo>
                  <a:cubicBezTo>
                    <a:pt x="15377" y="0"/>
                    <a:pt x="19812" y="4435"/>
                    <a:pt x="19812" y="9906"/>
                  </a:cubicBezTo>
                  <a:close/>
                </a:path>
              </a:pathLst>
            </a:custGeom>
            <a:grpFill/>
            <a:ln w="9525" cap="flat">
              <a:noFill/>
              <a:prstDash val="solid"/>
              <a:miter/>
            </a:ln>
          </p:spPr>
          <p:txBody>
            <a:bodyPr rtlCol="0" anchor="ctr"/>
            <a:lstStyle/>
            <a:p>
              <a:endParaRPr lang="zh-CN" altLang="en-US"/>
            </a:p>
          </p:txBody>
        </p:sp>
        <p:sp>
          <p:nvSpPr>
            <p:cNvPr id="43" name="任意多边形: 形状 42"/>
            <p:cNvSpPr/>
            <p:nvPr/>
          </p:nvSpPr>
          <p:spPr>
            <a:xfrm>
              <a:off x="5968269" y="2955035"/>
              <a:ext cx="26860" cy="26860"/>
            </a:xfrm>
            <a:custGeom>
              <a:avLst/>
              <a:gdLst>
                <a:gd name="connsiteX0" fmla="*/ 13430 w 26860"/>
                <a:gd name="connsiteY0" fmla="*/ 26861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1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1"/>
                  </a:moveTo>
                  <a:cubicBezTo>
                    <a:pt x="20860" y="26861"/>
                    <a:pt x="26860" y="20860"/>
                    <a:pt x="26860" y="13430"/>
                  </a:cubicBezTo>
                  <a:cubicBezTo>
                    <a:pt x="26860" y="6001"/>
                    <a:pt x="20860" y="0"/>
                    <a:pt x="13430" y="0"/>
                  </a:cubicBezTo>
                  <a:cubicBezTo>
                    <a:pt x="6001" y="0"/>
                    <a:pt x="0" y="6001"/>
                    <a:pt x="0" y="13430"/>
                  </a:cubicBezTo>
                  <a:cubicBezTo>
                    <a:pt x="0" y="20860"/>
                    <a:pt x="6001" y="26861"/>
                    <a:pt x="13430" y="26861"/>
                  </a:cubicBezTo>
                  <a:close/>
                </a:path>
              </a:pathLst>
            </a:custGeom>
            <a:grpFill/>
            <a:ln w="9525" cap="flat">
              <a:noFill/>
              <a:prstDash val="solid"/>
              <a:miter/>
            </a:ln>
          </p:spPr>
          <p:txBody>
            <a:bodyPr rtlCol="0" anchor="ctr"/>
            <a:lstStyle/>
            <a:p>
              <a:endParaRPr lang="zh-CN" altLang="en-US"/>
            </a:p>
          </p:txBody>
        </p:sp>
        <p:sp>
          <p:nvSpPr>
            <p:cNvPr id="44" name="任意多边形: 形状 43"/>
            <p:cNvSpPr/>
            <p:nvPr/>
          </p:nvSpPr>
          <p:spPr>
            <a:xfrm>
              <a:off x="6082284" y="2953702"/>
              <a:ext cx="29527" cy="29527"/>
            </a:xfrm>
            <a:custGeom>
              <a:avLst/>
              <a:gdLst>
                <a:gd name="connsiteX0" fmla="*/ 14764 w 29527"/>
                <a:gd name="connsiteY0" fmla="*/ 29527 h 29527"/>
                <a:gd name="connsiteX1" fmla="*/ 29527 w 29527"/>
                <a:gd name="connsiteY1" fmla="*/ 14764 h 29527"/>
                <a:gd name="connsiteX2" fmla="*/ 14764 w 29527"/>
                <a:gd name="connsiteY2" fmla="*/ 0 h 29527"/>
                <a:gd name="connsiteX3" fmla="*/ 0 w 29527"/>
                <a:gd name="connsiteY3" fmla="*/ 14764 h 29527"/>
                <a:gd name="connsiteX4" fmla="*/ 14764 w 29527"/>
                <a:gd name="connsiteY4" fmla="*/ 29527 h 2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9527">
                  <a:moveTo>
                    <a:pt x="14764" y="29527"/>
                  </a:moveTo>
                  <a:cubicBezTo>
                    <a:pt x="22860" y="29527"/>
                    <a:pt x="29527" y="22955"/>
                    <a:pt x="29527" y="14764"/>
                  </a:cubicBezTo>
                  <a:cubicBezTo>
                    <a:pt x="29527" y="6572"/>
                    <a:pt x="22955" y="0"/>
                    <a:pt x="14764" y="0"/>
                  </a:cubicBezTo>
                  <a:cubicBezTo>
                    <a:pt x="6667" y="0"/>
                    <a:pt x="0" y="6572"/>
                    <a:pt x="0" y="14764"/>
                  </a:cubicBezTo>
                  <a:cubicBezTo>
                    <a:pt x="0" y="22955"/>
                    <a:pt x="6667" y="29527"/>
                    <a:pt x="14764" y="29527"/>
                  </a:cubicBezTo>
                  <a:close/>
                </a:path>
              </a:pathLst>
            </a:custGeom>
            <a:grpFill/>
            <a:ln w="9525" cap="flat">
              <a:noFill/>
              <a:prstDash val="solid"/>
              <a:miter/>
            </a:ln>
          </p:spPr>
          <p:txBody>
            <a:bodyPr rtlCol="0" anchor="ctr"/>
            <a:lstStyle/>
            <a:p>
              <a:endParaRPr lang="zh-CN" altLang="en-US"/>
            </a:p>
          </p:txBody>
        </p:sp>
        <p:sp>
          <p:nvSpPr>
            <p:cNvPr id="45" name="任意多边形: 形状 44"/>
            <p:cNvSpPr/>
            <p:nvPr/>
          </p:nvSpPr>
          <p:spPr>
            <a:xfrm>
              <a:off x="6199060" y="2955035"/>
              <a:ext cx="26860" cy="26860"/>
            </a:xfrm>
            <a:custGeom>
              <a:avLst/>
              <a:gdLst>
                <a:gd name="connsiteX0" fmla="*/ 13430 w 26860"/>
                <a:gd name="connsiteY0" fmla="*/ 26861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1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1"/>
                  </a:moveTo>
                  <a:cubicBezTo>
                    <a:pt x="20860" y="26861"/>
                    <a:pt x="26860" y="20860"/>
                    <a:pt x="26860" y="13430"/>
                  </a:cubicBezTo>
                  <a:cubicBezTo>
                    <a:pt x="26860" y="6001"/>
                    <a:pt x="20860" y="0"/>
                    <a:pt x="13430" y="0"/>
                  </a:cubicBezTo>
                  <a:cubicBezTo>
                    <a:pt x="6001" y="0"/>
                    <a:pt x="0" y="6001"/>
                    <a:pt x="0" y="13430"/>
                  </a:cubicBezTo>
                  <a:cubicBezTo>
                    <a:pt x="0" y="20860"/>
                    <a:pt x="6001" y="26861"/>
                    <a:pt x="13430" y="26861"/>
                  </a:cubicBezTo>
                  <a:close/>
                </a:path>
              </a:pathLst>
            </a:custGeom>
            <a:grpFill/>
            <a:ln w="9525" cap="flat">
              <a:noFill/>
              <a:prstDash val="solid"/>
              <a:miter/>
            </a:ln>
          </p:spPr>
          <p:txBody>
            <a:bodyPr rtlCol="0" anchor="ctr"/>
            <a:lstStyle/>
            <a:p>
              <a:endParaRPr lang="zh-CN" altLang="en-US"/>
            </a:p>
          </p:txBody>
        </p:sp>
        <p:sp>
          <p:nvSpPr>
            <p:cNvPr id="46" name="任意多边形: 形状 45"/>
            <p:cNvSpPr/>
            <p:nvPr/>
          </p:nvSpPr>
          <p:spPr>
            <a:xfrm>
              <a:off x="6317551" y="2958179"/>
              <a:ext cx="20573" cy="20574"/>
            </a:xfrm>
            <a:custGeom>
              <a:avLst/>
              <a:gdLst>
                <a:gd name="connsiteX0" fmla="*/ 20574 w 20573"/>
                <a:gd name="connsiteY0" fmla="*/ 10287 h 20574"/>
                <a:gd name="connsiteX1" fmla="*/ 10287 w 20573"/>
                <a:gd name="connsiteY1" fmla="*/ 20574 h 20574"/>
                <a:gd name="connsiteX2" fmla="*/ 0 w 20573"/>
                <a:gd name="connsiteY2" fmla="*/ 10287 h 20574"/>
                <a:gd name="connsiteX3" fmla="*/ 10287 w 20573"/>
                <a:gd name="connsiteY3" fmla="*/ 0 h 20574"/>
                <a:gd name="connsiteX4" fmla="*/ 20574 w 20573"/>
                <a:gd name="connsiteY4" fmla="*/ 10287 h 20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73" h="20574">
                  <a:moveTo>
                    <a:pt x="20574" y="10287"/>
                  </a:moveTo>
                  <a:cubicBezTo>
                    <a:pt x="20574" y="15968"/>
                    <a:pt x="15968" y="20574"/>
                    <a:pt x="10287" y="20574"/>
                  </a:cubicBezTo>
                  <a:cubicBezTo>
                    <a:pt x="4606" y="20574"/>
                    <a:pt x="0" y="15968"/>
                    <a:pt x="0" y="10287"/>
                  </a:cubicBezTo>
                  <a:cubicBezTo>
                    <a:pt x="0" y="4606"/>
                    <a:pt x="4606" y="0"/>
                    <a:pt x="10287" y="0"/>
                  </a:cubicBezTo>
                  <a:cubicBezTo>
                    <a:pt x="15968" y="0"/>
                    <a:pt x="20574" y="4606"/>
                    <a:pt x="20574" y="10287"/>
                  </a:cubicBezTo>
                  <a:close/>
                </a:path>
              </a:pathLst>
            </a:custGeom>
            <a:grpFill/>
            <a:ln w="9525" cap="flat">
              <a:noFill/>
              <a:prstDash val="solid"/>
              <a:miter/>
            </a:ln>
          </p:spPr>
          <p:txBody>
            <a:bodyPr rtlCol="0" anchor="ctr"/>
            <a:lstStyle/>
            <a:p>
              <a:endParaRPr lang="zh-CN" altLang="en-US"/>
            </a:p>
          </p:txBody>
        </p:sp>
        <p:sp>
          <p:nvSpPr>
            <p:cNvPr id="47" name="任意多边形: 形状 46"/>
            <p:cNvSpPr/>
            <p:nvPr/>
          </p:nvSpPr>
          <p:spPr>
            <a:xfrm>
              <a:off x="6437852" y="2963037"/>
              <a:ext cx="10858" cy="10858"/>
            </a:xfrm>
            <a:custGeom>
              <a:avLst/>
              <a:gdLst>
                <a:gd name="connsiteX0" fmla="*/ 10858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8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8" y="5429"/>
                  </a:moveTo>
                  <a:cubicBezTo>
                    <a:pt x="10858" y="8428"/>
                    <a:pt x="8428" y="10858"/>
                    <a:pt x="5429" y="10858"/>
                  </a:cubicBezTo>
                  <a:cubicBezTo>
                    <a:pt x="2431" y="10858"/>
                    <a:pt x="0" y="8428"/>
                    <a:pt x="0" y="5429"/>
                  </a:cubicBezTo>
                  <a:cubicBezTo>
                    <a:pt x="0" y="2431"/>
                    <a:pt x="2431" y="0"/>
                    <a:pt x="5429" y="0"/>
                  </a:cubicBezTo>
                  <a:cubicBezTo>
                    <a:pt x="8428" y="0"/>
                    <a:pt x="10858" y="2431"/>
                    <a:pt x="10858" y="5429"/>
                  </a:cubicBezTo>
                  <a:close/>
                </a:path>
              </a:pathLst>
            </a:custGeom>
            <a:grpFill/>
            <a:ln w="9525" cap="flat">
              <a:noFill/>
              <a:prstDash val="solid"/>
              <a:miter/>
            </a:ln>
          </p:spPr>
          <p:txBody>
            <a:bodyPr rtlCol="0" anchor="ctr"/>
            <a:lstStyle/>
            <a:p>
              <a:endParaRPr lang="zh-CN" altLang="en-US"/>
            </a:p>
          </p:txBody>
        </p:sp>
        <p:sp>
          <p:nvSpPr>
            <p:cNvPr id="48" name="任意多边形: 形状 47"/>
            <p:cNvSpPr/>
            <p:nvPr/>
          </p:nvSpPr>
          <p:spPr>
            <a:xfrm>
              <a:off x="6557676" y="2967513"/>
              <a:ext cx="1904" cy="1904"/>
            </a:xfrm>
            <a:custGeom>
              <a:avLst/>
              <a:gdLst>
                <a:gd name="connsiteX0" fmla="*/ 1905 w 1904"/>
                <a:gd name="connsiteY0" fmla="*/ 952 h 1904"/>
                <a:gd name="connsiteX1" fmla="*/ 952 w 1904"/>
                <a:gd name="connsiteY1" fmla="*/ 1905 h 1904"/>
                <a:gd name="connsiteX2" fmla="*/ 0 w 1904"/>
                <a:gd name="connsiteY2" fmla="*/ 952 h 1904"/>
                <a:gd name="connsiteX3" fmla="*/ 952 w 1904"/>
                <a:gd name="connsiteY3" fmla="*/ 0 h 1904"/>
                <a:gd name="connsiteX4" fmla="*/ 1905 w 1904"/>
                <a:gd name="connsiteY4" fmla="*/ 952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1905" y="952"/>
                  </a:moveTo>
                  <a:cubicBezTo>
                    <a:pt x="1905" y="1479"/>
                    <a:pt x="1479" y="1905"/>
                    <a:pt x="952" y="1905"/>
                  </a:cubicBezTo>
                  <a:cubicBezTo>
                    <a:pt x="426" y="1905"/>
                    <a:pt x="0" y="1479"/>
                    <a:pt x="0" y="952"/>
                  </a:cubicBezTo>
                  <a:cubicBezTo>
                    <a:pt x="0" y="426"/>
                    <a:pt x="426" y="0"/>
                    <a:pt x="952" y="0"/>
                  </a:cubicBezTo>
                  <a:cubicBezTo>
                    <a:pt x="1479" y="0"/>
                    <a:pt x="1905" y="426"/>
                    <a:pt x="1905" y="952"/>
                  </a:cubicBezTo>
                  <a:close/>
                </a:path>
              </a:pathLst>
            </a:custGeom>
            <a:grpFill/>
            <a:ln w="9525" cap="flat">
              <a:noFill/>
              <a:prstDash val="solid"/>
              <a:miter/>
            </a:ln>
          </p:spPr>
          <p:txBody>
            <a:bodyPr rtlCol="0" anchor="ctr"/>
            <a:lstStyle/>
            <a:p>
              <a:endParaRPr lang="zh-CN" altLang="en-US"/>
            </a:p>
          </p:txBody>
        </p:sp>
        <p:sp>
          <p:nvSpPr>
            <p:cNvPr id="49" name="任意多边形: 形状 48"/>
            <p:cNvSpPr/>
            <p:nvPr/>
          </p:nvSpPr>
          <p:spPr>
            <a:xfrm>
              <a:off x="5519832" y="3083623"/>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50" name="任意多边形: 形状 49"/>
            <p:cNvSpPr/>
            <p:nvPr/>
          </p:nvSpPr>
          <p:spPr>
            <a:xfrm>
              <a:off x="5630322" y="3078765"/>
              <a:ext cx="10287" cy="10286"/>
            </a:xfrm>
            <a:custGeom>
              <a:avLst/>
              <a:gdLst>
                <a:gd name="connsiteX0" fmla="*/ 10287 w 10287"/>
                <a:gd name="connsiteY0" fmla="*/ 5144 h 10286"/>
                <a:gd name="connsiteX1" fmla="*/ 5143 w 10287"/>
                <a:gd name="connsiteY1" fmla="*/ 10287 h 10286"/>
                <a:gd name="connsiteX2" fmla="*/ 0 w 10287"/>
                <a:gd name="connsiteY2" fmla="*/ 5144 h 10286"/>
                <a:gd name="connsiteX3" fmla="*/ 5143 w 10287"/>
                <a:gd name="connsiteY3" fmla="*/ 0 h 10286"/>
                <a:gd name="connsiteX4" fmla="*/ 10287 w 10287"/>
                <a:gd name="connsiteY4" fmla="*/ 5144 h 10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6">
                  <a:moveTo>
                    <a:pt x="10287" y="5144"/>
                  </a:moveTo>
                  <a:cubicBezTo>
                    <a:pt x="10287" y="7984"/>
                    <a:pt x="7984" y="10287"/>
                    <a:pt x="5143" y="10287"/>
                  </a:cubicBezTo>
                  <a:cubicBezTo>
                    <a:pt x="2303" y="10287"/>
                    <a:pt x="0" y="7984"/>
                    <a:pt x="0" y="5144"/>
                  </a:cubicBezTo>
                  <a:cubicBezTo>
                    <a:pt x="0" y="2303"/>
                    <a:pt x="2303" y="0"/>
                    <a:pt x="5143"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51" name="任意多边形: 形状 50"/>
            <p:cNvSpPr/>
            <p:nvPr/>
          </p:nvSpPr>
          <p:spPr>
            <a:xfrm>
              <a:off x="5738717" y="3071621"/>
              <a:ext cx="24383" cy="24384"/>
            </a:xfrm>
            <a:custGeom>
              <a:avLst/>
              <a:gdLst>
                <a:gd name="connsiteX0" fmla="*/ 12192 w 24383"/>
                <a:gd name="connsiteY0" fmla="*/ 24384 h 24384"/>
                <a:gd name="connsiteX1" fmla="*/ 24384 w 24383"/>
                <a:gd name="connsiteY1" fmla="*/ 12192 h 24384"/>
                <a:gd name="connsiteX2" fmla="*/ 12192 w 24383"/>
                <a:gd name="connsiteY2" fmla="*/ 0 h 24384"/>
                <a:gd name="connsiteX3" fmla="*/ 0 w 24383"/>
                <a:gd name="connsiteY3" fmla="*/ 12192 h 24384"/>
                <a:gd name="connsiteX4" fmla="*/ 12192 w 24383"/>
                <a:gd name="connsiteY4" fmla="*/ 24384 h 24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83" h="24384">
                  <a:moveTo>
                    <a:pt x="12192" y="24384"/>
                  </a:moveTo>
                  <a:cubicBezTo>
                    <a:pt x="18955" y="24384"/>
                    <a:pt x="24384" y="18955"/>
                    <a:pt x="24384" y="12192"/>
                  </a:cubicBezTo>
                  <a:cubicBezTo>
                    <a:pt x="24384" y="5429"/>
                    <a:pt x="18955" y="0"/>
                    <a:pt x="12192" y="0"/>
                  </a:cubicBezTo>
                  <a:cubicBezTo>
                    <a:pt x="5524" y="0"/>
                    <a:pt x="0" y="5429"/>
                    <a:pt x="0" y="12192"/>
                  </a:cubicBezTo>
                  <a:cubicBezTo>
                    <a:pt x="0" y="18955"/>
                    <a:pt x="5429" y="24384"/>
                    <a:pt x="12192" y="24384"/>
                  </a:cubicBezTo>
                  <a:close/>
                </a:path>
              </a:pathLst>
            </a:custGeom>
            <a:grpFill/>
            <a:ln w="9525" cap="flat">
              <a:noFill/>
              <a:prstDash val="solid"/>
              <a:miter/>
            </a:ln>
          </p:spPr>
          <p:txBody>
            <a:bodyPr rtlCol="0" anchor="ctr"/>
            <a:lstStyle/>
            <a:p>
              <a:endParaRPr lang="zh-CN" altLang="en-US"/>
            </a:p>
          </p:txBody>
        </p:sp>
        <p:sp>
          <p:nvSpPr>
            <p:cNvPr id="52" name="任意多边形: 形状 51"/>
            <p:cNvSpPr/>
            <p:nvPr/>
          </p:nvSpPr>
          <p:spPr>
            <a:xfrm>
              <a:off x="5848064" y="3065716"/>
              <a:ext cx="36385" cy="36385"/>
            </a:xfrm>
            <a:custGeom>
              <a:avLst/>
              <a:gdLst>
                <a:gd name="connsiteX0" fmla="*/ 18193 w 36385"/>
                <a:gd name="connsiteY0" fmla="*/ 36385 h 36385"/>
                <a:gd name="connsiteX1" fmla="*/ 36385 w 36385"/>
                <a:gd name="connsiteY1" fmla="*/ 18193 h 36385"/>
                <a:gd name="connsiteX2" fmla="*/ 18193 w 36385"/>
                <a:gd name="connsiteY2" fmla="*/ 0 h 36385"/>
                <a:gd name="connsiteX3" fmla="*/ 0 w 36385"/>
                <a:gd name="connsiteY3" fmla="*/ 18193 h 36385"/>
                <a:gd name="connsiteX4" fmla="*/ 18193 w 36385"/>
                <a:gd name="connsiteY4" fmla="*/ 36385 h 3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85" h="36385">
                  <a:moveTo>
                    <a:pt x="18193" y="36385"/>
                  </a:moveTo>
                  <a:cubicBezTo>
                    <a:pt x="28289" y="36385"/>
                    <a:pt x="36385" y="28194"/>
                    <a:pt x="36385" y="18193"/>
                  </a:cubicBezTo>
                  <a:cubicBezTo>
                    <a:pt x="36385" y="8096"/>
                    <a:pt x="28194" y="0"/>
                    <a:pt x="18193" y="0"/>
                  </a:cubicBezTo>
                  <a:cubicBezTo>
                    <a:pt x="8096" y="0"/>
                    <a:pt x="0" y="8191"/>
                    <a:pt x="0" y="18193"/>
                  </a:cubicBezTo>
                  <a:cubicBezTo>
                    <a:pt x="0" y="28194"/>
                    <a:pt x="8096" y="36385"/>
                    <a:pt x="18193" y="36385"/>
                  </a:cubicBezTo>
                  <a:close/>
                </a:path>
              </a:pathLst>
            </a:custGeom>
            <a:grpFill/>
            <a:ln w="9525" cap="flat">
              <a:noFill/>
              <a:prstDash val="solid"/>
              <a:miter/>
            </a:ln>
          </p:spPr>
          <p:txBody>
            <a:bodyPr rtlCol="0" anchor="ctr"/>
            <a:lstStyle/>
            <a:p>
              <a:endParaRPr lang="zh-CN" altLang="en-US"/>
            </a:p>
          </p:txBody>
        </p:sp>
        <p:sp>
          <p:nvSpPr>
            <p:cNvPr id="53" name="任意多边形: 形状 52"/>
            <p:cNvSpPr/>
            <p:nvPr/>
          </p:nvSpPr>
          <p:spPr>
            <a:xfrm>
              <a:off x="5958935" y="3061049"/>
              <a:ext cx="45529" cy="45529"/>
            </a:xfrm>
            <a:custGeom>
              <a:avLst/>
              <a:gdLst>
                <a:gd name="connsiteX0" fmla="*/ 22765 w 45529"/>
                <a:gd name="connsiteY0" fmla="*/ 45529 h 45529"/>
                <a:gd name="connsiteX1" fmla="*/ 45529 w 45529"/>
                <a:gd name="connsiteY1" fmla="*/ 22765 h 45529"/>
                <a:gd name="connsiteX2" fmla="*/ 22765 w 45529"/>
                <a:gd name="connsiteY2" fmla="*/ 0 h 45529"/>
                <a:gd name="connsiteX3" fmla="*/ 0 w 45529"/>
                <a:gd name="connsiteY3" fmla="*/ 22765 h 45529"/>
                <a:gd name="connsiteX4" fmla="*/ 22765 w 45529"/>
                <a:gd name="connsiteY4" fmla="*/ 45529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22765" y="45529"/>
                  </a:moveTo>
                  <a:cubicBezTo>
                    <a:pt x="35338" y="45529"/>
                    <a:pt x="45529" y="35338"/>
                    <a:pt x="45529" y="22765"/>
                  </a:cubicBezTo>
                  <a:cubicBezTo>
                    <a:pt x="45529" y="10192"/>
                    <a:pt x="35338" y="0"/>
                    <a:pt x="22765" y="0"/>
                  </a:cubicBezTo>
                  <a:cubicBezTo>
                    <a:pt x="10192" y="0"/>
                    <a:pt x="0" y="10192"/>
                    <a:pt x="0" y="22765"/>
                  </a:cubicBezTo>
                  <a:cubicBezTo>
                    <a:pt x="0" y="35338"/>
                    <a:pt x="10192" y="45529"/>
                    <a:pt x="22765" y="45529"/>
                  </a:cubicBezTo>
                  <a:close/>
                </a:path>
              </a:pathLst>
            </a:custGeom>
            <a:grpFill/>
            <a:ln w="9525" cap="flat">
              <a:noFill/>
              <a:prstDash val="solid"/>
              <a:miter/>
            </a:ln>
          </p:spPr>
          <p:txBody>
            <a:bodyPr rtlCol="0" anchor="ctr"/>
            <a:lstStyle/>
            <a:p>
              <a:endParaRPr lang="zh-CN" altLang="en-US"/>
            </a:p>
          </p:txBody>
        </p:sp>
        <p:sp>
          <p:nvSpPr>
            <p:cNvPr id="54" name="任意多边形: 形状 53"/>
            <p:cNvSpPr/>
            <p:nvPr/>
          </p:nvSpPr>
          <p:spPr>
            <a:xfrm>
              <a:off x="6072759" y="3059620"/>
              <a:ext cx="48577" cy="48577"/>
            </a:xfrm>
            <a:custGeom>
              <a:avLst/>
              <a:gdLst>
                <a:gd name="connsiteX0" fmla="*/ 24289 w 48577"/>
                <a:gd name="connsiteY0" fmla="*/ 48578 h 48577"/>
                <a:gd name="connsiteX1" fmla="*/ 48577 w 48577"/>
                <a:gd name="connsiteY1" fmla="*/ 24289 h 48577"/>
                <a:gd name="connsiteX2" fmla="*/ 24289 w 48577"/>
                <a:gd name="connsiteY2" fmla="*/ 0 h 48577"/>
                <a:gd name="connsiteX3" fmla="*/ 0 w 48577"/>
                <a:gd name="connsiteY3" fmla="*/ 24289 h 48577"/>
                <a:gd name="connsiteX4" fmla="*/ 24289 w 48577"/>
                <a:gd name="connsiteY4" fmla="*/ 48578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77" h="48577">
                  <a:moveTo>
                    <a:pt x="24289" y="48578"/>
                  </a:moveTo>
                  <a:cubicBezTo>
                    <a:pt x="37719" y="48578"/>
                    <a:pt x="48577" y="37719"/>
                    <a:pt x="48577" y="24289"/>
                  </a:cubicBezTo>
                  <a:cubicBezTo>
                    <a:pt x="48577" y="10859"/>
                    <a:pt x="37719" y="0"/>
                    <a:pt x="24289" y="0"/>
                  </a:cubicBezTo>
                  <a:cubicBezTo>
                    <a:pt x="10858" y="0"/>
                    <a:pt x="0" y="10859"/>
                    <a:pt x="0" y="24289"/>
                  </a:cubicBezTo>
                  <a:cubicBezTo>
                    <a:pt x="0" y="37719"/>
                    <a:pt x="10858" y="48578"/>
                    <a:pt x="24289" y="48578"/>
                  </a:cubicBezTo>
                  <a:close/>
                </a:path>
              </a:pathLst>
            </a:custGeom>
            <a:grpFill/>
            <a:ln w="9525" cap="flat">
              <a:noFill/>
              <a:prstDash val="solid"/>
              <a:miter/>
            </a:ln>
          </p:spPr>
          <p:txBody>
            <a:bodyPr rtlCol="0" anchor="ctr"/>
            <a:lstStyle/>
            <a:p>
              <a:endParaRPr lang="zh-CN" altLang="en-US"/>
            </a:p>
          </p:txBody>
        </p:sp>
        <p:sp>
          <p:nvSpPr>
            <p:cNvPr id="55" name="任意多边形: 形状 54"/>
            <p:cNvSpPr/>
            <p:nvPr/>
          </p:nvSpPr>
          <p:spPr>
            <a:xfrm>
              <a:off x="6189725" y="3061049"/>
              <a:ext cx="45529" cy="45529"/>
            </a:xfrm>
            <a:custGeom>
              <a:avLst/>
              <a:gdLst>
                <a:gd name="connsiteX0" fmla="*/ 22765 w 45529"/>
                <a:gd name="connsiteY0" fmla="*/ 45529 h 45529"/>
                <a:gd name="connsiteX1" fmla="*/ 45530 w 45529"/>
                <a:gd name="connsiteY1" fmla="*/ 22765 h 45529"/>
                <a:gd name="connsiteX2" fmla="*/ 22765 w 45529"/>
                <a:gd name="connsiteY2" fmla="*/ 0 h 45529"/>
                <a:gd name="connsiteX3" fmla="*/ 0 w 45529"/>
                <a:gd name="connsiteY3" fmla="*/ 22765 h 45529"/>
                <a:gd name="connsiteX4" fmla="*/ 22765 w 45529"/>
                <a:gd name="connsiteY4" fmla="*/ 45529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22765" y="45529"/>
                  </a:moveTo>
                  <a:cubicBezTo>
                    <a:pt x="35338" y="45529"/>
                    <a:pt x="45530" y="35338"/>
                    <a:pt x="45530" y="22765"/>
                  </a:cubicBezTo>
                  <a:cubicBezTo>
                    <a:pt x="45530" y="10192"/>
                    <a:pt x="35338" y="0"/>
                    <a:pt x="22765" y="0"/>
                  </a:cubicBezTo>
                  <a:cubicBezTo>
                    <a:pt x="10192" y="0"/>
                    <a:pt x="0" y="10192"/>
                    <a:pt x="0" y="22765"/>
                  </a:cubicBezTo>
                  <a:cubicBezTo>
                    <a:pt x="0" y="35338"/>
                    <a:pt x="10192" y="45529"/>
                    <a:pt x="22765" y="45529"/>
                  </a:cubicBezTo>
                  <a:close/>
                </a:path>
              </a:pathLst>
            </a:custGeom>
            <a:grpFill/>
            <a:ln w="9525" cap="flat">
              <a:noFill/>
              <a:prstDash val="solid"/>
              <a:miter/>
            </a:ln>
          </p:spPr>
          <p:txBody>
            <a:bodyPr rtlCol="0" anchor="ctr"/>
            <a:lstStyle/>
            <a:p>
              <a:endParaRPr lang="zh-CN" altLang="en-US"/>
            </a:p>
          </p:txBody>
        </p:sp>
        <p:sp>
          <p:nvSpPr>
            <p:cNvPr id="56" name="任意多边形: 形状 55"/>
            <p:cNvSpPr/>
            <p:nvPr/>
          </p:nvSpPr>
          <p:spPr>
            <a:xfrm>
              <a:off x="6308979" y="3065049"/>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242"/>
                    <a:pt x="8477" y="37719"/>
                    <a:pt x="18859" y="37719"/>
                  </a:cubicBezTo>
                  <a:close/>
                </a:path>
              </a:pathLst>
            </a:custGeom>
            <a:grpFill/>
            <a:ln w="9525" cap="flat">
              <a:noFill/>
              <a:prstDash val="solid"/>
              <a:miter/>
            </a:ln>
          </p:spPr>
          <p:txBody>
            <a:bodyPr rtlCol="0" anchor="ctr"/>
            <a:lstStyle/>
            <a:p>
              <a:endParaRPr lang="zh-CN" altLang="en-US"/>
            </a:p>
          </p:txBody>
        </p:sp>
        <p:sp>
          <p:nvSpPr>
            <p:cNvPr id="57" name="任意多边形: 形状 56"/>
            <p:cNvSpPr/>
            <p:nvPr/>
          </p:nvSpPr>
          <p:spPr>
            <a:xfrm>
              <a:off x="6430516" y="3071145"/>
              <a:ext cx="25528" cy="25527"/>
            </a:xfrm>
            <a:custGeom>
              <a:avLst/>
              <a:gdLst>
                <a:gd name="connsiteX0" fmla="*/ 12765 w 25528"/>
                <a:gd name="connsiteY0" fmla="*/ 25527 h 25527"/>
                <a:gd name="connsiteX1" fmla="*/ 25528 w 25528"/>
                <a:gd name="connsiteY1" fmla="*/ 12764 h 25527"/>
                <a:gd name="connsiteX2" fmla="*/ 12765 w 25528"/>
                <a:gd name="connsiteY2" fmla="*/ 0 h 25527"/>
                <a:gd name="connsiteX3" fmla="*/ 1 w 25528"/>
                <a:gd name="connsiteY3" fmla="*/ 12764 h 25527"/>
                <a:gd name="connsiteX4" fmla="*/ 12765 w 25528"/>
                <a:gd name="connsiteY4" fmla="*/ 25527 h 25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8" h="25527">
                  <a:moveTo>
                    <a:pt x="12765" y="25527"/>
                  </a:moveTo>
                  <a:cubicBezTo>
                    <a:pt x="19813" y="25527"/>
                    <a:pt x="25528" y="19812"/>
                    <a:pt x="25528" y="12764"/>
                  </a:cubicBezTo>
                  <a:cubicBezTo>
                    <a:pt x="25528" y="5715"/>
                    <a:pt x="19813" y="0"/>
                    <a:pt x="12765" y="0"/>
                  </a:cubicBezTo>
                  <a:cubicBezTo>
                    <a:pt x="5716" y="0"/>
                    <a:pt x="1" y="5715"/>
                    <a:pt x="1" y="12764"/>
                  </a:cubicBezTo>
                  <a:cubicBezTo>
                    <a:pt x="-94" y="19812"/>
                    <a:pt x="5621" y="25527"/>
                    <a:pt x="12765" y="25527"/>
                  </a:cubicBezTo>
                  <a:close/>
                </a:path>
              </a:pathLst>
            </a:custGeom>
            <a:grpFill/>
            <a:ln w="9525" cap="flat">
              <a:noFill/>
              <a:prstDash val="solid"/>
              <a:miter/>
            </a:ln>
          </p:spPr>
          <p:txBody>
            <a:bodyPr rtlCol="0" anchor="ctr"/>
            <a:lstStyle/>
            <a:p>
              <a:endParaRPr lang="zh-CN" altLang="en-US"/>
            </a:p>
          </p:txBody>
        </p:sp>
        <p:sp>
          <p:nvSpPr>
            <p:cNvPr id="58" name="任意多边形: 形状 57"/>
            <p:cNvSpPr/>
            <p:nvPr/>
          </p:nvSpPr>
          <p:spPr>
            <a:xfrm>
              <a:off x="6553200" y="3078480"/>
              <a:ext cx="10858" cy="10858"/>
            </a:xfrm>
            <a:custGeom>
              <a:avLst/>
              <a:gdLst>
                <a:gd name="connsiteX0" fmla="*/ 10858 w 10858"/>
                <a:gd name="connsiteY0" fmla="*/ 5429 h 10858"/>
                <a:gd name="connsiteX1" fmla="*/ 5429 w 10858"/>
                <a:gd name="connsiteY1" fmla="*/ 10859 h 10858"/>
                <a:gd name="connsiteX2" fmla="*/ 0 w 10858"/>
                <a:gd name="connsiteY2" fmla="*/ 5429 h 10858"/>
                <a:gd name="connsiteX3" fmla="*/ 5429 w 10858"/>
                <a:gd name="connsiteY3" fmla="*/ 0 h 10858"/>
                <a:gd name="connsiteX4" fmla="*/ 10858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8" y="5429"/>
                  </a:moveTo>
                  <a:cubicBezTo>
                    <a:pt x="10858" y="8428"/>
                    <a:pt x="8428" y="10859"/>
                    <a:pt x="5429" y="10859"/>
                  </a:cubicBezTo>
                  <a:cubicBezTo>
                    <a:pt x="2431" y="10859"/>
                    <a:pt x="0" y="8428"/>
                    <a:pt x="0" y="5429"/>
                  </a:cubicBezTo>
                  <a:cubicBezTo>
                    <a:pt x="0" y="2431"/>
                    <a:pt x="2431" y="0"/>
                    <a:pt x="5429" y="0"/>
                  </a:cubicBezTo>
                  <a:cubicBezTo>
                    <a:pt x="8428" y="0"/>
                    <a:pt x="10858" y="2431"/>
                    <a:pt x="10858" y="5429"/>
                  </a:cubicBezTo>
                  <a:close/>
                </a:path>
              </a:pathLst>
            </a:custGeom>
            <a:grpFill/>
            <a:ln w="9525" cap="flat">
              <a:noFill/>
              <a:prstDash val="solid"/>
              <a:miter/>
            </a:ln>
          </p:spPr>
          <p:txBody>
            <a:bodyPr rtlCol="0" anchor="ctr"/>
            <a:lstStyle/>
            <a:p>
              <a:endParaRPr lang="zh-CN" altLang="en-US"/>
            </a:p>
          </p:txBody>
        </p:sp>
        <p:sp>
          <p:nvSpPr>
            <p:cNvPr id="59" name="任意多边形: 形状 58"/>
            <p:cNvSpPr/>
            <p:nvPr/>
          </p:nvSpPr>
          <p:spPr>
            <a:xfrm>
              <a:off x="6673786" y="3083623"/>
              <a:ext cx="571" cy="571"/>
            </a:xfrm>
            <a:custGeom>
              <a:avLst/>
              <a:gdLst>
                <a:gd name="connsiteX0" fmla="*/ 572 w 571"/>
                <a:gd name="connsiteY0" fmla="*/ 286 h 571"/>
                <a:gd name="connsiteX1" fmla="*/ 286 w 571"/>
                <a:gd name="connsiteY1" fmla="*/ 572 h 571"/>
                <a:gd name="connsiteX2" fmla="*/ 0 w 571"/>
                <a:gd name="connsiteY2" fmla="*/ 286 h 571"/>
                <a:gd name="connsiteX3" fmla="*/ 286 w 571"/>
                <a:gd name="connsiteY3" fmla="*/ 0 h 571"/>
                <a:gd name="connsiteX4" fmla="*/ 572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2" y="286"/>
                  </a:moveTo>
                  <a:cubicBezTo>
                    <a:pt x="572" y="444"/>
                    <a:pt x="444" y="572"/>
                    <a:pt x="286" y="572"/>
                  </a:cubicBezTo>
                  <a:cubicBezTo>
                    <a:pt x="128" y="572"/>
                    <a:pt x="0" y="444"/>
                    <a:pt x="0" y="286"/>
                  </a:cubicBezTo>
                  <a:cubicBezTo>
                    <a:pt x="0" y="128"/>
                    <a:pt x="128" y="0"/>
                    <a:pt x="286" y="0"/>
                  </a:cubicBezTo>
                  <a:cubicBezTo>
                    <a:pt x="444" y="0"/>
                    <a:pt x="572" y="128"/>
                    <a:pt x="572" y="286"/>
                  </a:cubicBezTo>
                  <a:close/>
                </a:path>
              </a:pathLst>
            </a:custGeom>
            <a:grpFill/>
            <a:ln w="9525" cap="flat">
              <a:noFill/>
              <a:prstDash val="solid"/>
              <a:miter/>
            </a:ln>
          </p:spPr>
          <p:txBody>
            <a:bodyPr rtlCol="0" anchor="ctr"/>
            <a:lstStyle/>
            <a:p>
              <a:endParaRPr lang="zh-CN" altLang="en-US"/>
            </a:p>
          </p:txBody>
        </p:sp>
        <p:sp>
          <p:nvSpPr>
            <p:cNvPr id="60" name="任意多边形: 形状 59"/>
            <p:cNvSpPr/>
            <p:nvPr/>
          </p:nvSpPr>
          <p:spPr>
            <a:xfrm>
              <a:off x="5518213" y="3197352"/>
              <a:ext cx="3810" cy="3810"/>
            </a:xfrm>
            <a:custGeom>
              <a:avLst/>
              <a:gdLst>
                <a:gd name="connsiteX0" fmla="*/ 1905 w 3810"/>
                <a:gd name="connsiteY0" fmla="*/ 3810 h 3810"/>
                <a:gd name="connsiteX1" fmla="*/ 3810 w 3810"/>
                <a:gd name="connsiteY1" fmla="*/ 1905 h 3810"/>
                <a:gd name="connsiteX2" fmla="*/ 1905 w 3810"/>
                <a:gd name="connsiteY2" fmla="*/ 0 h 3810"/>
                <a:gd name="connsiteX3" fmla="*/ 0 w 3810"/>
                <a:gd name="connsiteY3" fmla="*/ 1905 h 3810"/>
                <a:gd name="connsiteX4" fmla="*/ 1905 w 3810"/>
                <a:gd name="connsiteY4" fmla="*/ 3810 h 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 h="3810">
                  <a:moveTo>
                    <a:pt x="1905" y="3810"/>
                  </a:moveTo>
                  <a:cubicBezTo>
                    <a:pt x="2953" y="3810"/>
                    <a:pt x="3810" y="2953"/>
                    <a:pt x="3810" y="1905"/>
                  </a:cubicBezTo>
                  <a:cubicBezTo>
                    <a:pt x="3810" y="857"/>
                    <a:pt x="2953" y="0"/>
                    <a:pt x="1905" y="0"/>
                  </a:cubicBezTo>
                  <a:cubicBezTo>
                    <a:pt x="857" y="0"/>
                    <a:pt x="0" y="857"/>
                    <a:pt x="0" y="1905"/>
                  </a:cubicBezTo>
                  <a:cubicBezTo>
                    <a:pt x="0" y="2953"/>
                    <a:pt x="857" y="3810"/>
                    <a:pt x="1905" y="3810"/>
                  </a:cubicBezTo>
                  <a:close/>
                </a:path>
              </a:pathLst>
            </a:custGeom>
            <a:grpFill/>
            <a:ln w="9525" cap="flat">
              <a:noFill/>
              <a:prstDash val="solid"/>
              <a:miter/>
            </a:ln>
          </p:spPr>
          <p:txBody>
            <a:bodyPr rtlCol="0" anchor="ctr"/>
            <a:lstStyle/>
            <a:p>
              <a:endParaRPr lang="zh-CN" altLang="en-US"/>
            </a:p>
          </p:txBody>
        </p:sp>
        <p:sp>
          <p:nvSpPr>
            <p:cNvPr id="61" name="任意多边形: 形状 60"/>
            <p:cNvSpPr/>
            <p:nvPr/>
          </p:nvSpPr>
          <p:spPr>
            <a:xfrm>
              <a:off x="5625560" y="3189351"/>
              <a:ext cx="19811" cy="19811"/>
            </a:xfrm>
            <a:custGeom>
              <a:avLst/>
              <a:gdLst>
                <a:gd name="connsiteX0" fmla="*/ 9906 w 19811"/>
                <a:gd name="connsiteY0" fmla="*/ 19812 h 19811"/>
                <a:gd name="connsiteX1" fmla="*/ 19812 w 19811"/>
                <a:gd name="connsiteY1" fmla="*/ 9906 h 19811"/>
                <a:gd name="connsiteX2" fmla="*/ 9906 w 19811"/>
                <a:gd name="connsiteY2" fmla="*/ 0 h 19811"/>
                <a:gd name="connsiteX3" fmla="*/ 0 w 19811"/>
                <a:gd name="connsiteY3" fmla="*/ 9906 h 19811"/>
                <a:gd name="connsiteX4" fmla="*/ 9906 w 19811"/>
                <a:gd name="connsiteY4" fmla="*/ 19812 h 19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11" h="19811">
                  <a:moveTo>
                    <a:pt x="9906" y="19812"/>
                  </a:moveTo>
                  <a:cubicBezTo>
                    <a:pt x="15430" y="19812"/>
                    <a:pt x="19812" y="15335"/>
                    <a:pt x="19812" y="9906"/>
                  </a:cubicBezTo>
                  <a:cubicBezTo>
                    <a:pt x="19812" y="4381"/>
                    <a:pt x="15335" y="0"/>
                    <a:pt x="9906" y="0"/>
                  </a:cubicBezTo>
                  <a:cubicBezTo>
                    <a:pt x="4382" y="0"/>
                    <a:pt x="0" y="4477"/>
                    <a:pt x="0" y="9906"/>
                  </a:cubicBezTo>
                  <a:cubicBezTo>
                    <a:pt x="0" y="15430"/>
                    <a:pt x="4477" y="19812"/>
                    <a:pt x="9906" y="19812"/>
                  </a:cubicBezTo>
                  <a:close/>
                </a:path>
              </a:pathLst>
            </a:custGeom>
            <a:grpFill/>
            <a:ln w="9525" cap="flat">
              <a:noFill/>
              <a:prstDash val="solid"/>
              <a:miter/>
            </a:ln>
          </p:spPr>
          <p:txBody>
            <a:bodyPr rtlCol="0" anchor="ctr"/>
            <a:lstStyle/>
            <a:p>
              <a:endParaRPr lang="zh-CN" altLang="en-US"/>
            </a:p>
          </p:txBody>
        </p:sp>
        <p:sp>
          <p:nvSpPr>
            <p:cNvPr id="62" name="任意多边形: 形状 61"/>
            <p:cNvSpPr/>
            <p:nvPr/>
          </p:nvSpPr>
          <p:spPr>
            <a:xfrm>
              <a:off x="5732715" y="3181159"/>
              <a:ext cx="36386" cy="36385"/>
            </a:xfrm>
            <a:custGeom>
              <a:avLst/>
              <a:gdLst>
                <a:gd name="connsiteX0" fmla="*/ 18194 w 36386"/>
                <a:gd name="connsiteY0" fmla="*/ 36385 h 36385"/>
                <a:gd name="connsiteX1" fmla="*/ 36386 w 36386"/>
                <a:gd name="connsiteY1" fmla="*/ 18193 h 36385"/>
                <a:gd name="connsiteX2" fmla="*/ 18194 w 36386"/>
                <a:gd name="connsiteY2" fmla="*/ 0 h 36385"/>
                <a:gd name="connsiteX3" fmla="*/ 1 w 36386"/>
                <a:gd name="connsiteY3" fmla="*/ 18193 h 36385"/>
                <a:gd name="connsiteX4" fmla="*/ 18194 w 36386"/>
                <a:gd name="connsiteY4" fmla="*/ 36385 h 36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86" h="36385">
                  <a:moveTo>
                    <a:pt x="18194" y="36385"/>
                  </a:moveTo>
                  <a:cubicBezTo>
                    <a:pt x="28290" y="36385"/>
                    <a:pt x="36386" y="28194"/>
                    <a:pt x="36386" y="18193"/>
                  </a:cubicBezTo>
                  <a:cubicBezTo>
                    <a:pt x="36386" y="8096"/>
                    <a:pt x="28195" y="0"/>
                    <a:pt x="18194" y="0"/>
                  </a:cubicBezTo>
                  <a:cubicBezTo>
                    <a:pt x="8097" y="0"/>
                    <a:pt x="1" y="8192"/>
                    <a:pt x="1" y="18193"/>
                  </a:cubicBezTo>
                  <a:cubicBezTo>
                    <a:pt x="-94" y="28194"/>
                    <a:pt x="8097" y="36385"/>
                    <a:pt x="18194" y="36385"/>
                  </a:cubicBezTo>
                  <a:close/>
                </a:path>
              </a:pathLst>
            </a:custGeom>
            <a:grpFill/>
            <a:ln w="9525" cap="flat">
              <a:noFill/>
              <a:prstDash val="solid"/>
              <a:miter/>
            </a:ln>
          </p:spPr>
          <p:txBody>
            <a:bodyPr rtlCol="0" anchor="ctr"/>
            <a:lstStyle/>
            <a:p>
              <a:endParaRPr lang="zh-CN" altLang="en-US"/>
            </a:p>
          </p:txBody>
        </p:sp>
        <p:sp>
          <p:nvSpPr>
            <p:cNvPr id="63" name="任意多边形: 形状 62"/>
            <p:cNvSpPr/>
            <p:nvPr/>
          </p:nvSpPr>
          <p:spPr>
            <a:xfrm>
              <a:off x="5840634" y="3173634"/>
              <a:ext cx="51244" cy="51244"/>
            </a:xfrm>
            <a:custGeom>
              <a:avLst/>
              <a:gdLst>
                <a:gd name="connsiteX0" fmla="*/ 25622 w 51244"/>
                <a:gd name="connsiteY0" fmla="*/ 51245 h 51244"/>
                <a:gd name="connsiteX1" fmla="*/ 51245 w 51244"/>
                <a:gd name="connsiteY1" fmla="*/ 25622 h 51244"/>
                <a:gd name="connsiteX2" fmla="*/ 25622 w 51244"/>
                <a:gd name="connsiteY2" fmla="*/ 0 h 51244"/>
                <a:gd name="connsiteX3" fmla="*/ 0 w 51244"/>
                <a:gd name="connsiteY3" fmla="*/ 25622 h 51244"/>
                <a:gd name="connsiteX4" fmla="*/ 25622 w 51244"/>
                <a:gd name="connsiteY4" fmla="*/ 51245 h 51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4" h="51244">
                  <a:moveTo>
                    <a:pt x="25622" y="51245"/>
                  </a:moveTo>
                  <a:cubicBezTo>
                    <a:pt x="39719" y="51245"/>
                    <a:pt x="51245" y="39815"/>
                    <a:pt x="51245" y="25622"/>
                  </a:cubicBezTo>
                  <a:cubicBezTo>
                    <a:pt x="51245" y="11525"/>
                    <a:pt x="39815" y="0"/>
                    <a:pt x="25622" y="0"/>
                  </a:cubicBezTo>
                  <a:cubicBezTo>
                    <a:pt x="11525" y="0"/>
                    <a:pt x="0" y="11430"/>
                    <a:pt x="0" y="25622"/>
                  </a:cubicBezTo>
                  <a:cubicBezTo>
                    <a:pt x="0" y="39815"/>
                    <a:pt x="11525" y="51245"/>
                    <a:pt x="25622" y="51245"/>
                  </a:cubicBezTo>
                  <a:close/>
                </a:path>
              </a:pathLst>
            </a:custGeom>
            <a:grpFill/>
            <a:ln w="9525" cap="flat">
              <a:noFill/>
              <a:prstDash val="solid"/>
              <a:miter/>
            </a:ln>
          </p:spPr>
          <p:txBody>
            <a:bodyPr rtlCol="0" anchor="ctr"/>
            <a:lstStyle/>
            <a:p>
              <a:endParaRPr lang="zh-CN" altLang="en-US"/>
            </a:p>
          </p:txBody>
        </p:sp>
        <p:sp>
          <p:nvSpPr>
            <p:cNvPr id="64" name="任意多边形: 形状 63"/>
            <p:cNvSpPr/>
            <p:nvPr/>
          </p:nvSpPr>
          <p:spPr>
            <a:xfrm>
              <a:off x="5950362" y="3167919"/>
              <a:ext cx="62674" cy="62674"/>
            </a:xfrm>
            <a:custGeom>
              <a:avLst/>
              <a:gdLst>
                <a:gd name="connsiteX0" fmla="*/ 31338 w 62674"/>
                <a:gd name="connsiteY0" fmla="*/ 62674 h 62674"/>
                <a:gd name="connsiteX1" fmla="*/ 62675 w 62674"/>
                <a:gd name="connsiteY1" fmla="*/ 31337 h 62674"/>
                <a:gd name="connsiteX2" fmla="*/ 31338 w 62674"/>
                <a:gd name="connsiteY2" fmla="*/ 0 h 62674"/>
                <a:gd name="connsiteX3" fmla="*/ 0 w 62674"/>
                <a:gd name="connsiteY3" fmla="*/ 31337 h 62674"/>
                <a:gd name="connsiteX4" fmla="*/ 31338 w 62674"/>
                <a:gd name="connsiteY4" fmla="*/ 62674 h 62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74" h="62674">
                  <a:moveTo>
                    <a:pt x="31338" y="62674"/>
                  </a:moveTo>
                  <a:cubicBezTo>
                    <a:pt x="48673" y="62674"/>
                    <a:pt x="62675" y="48673"/>
                    <a:pt x="62675" y="31337"/>
                  </a:cubicBezTo>
                  <a:cubicBezTo>
                    <a:pt x="62675" y="14002"/>
                    <a:pt x="48673" y="0"/>
                    <a:pt x="31338" y="0"/>
                  </a:cubicBezTo>
                  <a:cubicBezTo>
                    <a:pt x="14002" y="0"/>
                    <a:pt x="0" y="14002"/>
                    <a:pt x="0" y="31337"/>
                  </a:cubicBezTo>
                  <a:cubicBezTo>
                    <a:pt x="-95" y="48673"/>
                    <a:pt x="14002" y="62674"/>
                    <a:pt x="31338" y="62674"/>
                  </a:cubicBezTo>
                  <a:close/>
                </a:path>
              </a:pathLst>
            </a:custGeom>
            <a:grpFill/>
            <a:ln w="9525" cap="flat">
              <a:noFill/>
              <a:prstDash val="solid"/>
              <a:miter/>
            </a:ln>
          </p:spPr>
          <p:txBody>
            <a:bodyPr rtlCol="0" anchor="ctr"/>
            <a:lstStyle/>
            <a:p>
              <a:endParaRPr lang="zh-CN" altLang="en-US"/>
            </a:p>
          </p:txBody>
        </p:sp>
        <p:sp>
          <p:nvSpPr>
            <p:cNvPr id="65" name="任意多边形: 形状 64"/>
            <p:cNvSpPr/>
            <p:nvPr/>
          </p:nvSpPr>
          <p:spPr>
            <a:xfrm>
              <a:off x="6063138" y="3165347"/>
              <a:ext cx="67817" cy="67817"/>
            </a:xfrm>
            <a:custGeom>
              <a:avLst/>
              <a:gdLst>
                <a:gd name="connsiteX0" fmla="*/ 33909 w 67817"/>
                <a:gd name="connsiteY0" fmla="*/ 67818 h 67817"/>
                <a:gd name="connsiteX1" fmla="*/ 67818 w 67817"/>
                <a:gd name="connsiteY1" fmla="*/ 33909 h 67817"/>
                <a:gd name="connsiteX2" fmla="*/ 33909 w 67817"/>
                <a:gd name="connsiteY2" fmla="*/ 0 h 67817"/>
                <a:gd name="connsiteX3" fmla="*/ 0 w 67817"/>
                <a:gd name="connsiteY3" fmla="*/ 33909 h 67817"/>
                <a:gd name="connsiteX4" fmla="*/ 33909 w 67817"/>
                <a:gd name="connsiteY4" fmla="*/ 67818 h 67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67817">
                  <a:moveTo>
                    <a:pt x="33909" y="67818"/>
                  </a:moveTo>
                  <a:cubicBezTo>
                    <a:pt x="52673" y="67818"/>
                    <a:pt x="67818" y="52673"/>
                    <a:pt x="67818" y="33909"/>
                  </a:cubicBezTo>
                  <a:cubicBezTo>
                    <a:pt x="67818" y="15145"/>
                    <a:pt x="52673" y="0"/>
                    <a:pt x="33909" y="0"/>
                  </a:cubicBezTo>
                  <a:cubicBezTo>
                    <a:pt x="15145" y="0"/>
                    <a:pt x="0" y="15145"/>
                    <a:pt x="0" y="33909"/>
                  </a:cubicBezTo>
                  <a:cubicBezTo>
                    <a:pt x="0" y="52673"/>
                    <a:pt x="15240" y="67818"/>
                    <a:pt x="33909" y="67818"/>
                  </a:cubicBezTo>
                  <a:close/>
                </a:path>
              </a:pathLst>
            </a:custGeom>
            <a:grpFill/>
            <a:ln w="9525" cap="flat">
              <a:noFill/>
              <a:prstDash val="solid"/>
              <a:miter/>
            </a:ln>
          </p:spPr>
          <p:txBody>
            <a:bodyPr rtlCol="0" anchor="ctr"/>
            <a:lstStyle/>
            <a:p>
              <a:endParaRPr lang="zh-CN" altLang="en-US"/>
            </a:p>
          </p:txBody>
        </p:sp>
        <p:sp>
          <p:nvSpPr>
            <p:cNvPr id="66" name="任意多边形: 形状 65"/>
            <p:cNvSpPr/>
            <p:nvPr/>
          </p:nvSpPr>
          <p:spPr>
            <a:xfrm>
              <a:off x="6180486" y="3167253"/>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67" name="任意多边形: 形状 66"/>
            <p:cNvSpPr/>
            <p:nvPr/>
          </p:nvSpPr>
          <p:spPr>
            <a:xfrm>
              <a:off x="6301644" y="3173158"/>
              <a:ext cx="52387" cy="52387"/>
            </a:xfrm>
            <a:custGeom>
              <a:avLst/>
              <a:gdLst>
                <a:gd name="connsiteX0" fmla="*/ 26194 w 52387"/>
                <a:gd name="connsiteY0" fmla="*/ 52388 h 52387"/>
                <a:gd name="connsiteX1" fmla="*/ 52388 w 52387"/>
                <a:gd name="connsiteY1" fmla="*/ 26194 h 52387"/>
                <a:gd name="connsiteX2" fmla="*/ 26194 w 52387"/>
                <a:gd name="connsiteY2" fmla="*/ 0 h 52387"/>
                <a:gd name="connsiteX3" fmla="*/ 0 w 52387"/>
                <a:gd name="connsiteY3" fmla="*/ 26194 h 52387"/>
                <a:gd name="connsiteX4" fmla="*/ 26194 w 52387"/>
                <a:gd name="connsiteY4" fmla="*/ 52388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 h="52387">
                  <a:moveTo>
                    <a:pt x="26194" y="52388"/>
                  </a:moveTo>
                  <a:cubicBezTo>
                    <a:pt x="40672" y="52388"/>
                    <a:pt x="52388" y="40672"/>
                    <a:pt x="52388" y="26194"/>
                  </a:cubicBezTo>
                  <a:cubicBezTo>
                    <a:pt x="52388" y="11716"/>
                    <a:pt x="40672" y="0"/>
                    <a:pt x="26194" y="0"/>
                  </a:cubicBezTo>
                  <a:cubicBezTo>
                    <a:pt x="11716" y="0"/>
                    <a:pt x="0" y="11716"/>
                    <a:pt x="0" y="26194"/>
                  </a:cubicBezTo>
                  <a:cubicBezTo>
                    <a:pt x="0" y="40672"/>
                    <a:pt x="11716" y="52388"/>
                    <a:pt x="26194" y="52388"/>
                  </a:cubicBezTo>
                  <a:close/>
                </a:path>
              </a:pathLst>
            </a:custGeom>
            <a:grpFill/>
            <a:ln w="9525" cap="flat">
              <a:noFill/>
              <a:prstDash val="solid"/>
              <a:miter/>
            </a:ln>
          </p:spPr>
          <p:txBody>
            <a:bodyPr rtlCol="0" anchor="ctr"/>
            <a:lstStyle/>
            <a:p>
              <a:endParaRPr lang="zh-CN" altLang="en-US"/>
            </a:p>
          </p:txBody>
        </p:sp>
        <p:sp>
          <p:nvSpPr>
            <p:cNvPr id="68" name="任意多边形: 形状 67"/>
            <p:cNvSpPr/>
            <p:nvPr/>
          </p:nvSpPr>
          <p:spPr>
            <a:xfrm>
              <a:off x="6424421" y="3180397"/>
              <a:ext cx="37719" cy="37718"/>
            </a:xfrm>
            <a:custGeom>
              <a:avLst/>
              <a:gdLst>
                <a:gd name="connsiteX0" fmla="*/ 18860 w 37719"/>
                <a:gd name="connsiteY0" fmla="*/ 37719 h 37718"/>
                <a:gd name="connsiteX1" fmla="*/ 37720 w 37719"/>
                <a:gd name="connsiteY1" fmla="*/ 18859 h 37718"/>
                <a:gd name="connsiteX2" fmla="*/ 18860 w 37719"/>
                <a:gd name="connsiteY2" fmla="*/ 0 h 37718"/>
                <a:gd name="connsiteX3" fmla="*/ 1 w 37719"/>
                <a:gd name="connsiteY3" fmla="*/ 18859 h 37718"/>
                <a:gd name="connsiteX4" fmla="*/ 18860 w 37719"/>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9" h="37718">
                  <a:moveTo>
                    <a:pt x="18860" y="37719"/>
                  </a:moveTo>
                  <a:cubicBezTo>
                    <a:pt x="29243" y="37719"/>
                    <a:pt x="37720" y="29242"/>
                    <a:pt x="37720" y="18859"/>
                  </a:cubicBezTo>
                  <a:cubicBezTo>
                    <a:pt x="37720" y="8477"/>
                    <a:pt x="29243" y="0"/>
                    <a:pt x="18860" y="0"/>
                  </a:cubicBezTo>
                  <a:cubicBezTo>
                    <a:pt x="8478" y="0"/>
                    <a:pt x="1" y="8477"/>
                    <a:pt x="1" y="18859"/>
                  </a:cubicBezTo>
                  <a:cubicBezTo>
                    <a:pt x="-94" y="29337"/>
                    <a:pt x="8383" y="37719"/>
                    <a:pt x="18860" y="37719"/>
                  </a:cubicBezTo>
                  <a:close/>
                </a:path>
              </a:pathLst>
            </a:custGeom>
            <a:grpFill/>
            <a:ln w="9525" cap="flat">
              <a:noFill/>
              <a:prstDash val="solid"/>
              <a:miter/>
            </a:ln>
          </p:spPr>
          <p:txBody>
            <a:bodyPr rtlCol="0" anchor="ctr"/>
            <a:lstStyle/>
            <a:p>
              <a:endParaRPr lang="zh-CN" altLang="en-US"/>
            </a:p>
          </p:txBody>
        </p:sp>
        <p:sp>
          <p:nvSpPr>
            <p:cNvPr id="69" name="任意多边形: 形状 68"/>
            <p:cNvSpPr/>
            <p:nvPr/>
          </p:nvSpPr>
          <p:spPr>
            <a:xfrm>
              <a:off x="6548056" y="3188684"/>
              <a:ext cx="21145" cy="21145"/>
            </a:xfrm>
            <a:custGeom>
              <a:avLst/>
              <a:gdLst>
                <a:gd name="connsiteX0" fmla="*/ 21146 w 21145"/>
                <a:gd name="connsiteY0" fmla="*/ 10573 h 21145"/>
                <a:gd name="connsiteX1" fmla="*/ 10573 w 21145"/>
                <a:gd name="connsiteY1" fmla="*/ 21146 h 21145"/>
                <a:gd name="connsiteX2" fmla="*/ 0 w 21145"/>
                <a:gd name="connsiteY2" fmla="*/ 10573 h 21145"/>
                <a:gd name="connsiteX3" fmla="*/ 10573 w 21145"/>
                <a:gd name="connsiteY3" fmla="*/ 0 h 21145"/>
                <a:gd name="connsiteX4" fmla="*/ 21146 w 21145"/>
                <a:gd name="connsiteY4" fmla="*/ 10573 h 21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5" h="21145">
                  <a:moveTo>
                    <a:pt x="21146" y="10573"/>
                  </a:moveTo>
                  <a:cubicBezTo>
                    <a:pt x="21146" y="16412"/>
                    <a:pt x="16412" y="21146"/>
                    <a:pt x="10573" y="21146"/>
                  </a:cubicBezTo>
                  <a:cubicBezTo>
                    <a:pt x="4734" y="21146"/>
                    <a:pt x="0" y="16412"/>
                    <a:pt x="0" y="10573"/>
                  </a:cubicBezTo>
                  <a:cubicBezTo>
                    <a:pt x="0" y="4734"/>
                    <a:pt x="4734" y="0"/>
                    <a:pt x="10573" y="0"/>
                  </a:cubicBezTo>
                  <a:cubicBezTo>
                    <a:pt x="16412" y="0"/>
                    <a:pt x="21146" y="4734"/>
                    <a:pt x="21146" y="10573"/>
                  </a:cubicBezTo>
                  <a:close/>
                </a:path>
              </a:pathLst>
            </a:custGeom>
            <a:grpFill/>
            <a:ln w="9525" cap="flat">
              <a:noFill/>
              <a:prstDash val="solid"/>
              <a:miter/>
            </a:ln>
          </p:spPr>
          <p:txBody>
            <a:bodyPr rtlCol="0" anchor="ctr"/>
            <a:lstStyle/>
            <a:p>
              <a:endParaRPr lang="zh-CN" altLang="en-US"/>
            </a:p>
          </p:txBody>
        </p:sp>
        <p:sp>
          <p:nvSpPr>
            <p:cNvPr id="70" name="任意多边形: 形状 69"/>
            <p:cNvSpPr/>
            <p:nvPr/>
          </p:nvSpPr>
          <p:spPr>
            <a:xfrm>
              <a:off x="6671500" y="3196685"/>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71" name="任意多边形: 形状 70"/>
            <p:cNvSpPr/>
            <p:nvPr/>
          </p:nvSpPr>
          <p:spPr>
            <a:xfrm>
              <a:off x="5515927" y="3310509"/>
              <a:ext cx="8381" cy="8381"/>
            </a:xfrm>
            <a:custGeom>
              <a:avLst/>
              <a:gdLst>
                <a:gd name="connsiteX0" fmla="*/ 8382 w 8381"/>
                <a:gd name="connsiteY0" fmla="*/ 4191 h 8381"/>
                <a:gd name="connsiteX1" fmla="*/ 4191 w 8381"/>
                <a:gd name="connsiteY1" fmla="*/ 8382 h 8381"/>
                <a:gd name="connsiteX2" fmla="*/ 0 w 8381"/>
                <a:gd name="connsiteY2" fmla="*/ 4191 h 8381"/>
                <a:gd name="connsiteX3" fmla="*/ 4191 w 8381"/>
                <a:gd name="connsiteY3" fmla="*/ 0 h 8381"/>
                <a:gd name="connsiteX4" fmla="*/ 8382 w 8381"/>
                <a:gd name="connsiteY4" fmla="*/ 4191 h 8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1" h="8381">
                  <a:moveTo>
                    <a:pt x="8382" y="4191"/>
                  </a:moveTo>
                  <a:cubicBezTo>
                    <a:pt x="8382" y="6506"/>
                    <a:pt x="6506" y="8382"/>
                    <a:pt x="4191" y="8382"/>
                  </a:cubicBezTo>
                  <a:cubicBezTo>
                    <a:pt x="1876" y="8382"/>
                    <a:pt x="0" y="6506"/>
                    <a:pt x="0" y="4191"/>
                  </a:cubicBezTo>
                  <a:cubicBezTo>
                    <a:pt x="0" y="1876"/>
                    <a:pt x="1876" y="0"/>
                    <a:pt x="4191" y="0"/>
                  </a:cubicBezTo>
                  <a:cubicBezTo>
                    <a:pt x="6506" y="0"/>
                    <a:pt x="8382" y="1876"/>
                    <a:pt x="8382" y="4191"/>
                  </a:cubicBezTo>
                  <a:close/>
                </a:path>
              </a:pathLst>
            </a:custGeom>
            <a:grpFill/>
            <a:ln w="9525" cap="flat">
              <a:noFill/>
              <a:prstDash val="solid"/>
              <a:miter/>
            </a:ln>
          </p:spPr>
          <p:txBody>
            <a:bodyPr rtlCol="0" anchor="ctr"/>
            <a:lstStyle/>
            <a:p>
              <a:endParaRPr lang="zh-CN" altLang="en-US"/>
            </a:p>
          </p:txBody>
        </p:sp>
        <p:sp>
          <p:nvSpPr>
            <p:cNvPr id="72" name="任意多边形: 形状 71"/>
            <p:cNvSpPr/>
            <p:nvPr/>
          </p:nvSpPr>
          <p:spPr>
            <a:xfrm>
              <a:off x="5622035" y="3301269"/>
              <a:ext cx="26860" cy="26860"/>
            </a:xfrm>
            <a:custGeom>
              <a:avLst/>
              <a:gdLst>
                <a:gd name="connsiteX0" fmla="*/ 13430 w 26860"/>
                <a:gd name="connsiteY0" fmla="*/ 26860 h 26860"/>
                <a:gd name="connsiteX1" fmla="*/ 26861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1" y="20860"/>
                    <a:pt x="26861" y="13430"/>
                  </a:cubicBezTo>
                  <a:cubicBezTo>
                    <a:pt x="26861"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73" name="任意多边形: 形状 72"/>
            <p:cNvSpPr/>
            <p:nvPr/>
          </p:nvSpPr>
          <p:spPr>
            <a:xfrm>
              <a:off x="5728144" y="3291935"/>
              <a:ext cx="45529" cy="45529"/>
            </a:xfrm>
            <a:custGeom>
              <a:avLst/>
              <a:gdLst>
                <a:gd name="connsiteX0" fmla="*/ 45530 w 45529"/>
                <a:gd name="connsiteY0" fmla="*/ 22765 h 45529"/>
                <a:gd name="connsiteX1" fmla="*/ 22765 w 45529"/>
                <a:gd name="connsiteY1" fmla="*/ 45529 h 45529"/>
                <a:gd name="connsiteX2" fmla="*/ 0 w 45529"/>
                <a:gd name="connsiteY2" fmla="*/ 22765 h 45529"/>
                <a:gd name="connsiteX3" fmla="*/ 22765 w 45529"/>
                <a:gd name="connsiteY3" fmla="*/ 0 h 45529"/>
                <a:gd name="connsiteX4" fmla="*/ 45530 w 45529"/>
                <a:gd name="connsiteY4" fmla="*/ 22765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45530" y="22765"/>
                  </a:moveTo>
                  <a:cubicBezTo>
                    <a:pt x="45530" y="35337"/>
                    <a:pt x="35337" y="45529"/>
                    <a:pt x="22765" y="45529"/>
                  </a:cubicBezTo>
                  <a:cubicBezTo>
                    <a:pt x="10192" y="45529"/>
                    <a:pt x="0" y="35337"/>
                    <a:pt x="0" y="22765"/>
                  </a:cubicBezTo>
                  <a:cubicBezTo>
                    <a:pt x="0" y="10192"/>
                    <a:pt x="10192" y="0"/>
                    <a:pt x="22765" y="0"/>
                  </a:cubicBezTo>
                  <a:cubicBezTo>
                    <a:pt x="35337" y="0"/>
                    <a:pt x="45530" y="10192"/>
                    <a:pt x="45530" y="22765"/>
                  </a:cubicBezTo>
                  <a:close/>
                </a:path>
              </a:pathLst>
            </a:custGeom>
            <a:grpFill/>
            <a:ln w="9525" cap="flat">
              <a:noFill/>
              <a:prstDash val="solid"/>
              <a:miter/>
            </a:ln>
          </p:spPr>
          <p:txBody>
            <a:bodyPr rtlCol="0" anchor="ctr"/>
            <a:lstStyle/>
            <a:p>
              <a:endParaRPr lang="zh-CN" altLang="en-US"/>
            </a:p>
          </p:txBody>
        </p:sp>
        <p:sp>
          <p:nvSpPr>
            <p:cNvPr id="74" name="任意多边形: 形状 73"/>
            <p:cNvSpPr/>
            <p:nvPr/>
          </p:nvSpPr>
          <p:spPr>
            <a:xfrm>
              <a:off x="5834919" y="3283362"/>
              <a:ext cx="62674" cy="62674"/>
            </a:xfrm>
            <a:custGeom>
              <a:avLst/>
              <a:gdLst>
                <a:gd name="connsiteX0" fmla="*/ 62674 w 62674"/>
                <a:gd name="connsiteY0" fmla="*/ 31337 h 62674"/>
                <a:gd name="connsiteX1" fmla="*/ 31337 w 62674"/>
                <a:gd name="connsiteY1" fmla="*/ 62675 h 62674"/>
                <a:gd name="connsiteX2" fmla="*/ 0 w 62674"/>
                <a:gd name="connsiteY2" fmla="*/ 31337 h 62674"/>
                <a:gd name="connsiteX3" fmla="*/ 31337 w 62674"/>
                <a:gd name="connsiteY3" fmla="*/ 0 h 62674"/>
                <a:gd name="connsiteX4" fmla="*/ 62674 w 62674"/>
                <a:gd name="connsiteY4" fmla="*/ 31337 h 62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74" h="62674">
                  <a:moveTo>
                    <a:pt x="62674" y="31337"/>
                  </a:moveTo>
                  <a:cubicBezTo>
                    <a:pt x="62674" y="48644"/>
                    <a:pt x="48644" y="62675"/>
                    <a:pt x="31337" y="62675"/>
                  </a:cubicBezTo>
                  <a:cubicBezTo>
                    <a:pt x="14030" y="62675"/>
                    <a:pt x="0" y="48644"/>
                    <a:pt x="0" y="31337"/>
                  </a:cubicBezTo>
                  <a:cubicBezTo>
                    <a:pt x="0" y="14030"/>
                    <a:pt x="14030" y="0"/>
                    <a:pt x="31337" y="0"/>
                  </a:cubicBezTo>
                  <a:cubicBezTo>
                    <a:pt x="48644" y="0"/>
                    <a:pt x="62674" y="14030"/>
                    <a:pt x="62674" y="31337"/>
                  </a:cubicBezTo>
                  <a:close/>
                </a:path>
              </a:pathLst>
            </a:custGeom>
            <a:grpFill/>
            <a:ln w="9525" cap="flat">
              <a:noFill/>
              <a:prstDash val="solid"/>
              <a:miter/>
            </a:ln>
          </p:spPr>
          <p:txBody>
            <a:bodyPr rtlCol="0" anchor="ctr"/>
            <a:lstStyle/>
            <a:p>
              <a:endParaRPr lang="zh-CN" altLang="en-US"/>
            </a:p>
          </p:txBody>
        </p:sp>
        <p:sp>
          <p:nvSpPr>
            <p:cNvPr id="75" name="任意多边形: 形状 74"/>
            <p:cNvSpPr/>
            <p:nvPr/>
          </p:nvSpPr>
          <p:spPr>
            <a:xfrm>
              <a:off x="5942647" y="3275647"/>
              <a:ext cx="78104" cy="78104"/>
            </a:xfrm>
            <a:custGeom>
              <a:avLst/>
              <a:gdLst>
                <a:gd name="connsiteX0" fmla="*/ 39052 w 78104"/>
                <a:gd name="connsiteY0" fmla="*/ 78105 h 78104"/>
                <a:gd name="connsiteX1" fmla="*/ 78105 w 78104"/>
                <a:gd name="connsiteY1" fmla="*/ 39052 h 78104"/>
                <a:gd name="connsiteX2" fmla="*/ 39052 w 78104"/>
                <a:gd name="connsiteY2" fmla="*/ 0 h 78104"/>
                <a:gd name="connsiteX3" fmla="*/ 0 w 78104"/>
                <a:gd name="connsiteY3" fmla="*/ 39052 h 78104"/>
                <a:gd name="connsiteX4" fmla="*/ 39052 w 78104"/>
                <a:gd name="connsiteY4" fmla="*/ 78105 h 78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4" h="78104">
                  <a:moveTo>
                    <a:pt x="39052" y="78105"/>
                  </a:moveTo>
                  <a:cubicBezTo>
                    <a:pt x="60579" y="78105"/>
                    <a:pt x="78105" y="60674"/>
                    <a:pt x="78105" y="39052"/>
                  </a:cubicBezTo>
                  <a:cubicBezTo>
                    <a:pt x="78105" y="17431"/>
                    <a:pt x="60674" y="0"/>
                    <a:pt x="39052" y="0"/>
                  </a:cubicBezTo>
                  <a:cubicBezTo>
                    <a:pt x="17526" y="0"/>
                    <a:pt x="0" y="17526"/>
                    <a:pt x="0" y="39052"/>
                  </a:cubicBezTo>
                  <a:cubicBezTo>
                    <a:pt x="0" y="60579"/>
                    <a:pt x="17431" y="78105"/>
                    <a:pt x="39052" y="78105"/>
                  </a:cubicBezTo>
                  <a:close/>
                </a:path>
              </a:pathLst>
            </a:custGeom>
            <a:grpFill/>
            <a:ln w="9525" cap="flat">
              <a:noFill/>
              <a:prstDash val="solid"/>
              <a:miter/>
            </a:ln>
          </p:spPr>
          <p:txBody>
            <a:bodyPr rtlCol="0" anchor="ctr"/>
            <a:lstStyle/>
            <a:p>
              <a:endParaRPr lang="zh-CN" altLang="en-US"/>
            </a:p>
          </p:txBody>
        </p:sp>
        <p:sp>
          <p:nvSpPr>
            <p:cNvPr id="76" name="任意多边形: 形状 75"/>
            <p:cNvSpPr/>
            <p:nvPr/>
          </p:nvSpPr>
          <p:spPr>
            <a:xfrm>
              <a:off x="6053804" y="3271456"/>
              <a:ext cx="86487" cy="86486"/>
            </a:xfrm>
            <a:custGeom>
              <a:avLst/>
              <a:gdLst>
                <a:gd name="connsiteX0" fmla="*/ 86487 w 86487"/>
                <a:gd name="connsiteY0" fmla="*/ 43244 h 86486"/>
                <a:gd name="connsiteX1" fmla="*/ 43244 w 86487"/>
                <a:gd name="connsiteY1" fmla="*/ 86487 h 86486"/>
                <a:gd name="connsiteX2" fmla="*/ 0 w 86487"/>
                <a:gd name="connsiteY2" fmla="*/ 43244 h 86486"/>
                <a:gd name="connsiteX3" fmla="*/ 43244 w 86487"/>
                <a:gd name="connsiteY3" fmla="*/ 0 h 86486"/>
                <a:gd name="connsiteX4" fmla="*/ 86487 w 86487"/>
                <a:gd name="connsiteY4" fmla="*/ 43244 h 86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7" h="86486">
                  <a:moveTo>
                    <a:pt x="86487" y="43244"/>
                  </a:moveTo>
                  <a:cubicBezTo>
                    <a:pt x="86487" y="67126"/>
                    <a:pt x="67126" y="86487"/>
                    <a:pt x="43244" y="86487"/>
                  </a:cubicBezTo>
                  <a:cubicBezTo>
                    <a:pt x="19361" y="86487"/>
                    <a:pt x="0" y="67126"/>
                    <a:pt x="0" y="43244"/>
                  </a:cubicBezTo>
                  <a:cubicBezTo>
                    <a:pt x="0" y="19361"/>
                    <a:pt x="19361" y="0"/>
                    <a:pt x="43244" y="0"/>
                  </a:cubicBezTo>
                  <a:cubicBezTo>
                    <a:pt x="67126" y="0"/>
                    <a:pt x="86487" y="19361"/>
                    <a:pt x="86487" y="43244"/>
                  </a:cubicBezTo>
                  <a:close/>
                </a:path>
              </a:pathLst>
            </a:custGeom>
            <a:grpFill/>
            <a:ln w="9525" cap="flat">
              <a:noFill/>
              <a:prstDash val="solid"/>
              <a:miter/>
            </a:ln>
          </p:spPr>
          <p:txBody>
            <a:bodyPr rtlCol="0" anchor="ctr"/>
            <a:lstStyle/>
            <a:p>
              <a:endParaRPr lang="zh-CN" altLang="en-US"/>
            </a:p>
          </p:txBody>
        </p:sp>
        <p:sp>
          <p:nvSpPr>
            <p:cNvPr id="77" name="任意多边形: 形状 76"/>
            <p:cNvSpPr/>
            <p:nvPr/>
          </p:nvSpPr>
          <p:spPr>
            <a:xfrm>
              <a:off x="6172771" y="3274980"/>
              <a:ext cx="79438" cy="79438"/>
            </a:xfrm>
            <a:custGeom>
              <a:avLst/>
              <a:gdLst>
                <a:gd name="connsiteX0" fmla="*/ 79439 w 79438"/>
                <a:gd name="connsiteY0" fmla="*/ 39719 h 79438"/>
                <a:gd name="connsiteX1" fmla="*/ 39719 w 79438"/>
                <a:gd name="connsiteY1" fmla="*/ 79438 h 79438"/>
                <a:gd name="connsiteX2" fmla="*/ 0 w 79438"/>
                <a:gd name="connsiteY2" fmla="*/ 39719 h 79438"/>
                <a:gd name="connsiteX3" fmla="*/ 39719 w 79438"/>
                <a:gd name="connsiteY3" fmla="*/ 0 h 79438"/>
                <a:gd name="connsiteX4" fmla="*/ 79439 w 79438"/>
                <a:gd name="connsiteY4" fmla="*/ 39719 h 7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8" h="79438">
                  <a:moveTo>
                    <a:pt x="79439" y="39719"/>
                  </a:moveTo>
                  <a:cubicBezTo>
                    <a:pt x="79439" y="61656"/>
                    <a:pt x="61656" y="79438"/>
                    <a:pt x="39719" y="79438"/>
                  </a:cubicBezTo>
                  <a:cubicBezTo>
                    <a:pt x="17783" y="79438"/>
                    <a:pt x="0" y="61656"/>
                    <a:pt x="0" y="39719"/>
                  </a:cubicBezTo>
                  <a:cubicBezTo>
                    <a:pt x="0" y="17783"/>
                    <a:pt x="17783" y="0"/>
                    <a:pt x="39719" y="0"/>
                  </a:cubicBezTo>
                  <a:cubicBezTo>
                    <a:pt x="61656" y="0"/>
                    <a:pt x="79439" y="17783"/>
                    <a:pt x="79439" y="39719"/>
                  </a:cubicBezTo>
                  <a:close/>
                </a:path>
              </a:pathLst>
            </a:custGeom>
            <a:grpFill/>
            <a:ln w="9525" cap="flat">
              <a:noFill/>
              <a:prstDash val="solid"/>
              <a:miter/>
            </a:ln>
          </p:spPr>
          <p:txBody>
            <a:bodyPr rtlCol="0" anchor="ctr"/>
            <a:lstStyle/>
            <a:p>
              <a:endParaRPr lang="zh-CN" altLang="en-US"/>
            </a:p>
          </p:txBody>
        </p:sp>
        <p:sp>
          <p:nvSpPr>
            <p:cNvPr id="78" name="任意多边形: 形状 77"/>
            <p:cNvSpPr/>
            <p:nvPr/>
          </p:nvSpPr>
          <p:spPr>
            <a:xfrm>
              <a:off x="6295834" y="3282696"/>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79" name="任意多边形: 形状 78"/>
            <p:cNvSpPr/>
            <p:nvPr/>
          </p:nvSpPr>
          <p:spPr>
            <a:xfrm>
              <a:off x="6419850" y="3291363"/>
              <a:ext cx="46767" cy="46672"/>
            </a:xfrm>
            <a:custGeom>
              <a:avLst/>
              <a:gdLst>
                <a:gd name="connsiteX0" fmla="*/ 23431 w 46767"/>
                <a:gd name="connsiteY0" fmla="*/ 46673 h 46672"/>
                <a:gd name="connsiteX1" fmla="*/ 46768 w 46767"/>
                <a:gd name="connsiteY1" fmla="*/ 23336 h 46672"/>
                <a:gd name="connsiteX2" fmla="*/ 23431 w 46767"/>
                <a:gd name="connsiteY2" fmla="*/ 0 h 46672"/>
                <a:gd name="connsiteX3" fmla="*/ 0 w 46767"/>
                <a:gd name="connsiteY3" fmla="*/ 23336 h 46672"/>
                <a:gd name="connsiteX4" fmla="*/ 23431 w 46767"/>
                <a:gd name="connsiteY4" fmla="*/ 46673 h 4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67" h="46672">
                  <a:moveTo>
                    <a:pt x="23431" y="46673"/>
                  </a:moveTo>
                  <a:cubicBezTo>
                    <a:pt x="36290" y="46673"/>
                    <a:pt x="46768" y="36195"/>
                    <a:pt x="46768" y="23336"/>
                  </a:cubicBezTo>
                  <a:cubicBezTo>
                    <a:pt x="46768" y="10478"/>
                    <a:pt x="36290" y="0"/>
                    <a:pt x="23431" y="0"/>
                  </a:cubicBezTo>
                  <a:cubicBezTo>
                    <a:pt x="10573" y="0"/>
                    <a:pt x="0" y="10382"/>
                    <a:pt x="0" y="23336"/>
                  </a:cubicBezTo>
                  <a:cubicBezTo>
                    <a:pt x="0" y="36195"/>
                    <a:pt x="10477" y="46673"/>
                    <a:pt x="23431" y="46673"/>
                  </a:cubicBezTo>
                  <a:close/>
                </a:path>
              </a:pathLst>
            </a:custGeom>
            <a:grpFill/>
            <a:ln w="9525" cap="flat">
              <a:noFill/>
              <a:prstDash val="solid"/>
              <a:miter/>
            </a:ln>
          </p:spPr>
          <p:txBody>
            <a:bodyPr rtlCol="0" anchor="ctr"/>
            <a:lstStyle/>
            <a:p>
              <a:endParaRPr lang="zh-CN" altLang="en-US"/>
            </a:p>
          </p:txBody>
        </p:sp>
        <p:sp>
          <p:nvSpPr>
            <p:cNvPr id="80" name="任意多边形: 形状 79"/>
            <p:cNvSpPr/>
            <p:nvPr/>
          </p:nvSpPr>
          <p:spPr>
            <a:xfrm>
              <a:off x="6544532" y="3300603"/>
              <a:ext cx="28194" cy="28193"/>
            </a:xfrm>
            <a:custGeom>
              <a:avLst/>
              <a:gdLst>
                <a:gd name="connsiteX0" fmla="*/ 28194 w 28194"/>
                <a:gd name="connsiteY0" fmla="*/ 14097 h 28193"/>
                <a:gd name="connsiteX1" fmla="*/ 14097 w 28194"/>
                <a:gd name="connsiteY1" fmla="*/ 28194 h 28193"/>
                <a:gd name="connsiteX2" fmla="*/ 0 w 28194"/>
                <a:gd name="connsiteY2" fmla="*/ 14097 h 28193"/>
                <a:gd name="connsiteX3" fmla="*/ 14097 w 28194"/>
                <a:gd name="connsiteY3" fmla="*/ 0 h 28193"/>
                <a:gd name="connsiteX4" fmla="*/ 28194 w 28194"/>
                <a:gd name="connsiteY4" fmla="*/ 14097 h 28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4" h="28193">
                  <a:moveTo>
                    <a:pt x="28194" y="14097"/>
                  </a:moveTo>
                  <a:cubicBezTo>
                    <a:pt x="28194" y="21883"/>
                    <a:pt x="21883" y="28194"/>
                    <a:pt x="14097" y="28194"/>
                  </a:cubicBezTo>
                  <a:cubicBezTo>
                    <a:pt x="6311" y="28194"/>
                    <a:pt x="0" y="21883"/>
                    <a:pt x="0" y="14097"/>
                  </a:cubicBezTo>
                  <a:cubicBezTo>
                    <a:pt x="0" y="6311"/>
                    <a:pt x="6311" y="0"/>
                    <a:pt x="14097" y="0"/>
                  </a:cubicBezTo>
                  <a:cubicBezTo>
                    <a:pt x="21883" y="0"/>
                    <a:pt x="28194" y="6311"/>
                    <a:pt x="28194" y="14097"/>
                  </a:cubicBezTo>
                  <a:close/>
                </a:path>
              </a:pathLst>
            </a:custGeom>
            <a:grpFill/>
            <a:ln w="9525" cap="flat">
              <a:noFill/>
              <a:prstDash val="solid"/>
              <a:miter/>
            </a:ln>
          </p:spPr>
          <p:txBody>
            <a:bodyPr rtlCol="0" anchor="ctr"/>
            <a:lstStyle/>
            <a:p>
              <a:endParaRPr lang="zh-CN" altLang="en-US"/>
            </a:p>
          </p:txBody>
        </p:sp>
        <p:sp>
          <p:nvSpPr>
            <p:cNvPr id="81" name="任意多边形: 形状 80"/>
            <p:cNvSpPr/>
            <p:nvPr/>
          </p:nvSpPr>
          <p:spPr>
            <a:xfrm>
              <a:off x="6669309" y="3309937"/>
              <a:ext cx="9525" cy="9525"/>
            </a:xfrm>
            <a:custGeom>
              <a:avLst/>
              <a:gdLst>
                <a:gd name="connsiteX0" fmla="*/ 9525 w 9525"/>
                <a:gd name="connsiteY0" fmla="*/ 4763 h 9525"/>
                <a:gd name="connsiteX1" fmla="*/ 4763 w 9525"/>
                <a:gd name="connsiteY1" fmla="*/ 9525 h 9525"/>
                <a:gd name="connsiteX2" fmla="*/ 0 w 9525"/>
                <a:gd name="connsiteY2" fmla="*/ 4763 h 9525"/>
                <a:gd name="connsiteX3" fmla="*/ 4763 w 9525"/>
                <a:gd name="connsiteY3" fmla="*/ 0 h 9525"/>
                <a:gd name="connsiteX4" fmla="*/ 9525 w 9525"/>
                <a:gd name="connsiteY4" fmla="*/ 4763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 h="9525">
                  <a:moveTo>
                    <a:pt x="9525" y="4763"/>
                  </a:moveTo>
                  <a:cubicBezTo>
                    <a:pt x="9525" y="7393"/>
                    <a:pt x="7393" y="9525"/>
                    <a:pt x="4763" y="9525"/>
                  </a:cubicBezTo>
                  <a:cubicBezTo>
                    <a:pt x="2132" y="9525"/>
                    <a:pt x="0" y="7393"/>
                    <a:pt x="0" y="4763"/>
                  </a:cubicBezTo>
                  <a:cubicBezTo>
                    <a:pt x="0" y="2132"/>
                    <a:pt x="2132" y="0"/>
                    <a:pt x="4763" y="0"/>
                  </a:cubicBezTo>
                  <a:cubicBezTo>
                    <a:pt x="7393" y="0"/>
                    <a:pt x="9525" y="2132"/>
                    <a:pt x="9525" y="4763"/>
                  </a:cubicBezTo>
                  <a:close/>
                </a:path>
              </a:pathLst>
            </a:custGeom>
            <a:grpFill/>
            <a:ln w="9525" cap="flat">
              <a:noFill/>
              <a:prstDash val="solid"/>
              <a:miter/>
            </a:ln>
          </p:spPr>
          <p:txBody>
            <a:bodyPr rtlCol="0" anchor="ctr"/>
            <a:lstStyle/>
            <a:p>
              <a:endParaRPr lang="zh-CN" altLang="en-US"/>
            </a:p>
          </p:txBody>
        </p:sp>
        <p:sp>
          <p:nvSpPr>
            <p:cNvPr id="82" name="任意多边形: 形状 81"/>
            <p:cNvSpPr/>
            <p:nvPr/>
          </p:nvSpPr>
          <p:spPr>
            <a:xfrm>
              <a:off x="5514975" y="3424904"/>
              <a:ext cx="10287" cy="10286"/>
            </a:xfrm>
            <a:custGeom>
              <a:avLst/>
              <a:gdLst>
                <a:gd name="connsiteX0" fmla="*/ 10287 w 10287"/>
                <a:gd name="connsiteY0" fmla="*/ 5144 h 10286"/>
                <a:gd name="connsiteX1" fmla="*/ 5144 w 10287"/>
                <a:gd name="connsiteY1" fmla="*/ 10287 h 10286"/>
                <a:gd name="connsiteX2" fmla="*/ 0 w 10287"/>
                <a:gd name="connsiteY2" fmla="*/ 5144 h 10286"/>
                <a:gd name="connsiteX3" fmla="*/ 5144 w 10287"/>
                <a:gd name="connsiteY3" fmla="*/ 0 h 10286"/>
                <a:gd name="connsiteX4" fmla="*/ 10287 w 10287"/>
                <a:gd name="connsiteY4" fmla="*/ 5144 h 10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6">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83" name="任意多边形: 形状 82"/>
            <p:cNvSpPr/>
            <p:nvPr/>
          </p:nvSpPr>
          <p:spPr>
            <a:xfrm>
              <a:off x="5620702" y="3415284"/>
              <a:ext cx="29527" cy="29527"/>
            </a:xfrm>
            <a:custGeom>
              <a:avLst/>
              <a:gdLst>
                <a:gd name="connsiteX0" fmla="*/ 14764 w 29527"/>
                <a:gd name="connsiteY0" fmla="*/ 29527 h 29527"/>
                <a:gd name="connsiteX1" fmla="*/ 29527 w 29527"/>
                <a:gd name="connsiteY1" fmla="*/ 14764 h 29527"/>
                <a:gd name="connsiteX2" fmla="*/ 14764 w 29527"/>
                <a:gd name="connsiteY2" fmla="*/ 0 h 29527"/>
                <a:gd name="connsiteX3" fmla="*/ 0 w 29527"/>
                <a:gd name="connsiteY3" fmla="*/ 14764 h 29527"/>
                <a:gd name="connsiteX4" fmla="*/ 14764 w 29527"/>
                <a:gd name="connsiteY4" fmla="*/ 29527 h 2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7" h="29527">
                  <a:moveTo>
                    <a:pt x="14764" y="29527"/>
                  </a:moveTo>
                  <a:cubicBezTo>
                    <a:pt x="22860" y="29527"/>
                    <a:pt x="29527" y="22955"/>
                    <a:pt x="29527" y="14764"/>
                  </a:cubicBezTo>
                  <a:cubicBezTo>
                    <a:pt x="29527" y="6667"/>
                    <a:pt x="22955" y="0"/>
                    <a:pt x="14764" y="0"/>
                  </a:cubicBezTo>
                  <a:cubicBezTo>
                    <a:pt x="6667" y="0"/>
                    <a:pt x="0" y="6572"/>
                    <a:pt x="0" y="14764"/>
                  </a:cubicBezTo>
                  <a:cubicBezTo>
                    <a:pt x="95" y="22955"/>
                    <a:pt x="6667" y="29527"/>
                    <a:pt x="14764" y="29527"/>
                  </a:cubicBezTo>
                  <a:close/>
                </a:path>
              </a:pathLst>
            </a:custGeom>
            <a:grpFill/>
            <a:ln w="9525" cap="flat">
              <a:noFill/>
              <a:prstDash val="solid"/>
              <a:miter/>
            </a:ln>
          </p:spPr>
          <p:txBody>
            <a:bodyPr rtlCol="0" anchor="ctr"/>
            <a:lstStyle/>
            <a:p>
              <a:endParaRPr lang="zh-CN" altLang="en-US"/>
            </a:p>
          </p:txBody>
        </p:sp>
        <p:sp>
          <p:nvSpPr>
            <p:cNvPr id="84" name="任意多边形: 形状 83"/>
            <p:cNvSpPr/>
            <p:nvPr/>
          </p:nvSpPr>
          <p:spPr>
            <a:xfrm>
              <a:off x="5726619" y="3405854"/>
              <a:ext cx="48578" cy="48577"/>
            </a:xfrm>
            <a:custGeom>
              <a:avLst/>
              <a:gdLst>
                <a:gd name="connsiteX0" fmla="*/ 24289 w 48578"/>
                <a:gd name="connsiteY0" fmla="*/ 48577 h 48577"/>
                <a:gd name="connsiteX1" fmla="*/ 48578 w 48578"/>
                <a:gd name="connsiteY1" fmla="*/ 24289 h 48577"/>
                <a:gd name="connsiteX2" fmla="*/ 24289 w 48578"/>
                <a:gd name="connsiteY2" fmla="*/ 0 h 48577"/>
                <a:gd name="connsiteX3" fmla="*/ 1 w 48578"/>
                <a:gd name="connsiteY3" fmla="*/ 24289 h 48577"/>
                <a:gd name="connsiteX4" fmla="*/ 24289 w 48578"/>
                <a:gd name="connsiteY4" fmla="*/ 48577 h 4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78" h="48577">
                  <a:moveTo>
                    <a:pt x="24289" y="48577"/>
                  </a:moveTo>
                  <a:cubicBezTo>
                    <a:pt x="37720" y="48577"/>
                    <a:pt x="48578" y="37719"/>
                    <a:pt x="48578" y="24289"/>
                  </a:cubicBezTo>
                  <a:cubicBezTo>
                    <a:pt x="48578" y="10858"/>
                    <a:pt x="37720" y="0"/>
                    <a:pt x="24289" y="0"/>
                  </a:cubicBezTo>
                  <a:cubicBezTo>
                    <a:pt x="10859" y="0"/>
                    <a:pt x="1" y="10858"/>
                    <a:pt x="1" y="24289"/>
                  </a:cubicBezTo>
                  <a:cubicBezTo>
                    <a:pt x="-95" y="37624"/>
                    <a:pt x="10859" y="48577"/>
                    <a:pt x="24289" y="48577"/>
                  </a:cubicBezTo>
                  <a:close/>
                </a:path>
              </a:pathLst>
            </a:custGeom>
            <a:grpFill/>
            <a:ln w="9525" cap="flat">
              <a:noFill/>
              <a:prstDash val="solid"/>
              <a:miter/>
            </a:ln>
          </p:spPr>
          <p:txBody>
            <a:bodyPr rtlCol="0" anchor="ctr"/>
            <a:lstStyle/>
            <a:p>
              <a:endParaRPr lang="zh-CN" altLang="en-US"/>
            </a:p>
          </p:txBody>
        </p:sp>
        <p:sp>
          <p:nvSpPr>
            <p:cNvPr id="85" name="任意多边形: 形状 84"/>
            <p:cNvSpPr/>
            <p:nvPr/>
          </p:nvSpPr>
          <p:spPr>
            <a:xfrm>
              <a:off x="5832347" y="3396138"/>
              <a:ext cx="67817" cy="67817"/>
            </a:xfrm>
            <a:custGeom>
              <a:avLst/>
              <a:gdLst>
                <a:gd name="connsiteX0" fmla="*/ 33909 w 67817"/>
                <a:gd name="connsiteY0" fmla="*/ 67818 h 67817"/>
                <a:gd name="connsiteX1" fmla="*/ 67818 w 67817"/>
                <a:gd name="connsiteY1" fmla="*/ 33909 h 67817"/>
                <a:gd name="connsiteX2" fmla="*/ 33909 w 67817"/>
                <a:gd name="connsiteY2" fmla="*/ 0 h 67817"/>
                <a:gd name="connsiteX3" fmla="*/ 0 w 67817"/>
                <a:gd name="connsiteY3" fmla="*/ 33909 h 67817"/>
                <a:gd name="connsiteX4" fmla="*/ 33909 w 67817"/>
                <a:gd name="connsiteY4" fmla="*/ 67818 h 67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67817">
                  <a:moveTo>
                    <a:pt x="33909" y="67818"/>
                  </a:moveTo>
                  <a:cubicBezTo>
                    <a:pt x="52673" y="67818"/>
                    <a:pt x="67818" y="52673"/>
                    <a:pt x="67818" y="33909"/>
                  </a:cubicBezTo>
                  <a:cubicBezTo>
                    <a:pt x="67818" y="15145"/>
                    <a:pt x="52673" y="0"/>
                    <a:pt x="33909" y="0"/>
                  </a:cubicBezTo>
                  <a:cubicBezTo>
                    <a:pt x="15145" y="0"/>
                    <a:pt x="0" y="15145"/>
                    <a:pt x="0" y="33909"/>
                  </a:cubicBezTo>
                  <a:cubicBezTo>
                    <a:pt x="0" y="52673"/>
                    <a:pt x="15240" y="67818"/>
                    <a:pt x="33909" y="67818"/>
                  </a:cubicBezTo>
                  <a:close/>
                </a:path>
              </a:pathLst>
            </a:custGeom>
            <a:grpFill/>
            <a:ln w="9525" cap="flat">
              <a:noFill/>
              <a:prstDash val="solid"/>
              <a:miter/>
            </a:ln>
          </p:spPr>
          <p:txBody>
            <a:bodyPr rtlCol="0" anchor="ctr"/>
            <a:lstStyle/>
            <a:p>
              <a:endParaRPr lang="zh-CN" altLang="en-US"/>
            </a:p>
          </p:txBody>
        </p:sp>
        <p:sp>
          <p:nvSpPr>
            <p:cNvPr id="86" name="任意多边形: 形状 85"/>
            <p:cNvSpPr/>
            <p:nvPr/>
          </p:nvSpPr>
          <p:spPr>
            <a:xfrm>
              <a:off x="5938456" y="3386804"/>
              <a:ext cx="86486" cy="86487"/>
            </a:xfrm>
            <a:custGeom>
              <a:avLst/>
              <a:gdLst>
                <a:gd name="connsiteX0" fmla="*/ 86487 w 86486"/>
                <a:gd name="connsiteY0" fmla="*/ 43244 h 86487"/>
                <a:gd name="connsiteX1" fmla="*/ 43244 w 86486"/>
                <a:gd name="connsiteY1" fmla="*/ 86487 h 86487"/>
                <a:gd name="connsiteX2" fmla="*/ 0 w 86486"/>
                <a:gd name="connsiteY2" fmla="*/ 43244 h 86487"/>
                <a:gd name="connsiteX3" fmla="*/ 43244 w 86486"/>
                <a:gd name="connsiteY3" fmla="*/ 0 h 86487"/>
                <a:gd name="connsiteX4" fmla="*/ 86487 w 86486"/>
                <a:gd name="connsiteY4" fmla="*/ 43244 h 86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86" h="86487">
                  <a:moveTo>
                    <a:pt x="86487" y="43244"/>
                  </a:moveTo>
                  <a:cubicBezTo>
                    <a:pt x="86487" y="67126"/>
                    <a:pt x="67126" y="86487"/>
                    <a:pt x="43244" y="86487"/>
                  </a:cubicBezTo>
                  <a:cubicBezTo>
                    <a:pt x="19361" y="86487"/>
                    <a:pt x="0" y="67126"/>
                    <a:pt x="0" y="43244"/>
                  </a:cubicBezTo>
                  <a:cubicBezTo>
                    <a:pt x="0" y="19361"/>
                    <a:pt x="19361" y="0"/>
                    <a:pt x="43244" y="0"/>
                  </a:cubicBezTo>
                  <a:cubicBezTo>
                    <a:pt x="67126" y="0"/>
                    <a:pt x="86487" y="19361"/>
                    <a:pt x="86487" y="43244"/>
                  </a:cubicBezTo>
                  <a:close/>
                </a:path>
              </a:pathLst>
            </a:custGeom>
            <a:grpFill/>
            <a:ln w="9525" cap="flat">
              <a:noFill/>
              <a:prstDash val="solid"/>
              <a:miter/>
            </a:ln>
          </p:spPr>
          <p:txBody>
            <a:bodyPr rtlCol="0" anchor="ctr"/>
            <a:lstStyle/>
            <a:p>
              <a:endParaRPr lang="zh-CN" altLang="en-US"/>
            </a:p>
          </p:txBody>
        </p:sp>
        <p:sp>
          <p:nvSpPr>
            <p:cNvPr id="87" name="任意多边形: 形状 86"/>
            <p:cNvSpPr/>
            <p:nvPr/>
          </p:nvSpPr>
          <p:spPr>
            <a:xfrm>
              <a:off x="6047136" y="3380136"/>
              <a:ext cx="99821" cy="99821"/>
            </a:xfrm>
            <a:custGeom>
              <a:avLst/>
              <a:gdLst>
                <a:gd name="connsiteX0" fmla="*/ 99822 w 99821"/>
                <a:gd name="connsiteY0" fmla="*/ 49911 h 99821"/>
                <a:gd name="connsiteX1" fmla="*/ 49911 w 99821"/>
                <a:gd name="connsiteY1" fmla="*/ 99822 h 99821"/>
                <a:gd name="connsiteX2" fmla="*/ 0 w 99821"/>
                <a:gd name="connsiteY2" fmla="*/ 49911 h 99821"/>
                <a:gd name="connsiteX3" fmla="*/ 49911 w 99821"/>
                <a:gd name="connsiteY3" fmla="*/ 0 h 99821"/>
                <a:gd name="connsiteX4" fmla="*/ 99822 w 99821"/>
                <a:gd name="connsiteY4" fmla="*/ 49911 h 99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1" h="99821">
                  <a:moveTo>
                    <a:pt x="99822" y="49911"/>
                  </a:moveTo>
                  <a:cubicBezTo>
                    <a:pt x="99822" y="77476"/>
                    <a:pt x="77476" y="99822"/>
                    <a:pt x="49911" y="99822"/>
                  </a:cubicBezTo>
                  <a:cubicBezTo>
                    <a:pt x="22346" y="99822"/>
                    <a:pt x="0" y="77476"/>
                    <a:pt x="0" y="49911"/>
                  </a:cubicBezTo>
                  <a:cubicBezTo>
                    <a:pt x="0" y="22346"/>
                    <a:pt x="22346" y="0"/>
                    <a:pt x="49911" y="0"/>
                  </a:cubicBezTo>
                  <a:cubicBezTo>
                    <a:pt x="77476" y="0"/>
                    <a:pt x="99822" y="22346"/>
                    <a:pt x="99822" y="49911"/>
                  </a:cubicBezTo>
                  <a:close/>
                </a:path>
              </a:pathLst>
            </a:custGeom>
            <a:grpFill/>
            <a:ln w="9525" cap="flat">
              <a:noFill/>
              <a:prstDash val="solid"/>
              <a:miter/>
            </a:ln>
          </p:spPr>
          <p:txBody>
            <a:bodyPr rtlCol="0" anchor="ctr"/>
            <a:lstStyle/>
            <a:p>
              <a:endParaRPr lang="zh-CN" altLang="en-US"/>
            </a:p>
          </p:txBody>
        </p:sp>
        <p:sp>
          <p:nvSpPr>
            <p:cNvPr id="88" name="任意多边形: 形状 87"/>
            <p:cNvSpPr/>
            <p:nvPr/>
          </p:nvSpPr>
          <p:spPr>
            <a:xfrm>
              <a:off x="6168675" y="3386232"/>
              <a:ext cx="87629" cy="87629"/>
            </a:xfrm>
            <a:custGeom>
              <a:avLst/>
              <a:gdLst>
                <a:gd name="connsiteX0" fmla="*/ 87630 w 87629"/>
                <a:gd name="connsiteY0" fmla="*/ 43815 h 87629"/>
                <a:gd name="connsiteX1" fmla="*/ 43815 w 87629"/>
                <a:gd name="connsiteY1" fmla="*/ 87630 h 87629"/>
                <a:gd name="connsiteX2" fmla="*/ 0 w 87629"/>
                <a:gd name="connsiteY2" fmla="*/ 43815 h 87629"/>
                <a:gd name="connsiteX3" fmla="*/ 43815 w 87629"/>
                <a:gd name="connsiteY3" fmla="*/ 0 h 87629"/>
                <a:gd name="connsiteX4" fmla="*/ 87630 w 87629"/>
                <a:gd name="connsiteY4" fmla="*/ 43815 h 8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29" h="87629">
                  <a:moveTo>
                    <a:pt x="87630" y="43815"/>
                  </a:moveTo>
                  <a:cubicBezTo>
                    <a:pt x="87630" y="68013"/>
                    <a:pt x="68013" y="87630"/>
                    <a:pt x="43815" y="87630"/>
                  </a:cubicBezTo>
                  <a:cubicBezTo>
                    <a:pt x="19617" y="87630"/>
                    <a:pt x="0" y="68013"/>
                    <a:pt x="0" y="43815"/>
                  </a:cubicBezTo>
                  <a:cubicBezTo>
                    <a:pt x="0" y="19617"/>
                    <a:pt x="19617" y="0"/>
                    <a:pt x="43815" y="0"/>
                  </a:cubicBezTo>
                  <a:cubicBezTo>
                    <a:pt x="68013" y="0"/>
                    <a:pt x="87630" y="19617"/>
                    <a:pt x="87630" y="43815"/>
                  </a:cubicBezTo>
                  <a:close/>
                </a:path>
              </a:pathLst>
            </a:custGeom>
            <a:grpFill/>
            <a:ln w="9525" cap="flat">
              <a:noFill/>
              <a:prstDash val="solid"/>
              <a:miter/>
            </a:ln>
          </p:spPr>
          <p:txBody>
            <a:bodyPr rtlCol="0" anchor="ctr"/>
            <a:lstStyle/>
            <a:p>
              <a:endParaRPr lang="zh-CN" altLang="en-US"/>
            </a:p>
          </p:txBody>
        </p:sp>
        <p:sp>
          <p:nvSpPr>
            <p:cNvPr id="89" name="任意多边形: 形状 88"/>
            <p:cNvSpPr/>
            <p:nvPr/>
          </p:nvSpPr>
          <p:spPr>
            <a:xfrm>
              <a:off x="6293262" y="3395471"/>
              <a:ext cx="69151" cy="69151"/>
            </a:xfrm>
            <a:custGeom>
              <a:avLst/>
              <a:gdLst>
                <a:gd name="connsiteX0" fmla="*/ 34576 w 69151"/>
                <a:gd name="connsiteY0" fmla="*/ 69151 h 69151"/>
                <a:gd name="connsiteX1" fmla="*/ 69152 w 69151"/>
                <a:gd name="connsiteY1" fmla="*/ 34576 h 69151"/>
                <a:gd name="connsiteX2" fmla="*/ 34576 w 69151"/>
                <a:gd name="connsiteY2" fmla="*/ 0 h 69151"/>
                <a:gd name="connsiteX3" fmla="*/ 0 w 69151"/>
                <a:gd name="connsiteY3" fmla="*/ 34576 h 69151"/>
                <a:gd name="connsiteX4" fmla="*/ 34576 w 69151"/>
                <a:gd name="connsiteY4" fmla="*/ 69151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69151"/>
                  </a:moveTo>
                  <a:cubicBezTo>
                    <a:pt x="53626" y="69151"/>
                    <a:pt x="69152" y="53721"/>
                    <a:pt x="69152" y="34576"/>
                  </a:cubicBezTo>
                  <a:cubicBezTo>
                    <a:pt x="69152" y="15526"/>
                    <a:pt x="53721" y="0"/>
                    <a:pt x="34576" y="0"/>
                  </a:cubicBezTo>
                  <a:cubicBezTo>
                    <a:pt x="15526" y="0"/>
                    <a:pt x="0" y="15430"/>
                    <a:pt x="0" y="34576"/>
                  </a:cubicBezTo>
                  <a:cubicBezTo>
                    <a:pt x="0" y="53721"/>
                    <a:pt x="15526" y="69151"/>
                    <a:pt x="34576" y="69151"/>
                  </a:cubicBezTo>
                  <a:close/>
                </a:path>
              </a:pathLst>
            </a:custGeom>
            <a:grpFill/>
            <a:ln w="9525" cap="flat">
              <a:noFill/>
              <a:prstDash val="solid"/>
              <a:miter/>
            </a:ln>
          </p:spPr>
          <p:txBody>
            <a:bodyPr rtlCol="0" anchor="ctr"/>
            <a:lstStyle/>
            <a:p>
              <a:endParaRPr lang="zh-CN" altLang="en-US"/>
            </a:p>
          </p:txBody>
        </p:sp>
        <p:sp>
          <p:nvSpPr>
            <p:cNvPr id="90" name="任意多边形: 形状 89"/>
            <p:cNvSpPr/>
            <p:nvPr/>
          </p:nvSpPr>
          <p:spPr>
            <a:xfrm>
              <a:off x="6418325" y="3405092"/>
              <a:ext cx="49911" cy="49910"/>
            </a:xfrm>
            <a:custGeom>
              <a:avLst/>
              <a:gdLst>
                <a:gd name="connsiteX0" fmla="*/ 24956 w 49911"/>
                <a:gd name="connsiteY0" fmla="*/ 49911 h 49910"/>
                <a:gd name="connsiteX1" fmla="*/ 49911 w 49911"/>
                <a:gd name="connsiteY1" fmla="*/ 24955 h 49910"/>
                <a:gd name="connsiteX2" fmla="*/ 24956 w 49911"/>
                <a:gd name="connsiteY2" fmla="*/ 0 h 49910"/>
                <a:gd name="connsiteX3" fmla="*/ 0 w 49911"/>
                <a:gd name="connsiteY3" fmla="*/ 24955 h 49910"/>
                <a:gd name="connsiteX4" fmla="*/ 24956 w 49911"/>
                <a:gd name="connsiteY4" fmla="*/ 49911 h 49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11" h="49910">
                  <a:moveTo>
                    <a:pt x="24956" y="49911"/>
                  </a:moveTo>
                  <a:cubicBezTo>
                    <a:pt x="38767" y="49911"/>
                    <a:pt x="49911" y="38767"/>
                    <a:pt x="49911" y="24955"/>
                  </a:cubicBezTo>
                  <a:cubicBezTo>
                    <a:pt x="49911" y="11144"/>
                    <a:pt x="38767" y="0"/>
                    <a:pt x="24956" y="0"/>
                  </a:cubicBezTo>
                  <a:cubicBezTo>
                    <a:pt x="11144" y="0"/>
                    <a:pt x="0" y="11144"/>
                    <a:pt x="0" y="24955"/>
                  </a:cubicBezTo>
                  <a:cubicBezTo>
                    <a:pt x="0" y="38767"/>
                    <a:pt x="11144" y="49911"/>
                    <a:pt x="24956" y="49911"/>
                  </a:cubicBezTo>
                  <a:close/>
                </a:path>
              </a:pathLst>
            </a:custGeom>
            <a:grpFill/>
            <a:ln w="9525" cap="flat">
              <a:noFill/>
              <a:prstDash val="solid"/>
              <a:miter/>
            </a:ln>
          </p:spPr>
          <p:txBody>
            <a:bodyPr rtlCol="0" anchor="ctr"/>
            <a:lstStyle/>
            <a:p>
              <a:endParaRPr lang="zh-CN" altLang="en-US"/>
            </a:p>
          </p:txBody>
        </p:sp>
        <p:sp>
          <p:nvSpPr>
            <p:cNvPr id="91" name="任意多边形: 形状 90"/>
            <p:cNvSpPr/>
            <p:nvPr/>
          </p:nvSpPr>
          <p:spPr>
            <a:xfrm>
              <a:off x="6543293" y="3414712"/>
              <a:ext cx="30670" cy="30670"/>
            </a:xfrm>
            <a:custGeom>
              <a:avLst/>
              <a:gdLst>
                <a:gd name="connsiteX0" fmla="*/ 15335 w 30670"/>
                <a:gd name="connsiteY0" fmla="*/ 30671 h 30670"/>
                <a:gd name="connsiteX1" fmla="*/ 30671 w 30670"/>
                <a:gd name="connsiteY1" fmla="*/ 15335 h 30670"/>
                <a:gd name="connsiteX2" fmla="*/ 15335 w 30670"/>
                <a:gd name="connsiteY2" fmla="*/ 0 h 30670"/>
                <a:gd name="connsiteX3" fmla="*/ 0 w 30670"/>
                <a:gd name="connsiteY3" fmla="*/ 15335 h 30670"/>
                <a:gd name="connsiteX4" fmla="*/ 15335 w 30670"/>
                <a:gd name="connsiteY4" fmla="*/ 30671 h 30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0" h="30670">
                  <a:moveTo>
                    <a:pt x="15335" y="30671"/>
                  </a:moveTo>
                  <a:cubicBezTo>
                    <a:pt x="23813" y="30671"/>
                    <a:pt x="30671" y="23813"/>
                    <a:pt x="30671" y="15335"/>
                  </a:cubicBezTo>
                  <a:cubicBezTo>
                    <a:pt x="30671" y="6858"/>
                    <a:pt x="23813" y="0"/>
                    <a:pt x="15335" y="0"/>
                  </a:cubicBezTo>
                  <a:cubicBezTo>
                    <a:pt x="6858" y="0"/>
                    <a:pt x="0" y="6858"/>
                    <a:pt x="0" y="15335"/>
                  </a:cubicBezTo>
                  <a:cubicBezTo>
                    <a:pt x="0" y="23813"/>
                    <a:pt x="6858" y="30671"/>
                    <a:pt x="15335" y="30671"/>
                  </a:cubicBezTo>
                  <a:close/>
                </a:path>
              </a:pathLst>
            </a:custGeom>
            <a:grpFill/>
            <a:ln w="9525" cap="flat">
              <a:noFill/>
              <a:prstDash val="solid"/>
              <a:miter/>
            </a:ln>
          </p:spPr>
          <p:txBody>
            <a:bodyPr rtlCol="0" anchor="ctr"/>
            <a:lstStyle/>
            <a:p>
              <a:endParaRPr lang="zh-CN" altLang="en-US"/>
            </a:p>
          </p:txBody>
        </p:sp>
        <p:sp>
          <p:nvSpPr>
            <p:cNvPr id="92" name="任意多边形: 形状 91"/>
            <p:cNvSpPr/>
            <p:nvPr/>
          </p:nvSpPr>
          <p:spPr>
            <a:xfrm>
              <a:off x="6668357" y="3424332"/>
              <a:ext cx="11429" cy="11430"/>
            </a:xfrm>
            <a:custGeom>
              <a:avLst/>
              <a:gdLst>
                <a:gd name="connsiteX0" fmla="*/ 11430 w 11429"/>
                <a:gd name="connsiteY0" fmla="*/ 5715 h 11430"/>
                <a:gd name="connsiteX1" fmla="*/ 5715 w 11429"/>
                <a:gd name="connsiteY1" fmla="*/ 11430 h 11430"/>
                <a:gd name="connsiteX2" fmla="*/ 0 w 11429"/>
                <a:gd name="connsiteY2" fmla="*/ 5715 h 11430"/>
                <a:gd name="connsiteX3" fmla="*/ 5715 w 11429"/>
                <a:gd name="connsiteY3" fmla="*/ 0 h 11430"/>
                <a:gd name="connsiteX4" fmla="*/ 11430 w 11429"/>
                <a:gd name="connsiteY4" fmla="*/ 5715 h 11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9" h="11430">
                  <a:moveTo>
                    <a:pt x="11430" y="5715"/>
                  </a:moveTo>
                  <a:cubicBezTo>
                    <a:pt x="11430" y="8871"/>
                    <a:pt x="8871" y="11430"/>
                    <a:pt x="5715" y="11430"/>
                  </a:cubicBezTo>
                  <a:cubicBezTo>
                    <a:pt x="2559" y="11430"/>
                    <a:pt x="0" y="8871"/>
                    <a:pt x="0" y="5715"/>
                  </a:cubicBezTo>
                  <a:cubicBezTo>
                    <a:pt x="0" y="2559"/>
                    <a:pt x="2559" y="0"/>
                    <a:pt x="5715" y="0"/>
                  </a:cubicBezTo>
                  <a:cubicBezTo>
                    <a:pt x="8871" y="0"/>
                    <a:pt x="11430" y="2559"/>
                    <a:pt x="11430" y="5715"/>
                  </a:cubicBezTo>
                  <a:close/>
                </a:path>
              </a:pathLst>
            </a:custGeom>
            <a:grpFill/>
            <a:ln w="9525" cap="flat">
              <a:noFill/>
              <a:prstDash val="solid"/>
              <a:miter/>
            </a:ln>
          </p:spPr>
          <p:txBody>
            <a:bodyPr rtlCol="0" anchor="ctr"/>
            <a:lstStyle/>
            <a:p>
              <a:endParaRPr lang="zh-CN" altLang="en-US"/>
            </a:p>
          </p:txBody>
        </p:sp>
        <p:sp>
          <p:nvSpPr>
            <p:cNvPr id="93" name="任意多边形: 形状 92"/>
            <p:cNvSpPr/>
            <p:nvPr/>
          </p:nvSpPr>
          <p:spPr>
            <a:xfrm>
              <a:off x="5515927" y="3541204"/>
              <a:ext cx="8382" cy="8382"/>
            </a:xfrm>
            <a:custGeom>
              <a:avLst/>
              <a:gdLst>
                <a:gd name="connsiteX0" fmla="*/ 4191 w 8382"/>
                <a:gd name="connsiteY0" fmla="*/ 8382 h 8382"/>
                <a:gd name="connsiteX1" fmla="*/ 8382 w 8382"/>
                <a:gd name="connsiteY1" fmla="*/ 4191 h 8382"/>
                <a:gd name="connsiteX2" fmla="*/ 4191 w 8382"/>
                <a:gd name="connsiteY2" fmla="*/ 0 h 8382"/>
                <a:gd name="connsiteX3" fmla="*/ 0 w 8382"/>
                <a:gd name="connsiteY3" fmla="*/ 4191 h 8382"/>
                <a:gd name="connsiteX4" fmla="*/ 4191 w 8382"/>
                <a:gd name="connsiteY4" fmla="*/ 8382 h 8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82" h="8382">
                  <a:moveTo>
                    <a:pt x="4191" y="8382"/>
                  </a:moveTo>
                  <a:cubicBezTo>
                    <a:pt x="6477" y="8382"/>
                    <a:pt x="8382" y="6477"/>
                    <a:pt x="8382" y="4191"/>
                  </a:cubicBezTo>
                  <a:cubicBezTo>
                    <a:pt x="8382" y="1905"/>
                    <a:pt x="6477" y="0"/>
                    <a:pt x="4191" y="0"/>
                  </a:cubicBezTo>
                  <a:cubicBezTo>
                    <a:pt x="1905" y="0"/>
                    <a:pt x="0" y="1905"/>
                    <a:pt x="0" y="4191"/>
                  </a:cubicBezTo>
                  <a:cubicBezTo>
                    <a:pt x="0" y="6477"/>
                    <a:pt x="1905" y="8382"/>
                    <a:pt x="4191" y="8382"/>
                  </a:cubicBezTo>
                  <a:close/>
                </a:path>
              </a:pathLst>
            </a:custGeom>
            <a:grpFill/>
            <a:ln w="9525" cap="flat">
              <a:noFill/>
              <a:prstDash val="solid"/>
              <a:miter/>
            </a:ln>
          </p:spPr>
          <p:txBody>
            <a:bodyPr rtlCol="0" anchor="ctr"/>
            <a:lstStyle/>
            <a:p>
              <a:endParaRPr lang="zh-CN" altLang="en-US"/>
            </a:p>
          </p:txBody>
        </p:sp>
        <p:sp>
          <p:nvSpPr>
            <p:cNvPr id="94" name="任意多边形: 形状 93"/>
            <p:cNvSpPr/>
            <p:nvPr/>
          </p:nvSpPr>
          <p:spPr>
            <a:xfrm>
              <a:off x="5622035" y="3532060"/>
              <a:ext cx="26860" cy="26860"/>
            </a:xfrm>
            <a:custGeom>
              <a:avLst/>
              <a:gdLst>
                <a:gd name="connsiteX0" fmla="*/ 13430 w 26860"/>
                <a:gd name="connsiteY0" fmla="*/ 26860 h 26860"/>
                <a:gd name="connsiteX1" fmla="*/ 26861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1" y="20860"/>
                    <a:pt x="26861" y="13430"/>
                  </a:cubicBezTo>
                  <a:cubicBezTo>
                    <a:pt x="26861"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95" name="任意多边形: 形状 94"/>
            <p:cNvSpPr/>
            <p:nvPr/>
          </p:nvSpPr>
          <p:spPr>
            <a:xfrm>
              <a:off x="5728144" y="3522726"/>
              <a:ext cx="45529" cy="45529"/>
            </a:xfrm>
            <a:custGeom>
              <a:avLst/>
              <a:gdLst>
                <a:gd name="connsiteX0" fmla="*/ 45530 w 45529"/>
                <a:gd name="connsiteY0" fmla="*/ 22765 h 45529"/>
                <a:gd name="connsiteX1" fmla="*/ 22765 w 45529"/>
                <a:gd name="connsiteY1" fmla="*/ 45530 h 45529"/>
                <a:gd name="connsiteX2" fmla="*/ 0 w 45529"/>
                <a:gd name="connsiteY2" fmla="*/ 22765 h 45529"/>
                <a:gd name="connsiteX3" fmla="*/ 22765 w 45529"/>
                <a:gd name="connsiteY3" fmla="*/ 0 h 45529"/>
                <a:gd name="connsiteX4" fmla="*/ 45530 w 45529"/>
                <a:gd name="connsiteY4" fmla="*/ 22765 h 45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29" h="45529">
                  <a:moveTo>
                    <a:pt x="45530" y="22765"/>
                  </a:moveTo>
                  <a:cubicBezTo>
                    <a:pt x="45530" y="35337"/>
                    <a:pt x="35337" y="45530"/>
                    <a:pt x="22765" y="45530"/>
                  </a:cubicBezTo>
                  <a:cubicBezTo>
                    <a:pt x="10192" y="45530"/>
                    <a:pt x="0" y="35337"/>
                    <a:pt x="0" y="22765"/>
                  </a:cubicBezTo>
                  <a:cubicBezTo>
                    <a:pt x="0" y="10192"/>
                    <a:pt x="10192" y="0"/>
                    <a:pt x="22765" y="0"/>
                  </a:cubicBezTo>
                  <a:cubicBezTo>
                    <a:pt x="35337" y="0"/>
                    <a:pt x="45530" y="10192"/>
                    <a:pt x="45530" y="22765"/>
                  </a:cubicBezTo>
                  <a:close/>
                </a:path>
              </a:pathLst>
            </a:custGeom>
            <a:grpFill/>
            <a:ln w="9525" cap="flat">
              <a:noFill/>
              <a:prstDash val="solid"/>
              <a:miter/>
            </a:ln>
          </p:spPr>
          <p:txBody>
            <a:bodyPr rtlCol="0" anchor="ctr"/>
            <a:lstStyle/>
            <a:p>
              <a:endParaRPr lang="zh-CN" altLang="en-US"/>
            </a:p>
          </p:txBody>
        </p:sp>
        <p:sp>
          <p:nvSpPr>
            <p:cNvPr id="96" name="任意多边形: 形状 95"/>
            <p:cNvSpPr/>
            <p:nvPr/>
          </p:nvSpPr>
          <p:spPr>
            <a:xfrm>
              <a:off x="5834253" y="3513486"/>
              <a:ext cx="64007" cy="64007"/>
            </a:xfrm>
            <a:custGeom>
              <a:avLst/>
              <a:gdLst>
                <a:gd name="connsiteX0" fmla="*/ 64008 w 64007"/>
                <a:gd name="connsiteY0" fmla="*/ 32004 h 64007"/>
                <a:gd name="connsiteX1" fmla="*/ 32004 w 64007"/>
                <a:gd name="connsiteY1" fmla="*/ 64008 h 64007"/>
                <a:gd name="connsiteX2" fmla="*/ 0 w 64007"/>
                <a:gd name="connsiteY2" fmla="*/ 32004 h 64007"/>
                <a:gd name="connsiteX3" fmla="*/ 32004 w 64007"/>
                <a:gd name="connsiteY3" fmla="*/ 0 h 64007"/>
                <a:gd name="connsiteX4" fmla="*/ 64008 w 64007"/>
                <a:gd name="connsiteY4" fmla="*/ 32004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7" h="64007">
                  <a:moveTo>
                    <a:pt x="64008" y="32004"/>
                  </a:moveTo>
                  <a:cubicBezTo>
                    <a:pt x="64008" y="49679"/>
                    <a:pt x="49679" y="64008"/>
                    <a:pt x="32004" y="64008"/>
                  </a:cubicBezTo>
                  <a:cubicBezTo>
                    <a:pt x="14329" y="64008"/>
                    <a:pt x="0" y="49679"/>
                    <a:pt x="0" y="32004"/>
                  </a:cubicBezTo>
                  <a:cubicBezTo>
                    <a:pt x="0" y="14329"/>
                    <a:pt x="14329" y="0"/>
                    <a:pt x="32004" y="0"/>
                  </a:cubicBezTo>
                  <a:cubicBezTo>
                    <a:pt x="49679" y="0"/>
                    <a:pt x="64008" y="14329"/>
                    <a:pt x="64008" y="32004"/>
                  </a:cubicBezTo>
                  <a:close/>
                </a:path>
              </a:pathLst>
            </a:custGeom>
            <a:grpFill/>
            <a:ln w="9525" cap="flat">
              <a:noFill/>
              <a:prstDash val="solid"/>
              <a:miter/>
            </a:ln>
          </p:spPr>
          <p:txBody>
            <a:bodyPr rtlCol="0" anchor="ctr"/>
            <a:lstStyle/>
            <a:p>
              <a:endParaRPr lang="zh-CN" altLang="en-US"/>
            </a:p>
          </p:txBody>
        </p:sp>
        <p:sp>
          <p:nvSpPr>
            <p:cNvPr id="97" name="任意多边形: 形状 96"/>
            <p:cNvSpPr/>
            <p:nvPr/>
          </p:nvSpPr>
          <p:spPr>
            <a:xfrm>
              <a:off x="5941980" y="3505676"/>
              <a:ext cx="79438" cy="79438"/>
            </a:xfrm>
            <a:custGeom>
              <a:avLst/>
              <a:gdLst>
                <a:gd name="connsiteX0" fmla="*/ 39719 w 79438"/>
                <a:gd name="connsiteY0" fmla="*/ 79438 h 79438"/>
                <a:gd name="connsiteX1" fmla="*/ 79438 w 79438"/>
                <a:gd name="connsiteY1" fmla="*/ 39719 h 79438"/>
                <a:gd name="connsiteX2" fmla="*/ 39719 w 79438"/>
                <a:gd name="connsiteY2" fmla="*/ 0 h 79438"/>
                <a:gd name="connsiteX3" fmla="*/ 0 w 79438"/>
                <a:gd name="connsiteY3" fmla="*/ 39719 h 79438"/>
                <a:gd name="connsiteX4" fmla="*/ 39719 w 79438"/>
                <a:gd name="connsiteY4" fmla="*/ 79438 h 79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8" h="79438">
                  <a:moveTo>
                    <a:pt x="39719" y="79438"/>
                  </a:moveTo>
                  <a:cubicBezTo>
                    <a:pt x="61627" y="79438"/>
                    <a:pt x="79438" y="61627"/>
                    <a:pt x="79438" y="39719"/>
                  </a:cubicBezTo>
                  <a:cubicBezTo>
                    <a:pt x="79438" y="17812"/>
                    <a:pt x="61627" y="0"/>
                    <a:pt x="39719" y="0"/>
                  </a:cubicBezTo>
                  <a:cubicBezTo>
                    <a:pt x="17812" y="0"/>
                    <a:pt x="0" y="17812"/>
                    <a:pt x="0" y="39719"/>
                  </a:cubicBezTo>
                  <a:cubicBezTo>
                    <a:pt x="0" y="61722"/>
                    <a:pt x="17812" y="79438"/>
                    <a:pt x="39719" y="79438"/>
                  </a:cubicBezTo>
                  <a:close/>
                </a:path>
              </a:pathLst>
            </a:custGeom>
            <a:grpFill/>
            <a:ln w="9525" cap="flat">
              <a:noFill/>
              <a:prstDash val="solid"/>
              <a:miter/>
            </a:ln>
          </p:spPr>
          <p:txBody>
            <a:bodyPr rtlCol="0" anchor="ctr"/>
            <a:lstStyle/>
            <a:p>
              <a:endParaRPr lang="zh-CN" altLang="en-US"/>
            </a:p>
          </p:txBody>
        </p:sp>
        <p:sp>
          <p:nvSpPr>
            <p:cNvPr id="98" name="任意多边形: 形状 97"/>
            <p:cNvSpPr/>
            <p:nvPr/>
          </p:nvSpPr>
          <p:spPr>
            <a:xfrm>
              <a:off x="6053232" y="3501675"/>
              <a:ext cx="87629" cy="87629"/>
            </a:xfrm>
            <a:custGeom>
              <a:avLst/>
              <a:gdLst>
                <a:gd name="connsiteX0" fmla="*/ 87630 w 87629"/>
                <a:gd name="connsiteY0" fmla="*/ 43815 h 87629"/>
                <a:gd name="connsiteX1" fmla="*/ 43815 w 87629"/>
                <a:gd name="connsiteY1" fmla="*/ 87630 h 87629"/>
                <a:gd name="connsiteX2" fmla="*/ 0 w 87629"/>
                <a:gd name="connsiteY2" fmla="*/ 43815 h 87629"/>
                <a:gd name="connsiteX3" fmla="*/ 43815 w 87629"/>
                <a:gd name="connsiteY3" fmla="*/ 0 h 87629"/>
                <a:gd name="connsiteX4" fmla="*/ 87630 w 87629"/>
                <a:gd name="connsiteY4" fmla="*/ 43815 h 8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29" h="87629">
                  <a:moveTo>
                    <a:pt x="87630" y="43815"/>
                  </a:moveTo>
                  <a:cubicBezTo>
                    <a:pt x="87630" y="68013"/>
                    <a:pt x="68013" y="87630"/>
                    <a:pt x="43815" y="87630"/>
                  </a:cubicBezTo>
                  <a:cubicBezTo>
                    <a:pt x="19617" y="87630"/>
                    <a:pt x="0" y="68013"/>
                    <a:pt x="0" y="43815"/>
                  </a:cubicBezTo>
                  <a:cubicBezTo>
                    <a:pt x="0" y="19617"/>
                    <a:pt x="19617" y="0"/>
                    <a:pt x="43815" y="0"/>
                  </a:cubicBezTo>
                  <a:cubicBezTo>
                    <a:pt x="68013" y="0"/>
                    <a:pt x="87630" y="19617"/>
                    <a:pt x="87630" y="43815"/>
                  </a:cubicBezTo>
                  <a:close/>
                </a:path>
              </a:pathLst>
            </a:custGeom>
            <a:grpFill/>
            <a:ln w="9525" cap="flat">
              <a:noFill/>
              <a:prstDash val="solid"/>
              <a:miter/>
            </a:ln>
          </p:spPr>
          <p:txBody>
            <a:bodyPr rtlCol="0" anchor="ctr"/>
            <a:lstStyle/>
            <a:p>
              <a:endParaRPr lang="zh-CN" altLang="en-US"/>
            </a:p>
          </p:txBody>
        </p:sp>
        <p:sp>
          <p:nvSpPr>
            <p:cNvPr id="99" name="任意多边形: 形状 98"/>
            <p:cNvSpPr/>
            <p:nvPr/>
          </p:nvSpPr>
          <p:spPr>
            <a:xfrm>
              <a:off x="6172199" y="3505200"/>
              <a:ext cx="80581" cy="80581"/>
            </a:xfrm>
            <a:custGeom>
              <a:avLst/>
              <a:gdLst>
                <a:gd name="connsiteX0" fmla="*/ 40291 w 80581"/>
                <a:gd name="connsiteY0" fmla="*/ 80581 h 80581"/>
                <a:gd name="connsiteX1" fmla="*/ 80582 w 80581"/>
                <a:gd name="connsiteY1" fmla="*/ 40291 h 80581"/>
                <a:gd name="connsiteX2" fmla="*/ 40291 w 80581"/>
                <a:gd name="connsiteY2" fmla="*/ 0 h 80581"/>
                <a:gd name="connsiteX3" fmla="*/ 0 w 80581"/>
                <a:gd name="connsiteY3" fmla="*/ 40291 h 80581"/>
                <a:gd name="connsiteX4" fmla="*/ 40291 w 80581"/>
                <a:gd name="connsiteY4" fmla="*/ 80581 h 80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 h="80581">
                  <a:moveTo>
                    <a:pt x="40291" y="80581"/>
                  </a:moveTo>
                  <a:cubicBezTo>
                    <a:pt x="62580" y="80581"/>
                    <a:pt x="80582" y="62484"/>
                    <a:pt x="80582" y="40291"/>
                  </a:cubicBezTo>
                  <a:cubicBezTo>
                    <a:pt x="80582" y="18002"/>
                    <a:pt x="62484" y="0"/>
                    <a:pt x="40291" y="0"/>
                  </a:cubicBezTo>
                  <a:cubicBezTo>
                    <a:pt x="18098" y="0"/>
                    <a:pt x="0" y="18098"/>
                    <a:pt x="0" y="40291"/>
                  </a:cubicBezTo>
                  <a:cubicBezTo>
                    <a:pt x="-95" y="62484"/>
                    <a:pt x="18003" y="80581"/>
                    <a:pt x="40291" y="80581"/>
                  </a:cubicBezTo>
                  <a:close/>
                </a:path>
              </a:pathLst>
            </a:custGeom>
            <a:grpFill/>
            <a:ln w="9525" cap="flat">
              <a:noFill/>
              <a:prstDash val="solid"/>
              <a:miter/>
            </a:ln>
          </p:spPr>
          <p:txBody>
            <a:bodyPr rtlCol="0" anchor="ctr"/>
            <a:lstStyle/>
            <a:p>
              <a:endParaRPr lang="zh-CN" altLang="en-US"/>
            </a:p>
          </p:txBody>
        </p:sp>
        <p:sp>
          <p:nvSpPr>
            <p:cNvPr id="100" name="任意多边形: 形状 99"/>
            <p:cNvSpPr/>
            <p:nvPr/>
          </p:nvSpPr>
          <p:spPr>
            <a:xfrm>
              <a:off x="6295167" y="3512820"/>
              <a:ext cx="65341" cy="65341"/>
            </a:xfrm>
            <a:custGeom>
              <a:avLst/>
              <a:gdLst>
                <a:gd name="connsiteX0" fmla="*/ 65341 w 65341"/>
                <a:gd name="connsiteY0" fmla="*/ 32671 h 65341"/>
                <a:gd name="connsiteX1" fmla="*/ 32671 w 65341"/>
                <a:gd name="connsiteY1" fmla="*/ 65342 h 65341"/>
                <a:gd name="connsiteX2" fmla="*/ 0 w 65341"/>
                <a:gd name="connsiteY2" fmla="*/ 32671 h 65341"/>
                <a:gd name="connsiteX3" fmla="*/ 32671 w 65341"/>
                <a:gd name="connsiteY3" fmla="*/ 0 h 65341"/>
                <a:gd name="connsiteX4" fmla="*/ 65341 w 65341"/>
                <a:gd name="connsiteY4" fmla="*/ 32671 h 65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41" h="65341">
                  <a:moveTo>
                    <a:pt x="65341" y="32671"/>
                  </a:moveTo>
                  <a:cubicBezTo>
                    <a:pt x="65341" y="50714"/>
                    <a:pt x="50714" y="65342"/>
                    <a:pt x="32671" y="65342"/>
                  </a:cubicBezTo>
                  <a:cubicBezTo>
                    <a:pt x="14627" y="65342"/>
                    <a:pt x="0" y="50714"/>
                    <a:pt x="0" y="32671"/>
                  </a:cubicBezTo>
                  <a:cubicBezTo>
                    <a:pt x="0" y="14627"/>
                    <a:pt x="14627" y="0"/>
                    <a:pt x="32671" y="0"/>
                  </a:cubicBezTo>
                  <a:cubicBezTo>
                    <a:pt x="50714" y="0"/>
                    <a:pt x="65341" y="14627"/>
                    <a:pt x="65341" y="32671"/>
                  </a:cubicBezTo>
                  <a:close/>
                </a:path>
              </a:pathLst>
            </a:custGeom>
            <a:grpFill/>
            <a:ln w="9525" cap="flat">
              <a:noFill/>
              <a:prstDash val="solid"/>
              <a:miter/>
            </a:ln>
          </p:spPr>
          <p:txBody>
            <a:bodyPr rtlCol="0" anchor="ctr"/>
            <a:lstStyle/>
            <a:p>
              <a:endParaRPr lang="zh-CN" altLang="en-US"/>
            </a:p>
          </p:txBody>
        </p:sp>
        <p:sp>
          <p:nvSpPr>
            <p:cNvPr id="101" name="任意多边形: 形状 100"/>
            <p:cNvSpPr/>
            <p:nvPr/>
          </p:nvSpPr>
          <p:spPr>
            <a:xfrm>
              <a:off x="6419564" y="3521678"/>
              <a:ext cx="47434" cy="47434"/>
            </a:xfrm>
            <a:custGeom>
              <a:avLst/>
              <a:gdLst>
                <a:gd name="connsiteX0" fmla="*/ 23717 w 47434"/>
                <a:gd name="connsiteY0" fmla="*/ 47434 h 47434"/>
                <a:gd name="connsiteX1" fmla="*/ 47434 w 47434"/>
                <a:gd name="connsiteY1" fmla="*/ 23717 h 47434"/>
                <a:gd name="connsiteX2" fmla="*/ 23717 w 47434"/>
                <a:gd name="connsiteY2" fmla="*/ 0 h 47434"/>
                <a:gd name="connsiteX3" fmla="*/ 0 w 47434"/>
                <a:gd name="connsiteY3" fmla="*/ 23717 h 47434"/>
                <a:gd name="connsiteX4" fmla="*/ 23717 w 47434"/>
                <a:gd name="connsiteY4" fmla="*/ 47434 h 4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47434">
                  <a:moveTo>
                    <a:pt x="23717" y="47434"/>
                  </a:moveTo>
                  <a:cubicBezTo>
                    <a:pt x="36767" y="47434"/>
                    <a:pt x="47434" y="36862"/>
                    <a:pt x="47434" y="23717"/>
                  </a:cubicBezTo>
                  <a:cubicBezTo>
                    <a:pt x="47434" y="10668"/>
                    <a:pt x="36862" y="0"/>
                    <a:pt x="23717" y="0"/>
                  </a:cubicBezTo>
                  <a:cubicBezTo>
                    <a:pt x="10668" y="0"/>
                    <a:pt x="0" y="10573"/>
                    <a:pt x="0" y="23717"/>
                  </a:cubicBezTo>
                  <a:cubicBezTo>
                    <a:pt x="0" y="36862"/>
                    <a:pt x="10573" y="47434"/>
                    <a:pt x="23717" y="47434"/>
                  </a:cubicBezTo>
                  <a:close/>
                </a:path>
              </a:pathLst>
            </a:custGeom>
            <a:grpFill/>
            <a:ln w="9525" cap="flat">
              <a:noFill/>
              <a:prstDash val="solid"/>
              <a:miter/>
            </a:ln>
          </p:spPr>
          <p:txBody>
            <a:bodyPr rtlCol="0" anchor="ctr"/>
            <a:lstStyle/>
            <a:p>
              <a:endParaRPr lang="zh-CN" altLang="en-US"/>
            </a:p>
          </p:txBody>
        </p:sp>
        <p:sp>
          <p:nvSpPr>
            <p:cNvPr id="102" name="任意多边形: 形状 101"/>
            <p:cNvSpPr/>
            <p:nvPr/>
          </p:nvSpPr>
          <p:spPr>
            <a:xfrm>
              <a:off x="6544246" y="3531108"/>
              <a:ext cx="28765" cy="28765"/>
            </a:xfrm>
            <a:custGeom>
              <a:avLst/>
              <a:gdLst>
                <a:gd name="connsiteX0" fmla="*/ 14383 w 28765"/>
                <a:gd name="connsiteY0" fmla="*/ 28765 h 28765"/>
                <a:gd name="connsiteX1" fmla="*/ 28766 w 28765"/>
                <a:gd name="connsiteY1" fmla="*/ 14383 h 28765"/>
                <a:gd name="connsiteX2" fmla="*/ 14383 w 28765"/>
                <a:gd name="connsiteY2" fmla="*/ 0 h 28765"/>
                <a:gd name="connsiteX3" fmla="*/ 0 w 28765"/>
                <a:gd name="connsiteY3" fmla="*/ 14383 h 28765"/>
                <a:gd name="connsiteX4" fmla="*/ 14383 w 28765"/>
                <a:gd name="connsiteY4" fmla="*/ 28765 h 2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65" h="28765">
                  <a:moveTo>
                    <a:pt x="14383" y="28765"/>
                  </a:moveTo>
                  <a:cubicBezTo>
                    <a:pt x="22289" y="28765"/>
                    <a:pt x="28766" y="22288"/>
                    <a:pt x="28766" y="14383"/>
                  </a:cubicBezTo>
                  <a:cubicBezTo>
                    <a:pt x="28766" y="6477"/>
                    <a:pt x="22289" y="0"/>
                    <a:pt x="14383" y="0"/>
                  </a:cubicBezTo>
                  <a:cubicBezTo>
                    <a:pt x="6477" y="0"/>
                    <a:pt x="0" y="6477"/>
                    <a:pt x="0" y="14383"/>
                  </a:cubicBezTo>
                  <a:cubicBezTo>
                    <a:pt x="0" y="22288"/>
                    <a:pt x="6477" y="28765"/>
                    <a:pt x="14383" y="28765"/>
                  </a:cubicBezTo>
                  <a:close/>
                </a:path>
              </a:pathLst>
            </a:custGeom>
            <a:grpFill/>
            <a:ln w="9525" cap="flat">
              <a:noFill/>
              <a:prstDash val="solid"/>
              <a:miter/>
            </a:ln>
          </p:spPr>
          <p:txBody>
            <a:bodyPr rtlCol="0" anchor="ctr"/>
            <a:lstStyle/>
            <a:p>
              <a:endParaRPr lang="zh-CN" altLang="en-US"/>
            </a:p>
          </p:txBody>
        </p:sp>
        <p:sp>
          <p:nvSpPr>
            <p:cNvPr id="103" name="任意多边形: 形状 102"/>
            <p:cNvSpPr/>
            <p:nvPr/>
          </p:nvSpPr>
          <p:spPr>
            <a:xfrm>
              <a:off x="6668928" y="3540347"/>
              <a:ext cx="10287" cy="10287"/>
            </a:xfrm>
            <a:custGeom>
              <a:avLst/>
              <a:gdLst>
                <a:gd name="connsiteX0" fmla="*/ 10287 w 10287"/>
                <a:gd name="connsiteY0" fmla="*/ 5144 h 10287"/>
                <a:gd name="connsiteX1" fmla="*/ 5144 w 10287"/>
                <a:gd name="connsiteY1" fmla="*/ 10287 h 10287"/>
                <a:gd name="connsiteX2" fmla="*/ 0 w 10287"/>
                <a:gd name="connsiteY2" fmla="*/ 5144 h 10287"/>
                <a:gd name="connsiteX3" fmla="*/ 5144 w 10287"/>
                <a:gd name="connsiteY3" fmla="*/ 0 h 10287"/>
                <a:gd name="connsiteX4" fmla="*/ 10287 w 10287"/>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7">
                  <a:moveTo>
                    <a:pt x="10287" y="5144"/>
                  </a:moveTo>
                  <a:cubicBezTo>
                    <a:pt x="10287" y="7984"/>
                    <a:pt x="7984" y="10287"/>
                    <a:pt x="5144" y="10287"/>
                  </a:cubicBezTo>
                  <a:cubicBezTo>
                    <a:pt x="2303" y="10287"/>
                    <a:pt x="0" y="7984"/>
                    <a:pt x="0" y="5144"/>
                  </a:cubicBezTo>
                  <a:cubicBezTo>
                    <a:pt x="0" y="2303"/>
                    <a:pt x="2303" y="0"/>
                    <a:pt x="5144"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104" name="任意多边形: 形状 103"/>
            <p:cNvSpPr/>
            <p:nvPr/>
          </p:nvSpPr>
          <p:spPr>
            <a:xfrm>
              <a:off x="5517832" y="3658552"/>
              <a:ext cx="4571" cy="4572"/>
            </a:xfrm>
            <a:custGeom>
              <a:avLst/>
              <a:gdLst>
                <a:gd name="connsiteX0" fmla="*/ 2286 w 4571"/>
                <a:gd name="connsiteY0" fmla="*/ 4572 h 4572"/>
                <a:gd name="connsiteX1" fmla="*/ 4572 w 4571"/>
                <a:gd name="connsiteY1" fmla="*/ 2286 h 4572"/>
                <a:gd name="connsiteX2" fmla="*/ 2286 w 4571"/>
                <a:gd name="connsiteY2" fmla="*/ 0 h 4572"/>
                <a:gd name="connsiteX3" fmla="*/ 0 w 4571"/>
                <a:gd name="connsiteY3" fmla="*/ 2286 h 4572"/>
                <a:gd name="connsiteX4" fmla="*/ 2286 w 4571"/>
                <a:gd name="connsiteY4" fmla="*/ 4572 h 4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 h="4572">
                  <a:moveTo>
                    <a:pt x="2286" y="4572"/>
                  </a:moveTo>
                  <a:cubicBezTo>
                    <a:pt x="3524" y="4572"/>
                    <a:pt x="4572" y="3524"/>
                    <a:pt x="4572" y="2286"/>
                  </a:cubicBezTo>
                  <a:cubicBezTo>
                    <a:pt x="4572" y="1048"/>
                    <a:pt x="3524" y="0"/>
                    <a:pt x="2286" y="0"/>
                  </a:cubicBezTo>
                  <a:cubicBezTo>
                    <a:pt x="1048" y="0"/>
                    <a:pt x="0" y="1048"/>
                    <a:pt x="0" y="2286"/>
                  </a:cubicBezTo>
                  <a:cubicBezTo>
                    <a:pt x="0" y="3524"/>
                    <a:pt x="1048" y="4572"/>
                    <a:pt x="2286" y="4572"/>
                  </a:cubicBezTo>
                  <a:close/>
                </a:path>
              </a:pathLst>
            </a:custGeom>
            <a:grpFill/>
            <a:ln w="9525" cap="flat">
              <a:noFill/>
              <a:prstDash val="solid"/>
              <a:miter/>
            </a:ln>
          </p:spPr>
          <p:txBody>
            <a:bodyPr rtlCol="0" anchor="ctr"/>
            <a:lstStyle/>
            <a:p>
              <a:endParaRPr lang="zh-CN" altLang="en-US"/>
            </a:p>
          </p:txBody>
        </p:sp>
        <p:sp>
          <p:nvSpPr>
            <p:cNvPr id="105" name="任意多边形: 形状 104"/>
            <p:cNvSpPr/>
            <p:nvPr/>
          </p:nvSpPr>
          <p:spPr>
            <a:xfrm>
              <a:off x="5625179" y="3650646"/>
              <a:ext cx="20478" cy="20478"/>
            </a:xfrm>
            <a:custGeom>
              <a:avLst/>
              <a:gdLst>
                <a:gd name="connsiteX0" fmla="*/ 10287 w 20478"/>
                <a:gd name="connsiteY0" fmla="*/ 20479 h 20478"/>
                <a:gd name="connsiteX1" fmla="*/ 20479 w 20478"/>
                <a:gd name="connsiteY1" fmla="*/ 10192 h 20478"/>
                <a:gd name="connsiteX2" fmla="*/ 10287 w 20478"/>
                <a:gd name="connsiteY2" fmla="*/ 0 h 20478"/>
                <a:gd name="connsiteX3" fmla="*/ 0 w 20478"/>
                <a:gd name="connsiteY3" fmla="*/ 10192 h 20478"/>
                <a:gd name="connsiteX4" fmla="*/ 10287 w 20478"/>
                <a:gd name="connsiteY4" fmla="*/ 20479 h 20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8" h="20478">
                  <a:moveTo>
                    <a:pt x="10287" y="20479"/>
                  </a:moveTo>
                  <a:cubicBezTo>
                    <a:pt x="15907" y="20479"/>
                    <a:pt x="20479" y="15907"/>
                    <a:pt x="20479" y="10192"/>
                  </a:cubicBezTo>
                  <a:cubicBezTo>
                    <a:pt x="20479" y="4572"/>
                    <a:pt x="15907" y="0"/>
                    <a:pt x="10287" y="0"/>
                  </a:cubicBezTo>
                  <a:cubicBezTo>
                    <a:pt x="4667" y="0"/>
                    <a:pt x="0" y="4572"/>
                    <a:pt x="0" y="10192"/>
                  </a:cubicBezTo>
                  <a:cubicBezTo>
                    <a:pt x="95" y="15907"/>
                    <a:pt x="4667" y="20479"/>
                    <a:pt x="10287" y="20479"/>
                  </a:cubicBezTo>
                  <a:close/>
                </a:path>
              </a:pathLst>
            </a:custGeom>
            <a:grpFill/>
            <a:ln w="9525" cap="flat">
              <a:noFill/>
              <a:prstDash val="solid"/>
              <a:miter/>
            </a:ln>
          </p:spPr>
          <p:txBody>
            <a:bodyPr rtlCol="0" anchor="ctr"/>
            <a:lstStyle/>
            <a:p>
              <a:endParaRPr lang="zh-CN" altLang="en-US"/>
            </a:p>
          </p:txBody>
        </p:sp>
        <p:sp>
          <p:nvSpPr>
            <p:cNvPr id="106" name="任意多边形: 形状 105"/>
            <p:cNvSpPr/>
            <p:nvPr/>
          </p:nvSpPr>
          <p:spPr>
            <a:xfrm>
              <a:off x="5732049" y="3641979"/>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337"/>
                    <a:pt x="8382" y="37719"/>
                    <a:pt x="18859" y="37719"/>
                  </a:cubicBezTo>
                  <a:close/>
                </a:path>
              </a:pathLst>
            </a:custGeom>
            <a:grpFill/>
            <a:ln w="9525" cap="flat">
              <a:noFill/>
              <a:prstDash val="solid"/>
              <a:miter/>
            </a:ln>
          </p:spPr>
          <p:txBody>
            <a:bodyPr rtlCol="0" anchor="ctr"/>
            <a:lstStyle/>
            <a:p>
              <a:endParaRPr lang="zh-CN" altLang="en-US"/>
            </a:p>
          </p:txBody>
        </p:sp>
        <p:sp>
          <p:nvSpPr>
            <p:cNvPr id="107" name="任意多边形: 形状 106"/>
            <p:cNvSpPr/>
            <p:nvPr/>
          </p:nvSpPr>
          <p:spPr>
            <a:xfrm>
              <a:off x="5840063" y="3634644"/>
              <a:ext cx="52387" cy="52387"/>
            </a:xfrm>
            <a:custGeom>
              <a:avLst/>
              <a:gdLst>
                <a:gd name="connsiteX0" fmla="*/ 52388 w 52387"/>
                <a:gd name="connsiteY0" fmla="*/ 26194 h 52387"/>
                <a:gd name="connsiteX1" fmla="*/ 26194 w 52387"/>
                <a:gd name="connsiteY1" fmla="*/ 52387 h 52387"/>
                <a:gd name="connsiteX2" fmla="*/ 0 w 52387"/>
                <a:gd name="connsiteY2" fmla="*/ 26194 h 52387"/>
                <a:gd name="connsiteX3" fmla="*/ 26194 w 52387"/>
                <a:gd name="connsiteY3" fmla="*/ 0 h 52387"/>
                <a:gd name="connsiteX4" fmla="*/ 52388 w 52387"/>
                <a:gd name="connsiteY4" fmla="*/ 26194 h 52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 h="52387">
                  <a:moveTo>
                    <a:pt x="52388" y="26194"/>
                  </a:moveTo>
                  <a:cubicBezTo>
                    <a:pt x="52388" y="40660"/>
                    <a:pt x="40660" y="52387"/>
                    <a:pt x="26194" y="52387"/>
                  </a:cubicBezTo>
                  <a:cubicBezTo>
                    <a:pt x="11727" y="52387"/>
                    <a:pt x="0" y="40660"/>
                    <a:pt x="0" y="26194"/>
                  </a:cubicBezTo>
                  <a:cubicBezTo>
                    <a:pt x="0" y="11727"/>
                    <a:pt x="11727" y="0"/>
                    <a:pt x="26194" y="0"/>
                  </a:cubicBezTo>
                  <a:cubicBezTo>
                    <a:pt x="40660" y="0"/>
                    <a:pt x="52388" y="11727"/>
                    <a:pt x="52388" y="26194"/>
                  </a:cubicBezTo>
                  <a:close/>
                </a:path>
              </a:pathLst>
            </a:custGeom>
            <a:grpFill/>
            <a:ln w="9525" cap="flat">
              <a:noFill/>
              <a:prstDash val="solid"/>
              <a:miter/>
            </a:ln>
          </p:spPr>
          <p:txBody>
            <a:bodyPr rtlCol="0" anchor="ctr"/>
            <a:lstStyle/>
            <a:p>
              <a:endParaRPr lang="zh-CN" altLang="en-US"/>
            </a:p>
          </p:txBody>
        </p:sp>
        <p:sp>
          <p:nvSpPr>
            <p:cNvPr id="108" name="任意多边形: 形状 107"/>
            <p:cNvSpPr/>
            <p:nvPr/>
          </p:nvSpPr>
          <p:spPr>
            <a:xfrm>
              <a:off x="5949695" y="3628834"/>
              <a:ext cx="64008" cy="64007"/>
            </a:xfrm>
            <a:custGeom>
              <a:avLst/>
              <a:gdLst>
                <a:gd name="connsiteX0" fmla="*/ 32004 w 64008"/>
                <a:gd name="connsiteY0" fmla="*/ 64008 h 64007"/>
                <a:gd name="connsiteX1" fmla="*/ 64008 w 64008"/>
                <a:gd name="connsiteY1" fmla="*/ 32004 h 64007"/>
                <a:gd name="connsiteX2" fmla="*/ 32004 w 64008"/>
                <a:gd name="connsiteY2" fmla="*/ 0 h 64007"/>
                <a:gd name="connsiteX3" fmla="*/ 0 w 64008"/>
                <a:gd name="connsiteY3" fmla="*/ 32004 h 64007"/>
                <a:gd name="connsiteX4" fmla="*/ 32004 w 64008"/>
                <a:gd name="connsiteY4" fmla="*/ 64008 h 64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 h="64007">
                  <a:moveTo>
                    <a:pt x="32004" y="64008"/>
                  </a:moveTo>
                  <a:cubicBezTo>
                    <a:pt x="49721" y="64008"/>
                    <a:pt x="64008" y="49720"/>
                    <a:pt x="64008" y="32004"/>
                  </a:cubicBezTo>
                  <a:cubicBezTo>
                    <a:pt x="64008" y="14288"/>
                    <a:pt x="49721" y="0"/>
                    <a:pt x="32004" y="0"/>
                  </a:cubicBezTo>
                  <a:cubicBezTo>
                    <a:pt x="14288" y="0"/>
                    <a:pt x="0" y="14288"/>
                    <a:pt x="0" y="32004"/>
                  </a:cubicBezTo>
                  <a:cubicBezTo>
                    <a:pt x="0" y="49720"/>
                    <a:pt x="14288" y="64008"/>
                    <a:pt x="32004" y="64008"/>
                  </a:cubicBezTo>
                  <a:close/>
                </a:path>
              </a:pathLst>
            </a:custGeom>
            <a:grpFill/>
            <a:ln w="9525" cap="flat">
              <a:noFill/>
              <a:prstDash val="solid"/>
              <a:miter/>
            </a:ln>
          </p:spPr>
          <p:txBody>
            <a:bodyPr rtlCol="0" anchor="ctr"/>
            <a:lstStyle/>
            <a:p>
              <a:endParaRPr lang="zh-CN" altLang="en-US"/>
            </a:p>
          </p:txBody>
        </p:sp>
        <p:sp>
          <p:nvSpPr>
            <p:cNvPr id="109" name="任意多边形: 形状 108"/>
            <p:cNvSpPr/>
            <p:nvPr/>
          </p:nvSpPr>
          <p:spPr>
            <a:xfrm>
              <a:off x="6062471" y="3626262"/>
              <a:ext cx="69151" cy="69151"/>
            </a:xfrm>
            <a:custGeom>
              <a:avLst/>
              <a:gdLst>
                <a:gd name="connsiteX0" fmla="*/ 34576 w 69151"/>
                <a:gd name="connsiteY0" fmla="*/ 69152 h 69151"/>
                <a:gd name="connsiteX1" fmla="*/ 69151 w 69151"/>
                <a:gd name="connsiteY1" fmla="*/ 34576 h 69151"/>
                <a:gd name="connsiteX2" fmla="*/ 34576 w 69151"/>
                <a:gd name="connsiteY2" fmla="*/ 0 h 69151"/>
                <a:gd name="connsiteX3" fmla="*/ 0 w 69151"/>
                <a:gd name="connsiteY3" fmla="*/ 34576 h 69151"/>
                <a:gd name="connsiteX4" fmla="*/ 34576 w 69151"/>
                <a:gd name="connsiteY4" fmla="*/ 69152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69152"/>
                  </a:moveTo>
                  <a:cubicBezTo>
                    <a:pt x="53626" y="69152"/>
                    <a:pt x="69151" y="53721"/>
                    <a:pt x="69151" y="34576"/>
                  </a:cubicBezTo>
                  <a:cubicBezTo>
                    <a:pt x="69151" y="15431"/>
                    <a:pt x="53721" y="0"/>
                    <a:pt x="34576" y="0"/>
                  </a:cubicBezTo>
                  <a:cubicBezTo>
                    <a:pt x="15430" y="0"/>
                    <a:pt x="0" y="15431"/>
                    <a:pt x="0" y="34576"/>
                  </a:cubicBezTo>
                  <a:cubicBezTo>
                    <a:pt x="0" y="53721"/>
                    <a:pt x="15526" y="69152"/>
                    <a:pt x="34576" y="69152"/>
                  </a:cubicBezTo>
                  <a:close/>
                </a:path>
              </a:pathLst>
            </a:custGeom>
            <a:grpFill/>
            <a:ln w="9525" cap="flat">
              <a:noFill/>
              <a:prstDash val="solid"/>
              <a:miter/>
            </a:ln>
          </p:spPr>
          <p:txBody>
            <a:bodyPr rtlCol="0" anchor="ctr"/>
            <a:lstStyle/>
            <a:p>
              <a:endParaRPr lang="zh-CN" altLang="en-US"/>
            </a:p>
          </p:txBody>
        </p:sp>
        <p:sp>
          <p:nvSpPr>
            <p:cNvPr id="110" name="任意多边形: 形状 109"/>
            <p:cNvSpPr/>
            <p:nvPr/>
          </p:nvSpPr>
          <p:spPr>
            <a:xfrm>
              <a:off x="6179820" y="3628167"/>
              <a:ext cx="65341" cy="65341"/>
            </a:xfrm>
            <a:custGeom>
              <a:avLst/>
              <a:gdLst>
                <a:gd name="connsiteX0" fmla="*/ 65342 w 65341"/>
                <a:gd name="connsiteY0" fmla="*/ 32671 h 65341"/>
                <a:gd name="connsiteX1" fmla="*/ 32671 w 65341"/>
                <a:gd name="connsiteY1" fmla="*/ 65341 h 65341"/>
                <a:gd name="connsiteX2" fmla="*/ 0 w 65341"/>
                <a:gd name="connsiteY2" fmla="*/ 32671 h 65341"/>
                <a:gd name="connsiteX3" fmla="*/ 32671 w 65341"/>
                <a:gd name="connsiteY3" fmla="*/ 0 h 65341"/>
                <a:gd name="connsiteX4" fmla="*/ 65342 w 65341"/>
                <a:gd name="connsiteY4" fmla="*/ 32671 h 65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41" h="65341">
                  <a:moveTo>
                    <a:pt x="65342" y="32671"/>
                  </a:moveTo>
                  <a:cubicBezTo>
                    <a:pt x="65342" y="50714"/>
                    <a:pt x="50714" y="65341"/>
                    <a:pt x="32671" y="65341"/>
                  </a:cubicBezTo>
                  <a:cubicBezTo>
                    <a:pt x="14627" y="65341"/>
                    <a:pt x="0" y="50714"/>
                    <a:pt x="0" y="32671"/>
                  </a:cubicBezTo>
                  <a:cubicBezTo>
                    <a:pt x="0" y="14627"/>
                    <a:pt x="14627" y="0"/>
                    <a:pt x="32671" y="0"/>
                  </a:cubicBezTo>
                  <a:cubicBezTo>
                    <a:pt x="50714" y="0"/>
                    <a:pt x="65342" y="14627"/>
                    <a:pt x="65342" y="32671"/>
                  </a:cubicBezTo>
                  <a:close/>
                </a:path>
              </a:pathLst>
            </a:custGeom>
            <a:grpFill/>
            <a:ln w="9525" cap="flat">
              <a:noFill/>
              <a:prstDash val="solid"/>
              <a:miter/>
            </a:ln>
          </p:spPr>
          <p:txBody>
            <a:bodyPr rtlCol="0" anchor="ctr"/>
            <a:lstStyle/>
            <a:p>
              <a:endParaRPr lang="zh-CN" altLang="en-US"/>
            </a:p>
          </p:txBody>
        </p:sp>
        <p:sp>
          <p:nvSpPr>
            <p:cNvPr id="111" name="任意多边形: 形状 110"/>
            <p:cNvSpPr/>
            <p:nvPr/>
          </p:nvSpPr>
          <p:spPr>
            <a:xfrm>
              <a:off x="6300978" y="3633978"/>
              <a:ext cx="53720" cy="53720"/>
            </a:xfrm>
            <a:custGeom>
              <a:avLst/>
              <a:gdLst>
                <a:gd name="connsiteX0" fmla="*/ 53721 w 53720"/>
                <a:gd name="connsiteY0" fmla="*/ 26860 h 53720"/>
                <a:gd name="connsiteX1" fmla="*/ 26861 w 53720"/>
                <a:gd name="connsiteY1" fmla="*/ 53721 h 53720"/>
                <a:gd name="connsiteX2" fmla="*/ 0 w 53720"/>
                <a:gd name="connsiteY2" fmla="*/ 26860 h 53720"/>
                <a:gd name="connsiteX3" fmla="*/ 26861 w 53720"/>
                <a:gd name="connsiteY3" fmla="*/ 0 h 53720"/>
                <a:gd name="connsiteX4" fmla="*/ 53721 w 53720"/>
                <a:gd name="connsiteY4" fmla="*/ 26860 h 53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0" h="53720">
                  <a:moveTo>
                    <a:pt x="53721" y="26860"/>
                  </a:moveTo>
                  <a:cubicBezTo>
                    <a:pt x="53721" y="41695"/>
                    <a:pt x="41695" y="53721"/>
                    <a:pt x="26861" y="53721"/>
                  </a:cubicBezTo>
                  <a:cubicBezTo>
                    <a:pt x="12026" y="53721"/>
                    <a:pt x="0" y="41695"/>
                    <a:pt x="0" y="26860"/>
                  </a:cubicBezTo>
                  <a:cubicBezTo>
                    <a:pt x="0" y="12026"/>
                    <a:pt x="12026" y="0"/>
                    <a:pt x="26861" y="0"/>
                  </a:cubicBezTo>
                  <a:cubicBezTo>
                    <a:pt x="41695" y="0"/>
                    <a:pt x="53721" y="12026"/>
                    <a:pt x="53721" y="26860"/>
                  </a:cubicBezTo>
                  <a:close/>
                </a:path>
              </a:pathLst>
            </a:custGeom>
            <a:grpFill/>
            <a:ln w="9525" cap="flat">
              <a:noFill/>
              <a:prstDash val="solid"/>
              <a:miter/>
            </a:ln>
          </p:spPr>
          <p:txBody>
            <a:bodyPr rtlCol="0" anchor="ctr"/>
            <a:lstStyle/>
            <a:p>
              <a:endParaRPr lang="zh-CN" altLang="en-US"/>
            </a:p>
          </p:txBody>
        </p:sp>
        <p:sp>
          <p:nvSpPr>
            <p:cNvPr id="112" name="任意多边形: 形状 111"/>
            <p:cNvSpPr/>
            <p:nvPr/>
          </p:nvSpPr>
          <p:spPr>
            <a:xfrm>
              <a:off x="6423755" y="3641312"/>
              <a:ext cx="39052" cy="39052"/>
            </a:xfrm>
            <a:custGeom>
              <a:avLst/>
              <a:gdLst>
                <a:gd name="connsiteX0" fmla="*/ 19526 w 39052"/>
                <a:gd name="connsiteY0" fmla="*/ 39052 h 39052"/>
                <a:gd name="connsiteX1" fmla="*/ 39052 w 39052"/>
                <a:gd name="connsiteY1" fmla="*/ 19526 h 39052"/>
                <a:gd name="connsiteX2" fmla="*/ 19526 w 39052"/>
                <a:gd name="connsiteY2" fmla="*/ 0 h 39052"/>
                <a:gd name="connsiteX3" fmla="*/ 0 w 39052"/>
                <a:gd name="connsiteY3" fmla="*/ 19526 h 39052"/>
                <a:gd name="connsiteX4" fmla="*/ 19526 w 39052"/>
                <a:gd name="connsiteY4" fmla="*/ 39052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 h="39052">
                  <a:moveTo>
                    <a:pt x="19526" y="39052"/>
                  </a:moveTo>
                  <a:cubicBezTo>
                    <a:pt x="30289" y="39052"/>
                    <a:pt x="39052" y="30290"/>
                    <a:pt x="39052" y="19526"/>
                  </a:cubicBezTo>
                  <a:cubicBezTo>
                    <a:pt x="39052" y="8763"/>
                    <a:pt x="30289" y="0"/>
                    <a:pt x="19526" y="0"/>
                  </a:cubicBezTo>
                  <a:cubicBezTo>
                    <a:pt x="8763" y="0"/>
                    <a:pt x="0" y="8763"/>
                    <a:pt x="0" y="19526"/>
                  </a:cubicBezTo>
                  <a:cubicBezTo>
                    <a:pt x="0" y="30290"/>
                    <a:pt x="8668" y="39052"/>
                    <a:pt x="19526" y="39052"/>
                  </a:cubicBezTo>
                  <a:close/>
                </a:path>
              </a:pathLst>
            </a:custGeom>
            <a:grpFill/>
            <a:ln w="9525" cap="flat">
              <a:noFill/>
              <a:prstDash val="solid"/>
              <a:miter/>
            </a:ln>
          </p:spPr>
          <p:txBody>
            <a:bodyPr rtlCol="0" anchor="ctr"/>
            <a:lstStyle/>
            <a:p>
              <a:endParaRPr lang="zh-CN" altLang="en-US"/>
            </a:p>
          </p:txBody>
        </p:sp>
        <p:sp>
          <p:nvSpPr>
            <p:cNvPr id="113" name="任意多边形: 形状 112"/>
            <p:cNvSpPr/>
            <p:nvPr/>
          </p:nvSpPr>
          <p:spPr>
            <a:xfrm>
              <a:off x="6547389" y="3649599"/>
              <a:ext cx="22479" cy="22479"/>
            </a:xfrm>
            <a:custGeom>
              <a:avLst/>
              <a:gdLst>
                <a:gd name="connsiteX0" fmla="*/ 22479 w 22479"/>
                <a:gd name="connsiteY0" fmla="*/ 11239 h 22479"/>
                <a:gd name="connsiteX1" fmla="*/ 11239 w 22479"/>
                <a:gd name="connsiteY1" fmla="*/ 22479 h 22479"/>
                <a:gd name="connsiteX2" fmla="*/ 0 w 22479"/>
                <a:gd name="connsiteY2" fmla="*/ 11239 h 22479"/>
                <a:gd name="connsiteX3" fmla="*/ 11239 w 22479"/>
                <a:gd name="connsiteY3" fmla="*/ 0 h 22479"/>
                <a:gd name="connsiteX4" fmla="*/ 22479 w 22479"/>
                <a:gd name="connsiteY4" fmla="*/ 11239 h 22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22479">
                  <a:moveTo>
                    <a:pt x="22479" y="11239"/>
                  </a:moveTo>
                  <a:cubicBezTo>
                    <a:pt x="22479" y="17447"/>
                    <a:pt x="17447" y="22479"/>
                    <a:pt x="11239" y="22479"/>
                  </a:cubicBezTo>
                  <a:cubicBezTo>
                    <a:pt x="5032" y="22479"/>
                    <a:pt x="0" y="17447"/>
                    <a:pt x="0" y="11239"/>
                  </a:cubicBezTo>
                  <a:cubicBezTo>
                    <a:pt x="0" y="5032"/>
                    <a:pt x="5032" y="0"/>
                    <a:pt x="11239" y="0"/>
                  </a:cubicBezTo>
                  <a:cubicBezTo>
                    <a:pt x="17447" y="0"/>
                    <a:pt x="22479" y="5032"/>
                    <a:pt x="22479" y="11239"/>
                  </a:cubicBezTo>
                  <a:close/>
                </a:path>
              </a:pathLst>
            </a:custGeom>
            <a:grpFill/>
            <a:ln w="9525" cap="flat">
              <a:noFill/>
              <a:prstDash val="solid"/>
              <a:miter/>
            </a:ln>
          </p:spPr>
          <p:txBody>
            <a:bodyPr rtlCol="0" anchor="ctr"/>
            <a:lstStyle/>
            <a:p>
              <a:endParaRPr lang="zh-CN" altLang="en-US"/>
            </a:p>
          </p:txBody>
        </p:sp>
        <p:sp>
          <p:nvSpPr>
            <p:cNvPr id="114" name="任意多边形: 形状 113"/>
            <p:cNvSpPr/>
            <p:nvPr/>
          </p:nvSpPr>
          <p:spPr>
            <a:xfrm>
              <a:off x="6671500" y="3658266"/>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15" name="任意多边形: 形状 114"/>
            <p:cNvSpPr/>
            <p:nvPr/>
          </p:nvSpPr>
          <p:spPr>
            <a:xfrm>
              <a:off x="5519832" y="3775995"/>
              <a:ext cx="571" cy="571"/>
            </a:xfrm>
            <a:custGeom>
              <a:avLst/>
              <a:gdLst>
                <a:gd name="connsiteX0" fmla="*/ 571 w 571"/>
                <a:gd name="connsiteY0" fmla="*/ 286 h 571"/>
                <a:gd name="connsiteX1" fmla="*/ 286 w 571"/>
                <a:gd name="connsiteY1" fmla="*/ 571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1"/>
                    <a:pt x="286" y="571"/>
                  </a:cubicBezTo>
                  <a:cubicBezTo>
                    <a:pt x="128" y="571"/>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116" name="任意多边形: 形状 115"/>
            <p:cNvSpPr/>
            <p:nvPr/>
          </p:nvSpPr>
          <p:spPr>
            <a:xfrm>
              <a:off x="5630037" y="3770852"/>
              <a:ext cx="10858" cy="10858"/>
            </a:xfrm>
            <a:custGeom>
              <a:avLst/>
              <a:gdLst>
                <a:gd name="connsiteX0" fmla="*/ 10859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9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9" y="5429"/>
                  </a:moveTo>
                  <a:cubicBezTo>
                    <a:pt x="10859" y="8428"/>
                    <a:pt x="8428" y="10858"/>
                    <a:pt x="5429" y="10858"/>
                  </a:cubicBezTo>
                  <a:cubicBezTo>
                    <a:pt x="2431" y="10858"/>
                    <a:pt x="0" y="8428"/>
                    <a:pt x="0" y="5429"/>
                  </a:cubicBezTo>
                  <a:cubicBezTo>
                    <a:pt x="0" y="2431"/>
                    <a:pt x="2431" y="0"/>
                    <a:pt x="5429" y="0"/>
                  </a:cubicBezTo>
                  <a:cubicBezTo>
                    <a:pt x="8428" y="0"/>
                    <a:pt x="10859" y="2431"/>
                    <a:pt x="10859" y="5429"/>
                  </a:cubicBezTo>
                  <a:close/>
                </a:path>
              </a:pathLst>
            </a:custGeom>
            <a:grpFill/>
            <a:ln w="9525" cap="flat">
              <a:noFill/>
              <a:prstDash val="solid"/>
              <a:miter/>
            </a:ln>
          </p:spPr>
          <p:txBody>
            <a:bodyPr rtlCol="0" anchor="ctr"/>
            <a:lstStyle/>
            <a:p>
              <a:endParaRPr lang="zh-CN" altLang="en-US"/>
            </a:p>
          </p:txBody>
        </p:sp>
        <p:sp>
          <p:nvSpPr>
            <p:cNvPr id="117" name="任意多边形: 形状 116"/>
            <p:cNvSpPr/>
            <p:nvPr/>
          </p:nvSpPr>
          <p:spPr>
            <a:xfrm>
              <a:off x="5738144" y="3763518"/>
              <a:ext cx="25528" cy="25527"/>
            </a:xfrm>
            <a:custGeom>
              <a:avLst/>
              <a:gdLst>
                <a:gd name="connsiteX0" fmla="*/ 12765 w 25528"/>
                <a:gd name="connsiteY0" fmla="*/ 25527 h 25527"/>
                <a:gd name="connsiteX1" fmla="*/ 25528 w 25528"/>
                <a:gd name="connsiteY1" fmla="*/ 12763 h 25527"/>
                <a:gd name="connsiteX2" fmla="*/ 12765 w 25528"/>
                <a:gd name="connsiteY2" fmla="*/ 0 h 25527"/>
                <a:gd name="connsiteX3" fmla="*/ 1 w 25528"/>
                <a:gd name="connsiteY3" fmla="*/ 12763 h 25527"/>
                <a:gd name="connsiteX4" fmla="*/ 12765 w 25528"/>
                <a:gd name="connsiteY4" fmla="*/ 25527 h 25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8" h="25527">
                  <a:moveTo>
                    <a:pt x="12765" y="25527"/>
                  </a:moveTo>
                  <a:cubicBezTo>
                    <a:pt x="19813" y="25527"/>
                    <a:pt x="25528" y="19812"/>
                    <a:pt x="25528" y="12763"/>
                  </a:cubicBezTo>
                  <a:cubicBezTo>
                    <a:pt x="25528" y="5715"/>
                    <a:pt x="19813" y="0"/>
                    <a:pt x="12765" y="0"/>
                  </a:cubicBezTo>
                  <a:cubicBezTo>
                    <a:pt x="5716" y="0"/>
                    <a:pt x="1" y="5715"/>
                    <a:pt x="1" y="12763"/>
                  </a:cubicBezTo>
                  <a:cubicBezTo>
                    <a:pt x="-94" y="19812"/>
                    <a:pt x="5716" y="25527"/>
                    <a:pt x="12765" y="25527"/>
                  </a:cubicBezTo>
                  <a:close/>
                </a:path>
              </a:pathLst>
            </a:custGeom>
            <a:grpFill/>
            <a:ln w="9525" cap="flat">
              <a:noFill/>
              <a:prstDash val="solid"/>
              <a:miter/>
            </a:ln>
          </p:spPr>
          <p:txBody>
            <a:bodyPr rtlCol="0" anchor="ctr"/>
            <a:lstStyle/>
            <a:p>
              <a:endParaRPr lang="zh-CN" altLang="en-US"/>
            </a:p>
          </p:txBody>
        </p:sp>
        <p:sp>
          <p:nvSpPr>
            <p:cNvPr id="118" name="任意多边形: 形状 117"/>
            <p:cNvSpPr/>
            <p:nvPr/>
          </p:nvSpPr>
          <p:spPr>
            <a:xfrm>
              <a:off x="5847397" y="3757422"/>
              <a:ext cx="37718" cy="37718"/>
            </a:xfrm>
            <a:custGeom>
              <a:avLst/>
              <a:gdLst>
                <a:gd name="connsiteX0" fmla="*/ 18859 w 37718"/>
                <a:gd name="connsiteY0" fmla="*/ 37719 h 37718"/>
                <a:gd name="connsiteX1" fmla="*/ 37719 w 37718"/>
                <a:gd name="connsiteY1" fmla="*/ 18859 h 37718"/>
                <a:gd name="connsiteX2" fmla="*/ 18859 w 37718"/>
                <a:gd name="connsiteY2" fmla="*/ 0 h 37718"/>
                <a:gd name="connsiteX3" fmla="*/ 0 w 37718"/>
                <a:gd name="connsiteY3" fmla="*/ 18859 h 37718"/>
                <a:gd name="connsiteX4" fmla="*/ 18859 w 37718"/>
                <a:gd name="connsiteY4" fmla="*/ 37719 h 37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8" h="37718">
                  <a:moveTo>
                    <a:pt x="18859" y="37719"/>
                  </a:moveTo>
                  <a:cubicBezTo>
                    <a:pt x="29242" y="37719"/>
                    <a:pt x="37719" y="29242"/>
                    <a:pt x="37719" y="18859"/>
                  </a:cubicBezTo>
                  <a:cubicBezTo>
                    <a:pt x="37719" y="8477"/>
                    <a:pt x="29242" y="0"/>
                    <a:pt x="18859" y="0"/>
                  </a:cubicBezTo>
                  <a:cubicBezTo>
                    <a:pt x="8477" y="0"/>
                    <a:pt x="0" y="8477"/>
                    <a:pt x="0" y="18859"/>
                  </a:cubicBezTo>
                  <a:cubicBezTo>
                    <a:pt x="0" y="29242"/>
                    <a:pt x="8477" y="37719"/>
                    <a:pt x="18859" y="37719"/>
                  </a:cubicBezTo>
                  <a:close/>
                </a:path>
              </a:pathLst>
            </a:custGeom>
            <a:grpFill/>
            <a:ln w="9525" cap="flat">
              <a:noFill/>
              <a:prstDash val="solid"/>
              <a:miter/>
            </a:ln>
          </p:spPr>
          <p:txBody>
            <a:bodyPr rtlCol="0" anchor="ctr"/>
            <a:lstStyle/>
            <a:p>
              <a:endParaRPr lang="zh-CN" altLang="en-US"/>
            </a:p>
          </p:txBody>
        </p:sp>
        <p:sp>
          <p:nvSpPr>
            <p:cNvPr id="119" name="任意多边形: 形状 118"/>
            <p:cNvSpPr/>
            <p:nvPr/>
          </p:nvSpPr>
          <p:spPr>
            <a:xfrm>
              <a:off x="5958363" y="3752850"/>
              <a:ext cx="46672" cy="46767"/>
            </a:xfrm>
            <a:custGeom>
              <a:avLst/>
              <a:gdLst>
                <a:gd name="connsiteX0" fmla="*/ 23336 w 46672"/>
                <a:gd name="connsiteY0" fmla="*/ 46768 h 46767"/>
                <a:gd name="connsiteX1" fmla="*/ 46673 w 46672"/>
                <a:gd name="connsiteY1" fmla="*/ 23431 h 46767"/>
                <a:gd name="connsiteX2" fmla="*/ 23336 w 46672"/>
                <a:gd name="connsiteY2" fmla="*/ 0 h 46767"/>
                <a:gd name="connsiteX3" fmla="*/ 0 w 46672"/>
                <a:gd name="connsiteY3" fmla="*/ 23336 h 46767"/>
                <a:gd name="connsiteX4" fmla="*/ 23336 w 46672"/>
                <a:gd name="connsiteY4" fmla="*/ 46768 h 46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72" h="46767">
                  <a:moveTo>
                    <a:pt x="23336" y="46768"/>
                  </a:moveTo>
                  <a:cubicBezTo>
                    <a:pt x="36195" y="46768"/>
                    <a:pt x="46673" y="36290"/>
                    <a:pt x="46673" y="23431"/>
                  </a:cubicBezTo>
                  <a:cubicBezTo>
                    <a:pt x="46673" y="10573"/>
                    <a:pt x="36195" y="0"/>
                    <a:pt x="23336" y="0"/>
                  </a:cubicBezTo>
                  <a:cubicBezTo>
                    <a:pt x="10478" y="0"/>
                    <a:pt x="0" y="10477"/>
                    <a:pt x="0" y="23336"/>
                  </a:cubicBezTo>
                  <a:cubicBezTo>
                    <a:pt x="0" y="36195"/>
                    <a:pt x="10382" y="46768"/>
                    <a:pt x="23336" y="46768"/>
                  </a:cubicBezTo>
                  <a:close/>
                </a:path>
              </a:pathLst>
            </a:custGeom>
            <a:grpFill/>
            <a:ln w="9525" cap="flat">
              <a:noFill/>
              <a:prstDash val="solid"/>
              <a:miter/>
            </a:ln>
          </p:spPr>
          <p:txBody>
            <a:bodyPr rtlCol="0" anchor="ctr"/>
            <a:lstStyle/>
            <a:p>
              <a:endParaRPr lang="zh-CN" altLang="en-US"/>
            </a:p>
          </p:txBody>
        </p:sp>
        <p:sp>
          <p:nvSpPr>
            <p:cNvPr id="120" name="任意多边形: 形状 119"/>
            <p:cNvSpPr/>
            <p:nvPr/>
          </p:nvSpPr>
          <p:spPr>
            <a:xfrm>
              <a:off x="6072092" y="3751325"/>
              <a:ext cx="49910" cy="49911"/>
            </a:xfrm>
            <a:custGeom>
              <a:avLst/>
              <a:gdLst>
                <a:gd name="connsiteX0" fmla="*/ 24955 w 49910"/>
                <a:gd name="connsiteY0" fmla="*/ 49911 h 49911"/>
                <a:gd name="connsiteX1" fmla="*/ 49911 w 49910"/>
                <a:gd name="connsiteY1" fmla="*/ 24956 h 49911"/>
                <a:gd name="connsiteX2" fmla="*/ 24955 w 49910"/>
                <a:gd name="connsiteY2" fmla="*/ 0 h 49911"/>
                <a:gd name="connsiteX3" fmla="*/ 0 w 49910"/>
                <a:gd name="connsiteY3" fmla="*/ 24956 h 49911"/>
                <a:gd name="connsiteX4" fmla="*/ 24955 w 49910"/>
                <a:gd name="connsiteY4" fmla="*/ 49911 h 49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10" h="49911">
                  <a:moveTo>
                    <a:pt x="24955" y="49911"/>
                  </a:moveTo>
                  <a:cubicBezTo>
                    <a:pt x="38767" y="49911"/>
                    <a:pt x="49911" y="38767"/>
                    <a:pt x="49911" y="24956"/>
                  </a:cubicBezTo>
                  <a:cubicBezTo>
                    <a:pt x="49911" y="11144"/>
                    <a:pt x="38767" y="0"/>
                    <a:pt x="24955" y="0"/>
                  </a:cubicBezTo>
                  <a:cubicBezTo>
                    <a:pt x="11144" y="0"/>
                    <a:pt x="0" y="11144"/>
                    <a:pt x="0" y="24956"/>
                  </a:cubicBezTo>
                  <a:cubicBezTo>
                    <a:pt x="0" y="38672"/>
                    <a:pt x="11144" y="49911"/>
                    <a:pt x="24955" y="49911"/>
                  </a:cubicBezTo>
                  <a:close/>
                </a:path>
              </a:pathLst>
            </a:custGeom>
            <a:grpFill/>
            <a:ln w="9525" cap="flat">
              <a:noFill/>
              <a:prstDash val="solid"/>
              <a:miter/>
            </a:ln>
          </p:spPr>
          <p:txBody>
            <a:bodyPr rtlCol="0" anchor="ctr"/>
            <a:lstStyle/>
            <a:p>
              <a:endParaRPr lang="zh-CN" altLang="en-US"/>
            </a:p>
          </p:txBody>
        </p:sp>
        <p:sp>
          <p:nvSpPr>
            <p:cNvPr id="121" name="任意多边形: 形状 120"/>
            <p:cNvSpPr/>
            <p:nvPr/>
          </p:nvSpPr>
          <p:spPr>
            <a:xfrm>
              <a:off x="6188773" y="3752468"/>
              <a:ext cx="47434" cy="47434"/>
            </a:xfrm>
            <a:custGeom>
              <a:avLst/>
              <a:gdLst>
                <a:gd name="connsiteX0" fmla="*/ 23717 w 47434"/>
                <a:gd name="connsiteY0" fmla="*/ 47435 h 47434"/>
                <a:gd name="connsiteX1" fmla="*/ 47435 w 47434"/>
                <a:gd name="connsiteY1" fmla="*/ 23717 h 47434"/>
                <a:gd name="connsiteX2" fmla="*/ 23717 w 47434"/>
                <a:gd name="connsiteY2" fmla="*/ 0 h 47434"/>
                <a:gd name="connsiteX3" fmla="*/ 0 w 47434"/>
                <a:gd name="connsiteY3" fmla="*/ 23717 h 47434"/>
                <a:gd name="connsiteX4" fmla="*/ 23717 w 47434"/>
                <a:gd name="connsiteY4" fmla="*/ 47435 h 47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4" h="47434">
                  <a:moveTo>
                    <a:pt x="23717" y="47435"/>
                  </a:moveTo>
                  <a:cubicBezTo>
                    <a:pt x="36767" y="47435"/>
                    <a:pt x="47435" y="36862"/>
                    <a:pt x="47435" y="23717"/>
                  </a:cubicBezTo>
                  <a:cubicBezTo>
                    <a:pt x="47435" y="10668"/>
                    <a:pt x="36862" y="0"/>
                    <a:pt x="23717" y="0"/>
                  </a:cubicBezTo>
                  <a:cubicBezTo>
                    <a:pt x="10573" y="0"/>
                    <a:pt x="0" y="10573"/>
                    <a:pt x="0" y="23717"/>
                  </a:cubicBezTo>
                  <a:cubicBezTo>
                    <a:pt x="0" y="36862"/>
                    <a:pt x="10573" y="47435"/>
                    <a:pt x="23717" y="47435"/>
                  </a:cubicBezTo>
                  <a:close/>
                </a:path>
              </a:pathLst>
            </a:custGeom>
            <a:grpFill/>
            <a:ln w="9525" cap="flat">
              <a:noFill/>
              <a:prstDash val="solid"/>
              <a:miter/>
            </a:ln>
          </p:spPr>
          <p:txBody>
            <a:bodyPr rtlCol="0" anchor="ctr"/>
            <a:lstStyle/>
            <a:p>
              <a:endParaRPr lang="zh-CN" altLang="en-US"/>
            </a:p>
          </p:txBody>
        </p:sp>
        <p:sp>
          <p:nvSpPr>
            <p:cNvPr id="122" name="任意多边形: 形状 121"/>
            <p:cNvSpPr/>
            <p:nvPr/>
          </p:nvSpPr>
          <p:spPr>
            <a:xfrm>
              <a:off x="6308312" y="3756755"/>
              <a:ext cx="39052" cy="39052"/>
            </a:xfrm>
            <a:custGeom>
              <a:avLst/>
              <a:gdLst>
                <a:gd name="connsiteX0" fmla="*/ 19526 w 39052"/>
                <a:gd name="connsiteY0" fmla="*/ 39052 h 39052"/>
                <a:gd name="connsiteX1" fmla="*/ 39052 w 39052"/>
                <a:gd name="connsiteY1" fmla="*/ 19526 h 39052"/>
                <a:gd name="connsiteX2" fmla="*/ 19526 w 39052"/>
                <a:gd name="connsiteY2" fmla="*/ 0 h 39052"/>
                <a:gd name="connsiteX3" fmla="*/ 0 w 39052"/>
                <a:gd name="connsiteY3" fmla="*/ 19526 h 39052"/>
                <a:gd name="connsiteX4" fmla="*/ 19526 w 39052"/>
                <a:gd name="connsiteY4" fmla="*/ 39052 h 39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 h="39052">
                  <a:moveTo>
                    <a:pt x="19526" y="39052"/>
                  </a:moveTo>
                  <a:cubicBezTo>
                    <a:pt x="30290" y="39052"/>
                    <a:pt x="39052" y="30289"/>
                    <a:pt x="39052" y="19526"/>
                  </a:cubicBezTo>
                  <a:cubicBezTo>
                    <a:pt x="39052" y="8763"/>
                    <a:pt x="30290" y="0"/>
                    <a:pt x="19526" y="0"/>
                  </a:cubicBezTo>
                  <a:cubicBezTo>
                    <a:pt x="8763" y="0"/>
                    <a:pt x="0" y="8763"/>
                    <a:pt x="0" y="19526"/>
                  </a:cubicBezTo>
                  <a:cubicBezTo>
                    <a:pt x="0" y="30289"/>
                    <a:pt x="8763" y="39052"/>
                    <a:pt x="19526" y="39052"/>
                  </a:cubicBezTo>
                  <a:close/>
                </a:path>
              </a:pathLst>
            </a:custGeom>
            <a:grpFill/>
            <a:ln w="9525" cap="flat">
              <a:noFill/>
              <a:prstDash val="solid"/>
              <a:miter/>
            </a:ln>
          </p:spPr>
          <p:txBody>
            <a:bodyPr rtlCol="0" anchor="ctr"/>
            <a:lstStyle/>
            <a:p>
              <a:endParaRPr lang="zh-CN" altLang="en-US"/>
            </a:p>
          </p:txBody>
        </p:sp>
        <p:sp>
          <p:nvSpPr>
            <p:cNvPr id="123" name="任意多边形: 形状 122"/>
            <p:cNvSpPr/>
            <p:nvPr/>
          </p:nvSpPr>
          <p:spPr>
            <a:xfrm>
              <a:off x="6429851" y="3762851"/>
              <a:ext cx="26860" cy="26860"/>
            </a:xfrm>
            <a:custGeom>
              <a:avLst/>
              <a:gdLst>
                <a:gd name="connsiteX0" fmla="*/ 13430 w 26860"/>
                <a:gd name="connsiteY0" fmla="*/ 26860 h 26860"/>
                <a:gd name="connsiteX1" fmla="*/ 26860 w 26860"/>
                <a:gd name="connsiteY1" fmla="*/ 13430 h 26860"/>
                <a:gd name="connsiteX2" fmla="*/ 13430 w 26860"/>
                <a:gd name="connsiteY2" fmla="*/ 0 h 26860"/>
                <a:gd name="connsiteX3" fmla="*/ 0 w 26860"/>
                <a:gd name="connsiteY3" fmla="*/ 13430 h 26860"/>
                <a:gd name="connsiteX4" fmla="*/ 13430 w 26860"/>
                <a:gd name="connsiteY4" fmla="*/ 26860 h 26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0" h="26860">
                  <a:moveTo>
                    <a:pt x="13430" y="26860"/>
                  </a:moveTo>
                  <a:cubicBezTo>
                    <a:pt x="20860" y="26860"/>
                    <a:pt x="26860" y="20860"/>
                    <a:pt x="26860" y="13430"/>
                  </a:cubicBezTo>
                  <a:cubicBezTo>
                    <a:pt x="26860" y="6001"/>
                    <a:pt x="20860" y="0"/>
                    <a:pt x="13430" y="0"/>
                  </a:cubicBezTo>
                  <a:cubicBezTo>
                    <a:pt x="6001" y="0"/>
                    <a:pt x="0" y="6001"/>
                    <a:pt x="0" y="13430"/>
                  </a:cubicBezTo>
                  <a:cubicBezTo>
                    <a:pt x="0" y="20860"/>
                    <a:pt x="6001" y="26860"/>
                    <a:pt x="13430" y="26860"/>
                  </a:cubicBezTo>
                  <a:close/>
                </a:path>
              </a:pathLst>
            </a:custGeom>
            <a:grpFill/>
            <a:ln w="9525" cap="flat">
              <a:noFill/>
              <a:prstDash val="solid"/>
              <a:miter/>
            </a:ln>
          </p:spPr>
          <p:txBody>
            <a:bodyPr rtlCol="0" anchor="ctr"/>
            <a:lstStyle/>
            <a:p>
              <a:endParaRPr lang="zh-CN" altLang="en-US"/>
            </a:p>
          </p:txBody>
        </p:sp>
        <p:sp>
          <p:nvSpPr>
            <p:cNvPr id="124" name="任意多边形: 形状 123"/>
            <p:cNvSpPr/>
            <p:nvPr/>
          </p:nvSpPr>
          <p:spPr>
            <a:xfrm>
              <a:off x="6552533" y="3770185"/>
              <a:ext cx="12192" cy="12192"/>
            </a:xfrm>
            <a:custGeom>
              <a:avLst/>
              <a:gdLst>
                <a:gd name="connsiteX0" fmla="*/ 12192 w 12192"/>
                <a:gd name="connsiteY0" fmla="*/ 6096 h 12192"/>
                <a:gd name="connsiteX1" fmla="*/ 6096 w 12192"/>
                <a:gd name="connsiteY1" fmla="*/ 12192 h 12192"/>
                <a:gd name="connsiteX2" fmla="*/ 0 w 12192"/>
                <a:gd name="connsiteY2" fmla="*/ 6096 h 12192"/>
                <a:gd name="connsiteX3" fmla="*/ 6096 w 12192"/>
                <a:gd name="connsiteY3" fmla="*/ 0 h 12192"/>
                <a:gd name="connsiteX4" fmla="*/ 12192 w 12192"/>
                <a:gd name="connsiteY4" fmla="*/ 6096 h 12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 h="12192">
                  <a:moveTo>
                    <a:pt x="12192" y="6096"/>
                  </a:moveTo>
                  <a:cubicBezTo>
                    <a:pt x="12192" y="9463"/>
                    <a:pt x="9463" y="12192"/>
                    <a:pt x="6096" y="12192"/>
                  </a:cubicBezTo>
                  <a:cubicBezTo>
                    <a:pt x="2729" y="12192"/>
                    <a:pt x="0" y="9463"/>
                    <a:pt x="0" y="6096"/>
                  </a:cubicBezTo>
                  <a:cubicBezTo>
                    <a:pt x="0" y="2729"/>
                    <a:pt x="2729" y="0"/>
                    <a:pt x="6096" y="0"/>
                  </a:cubicBezTo>
                  <a:cubicBezTo>
                    <a:pt x="9463" y="0"/>
                    <a:pt x="12192" y="2729"/>
                    <a:pt x="12192" y="6096"/>
                  </a:cubicBezTo>
                  <a:close/>
                </a:path>
              </a:pathLst>
            </a:custGeom>
            <a:grpFill/>
            <a:ln w="9525" cap="flat">
              <a:noFill/>
              <a:prstDash val="solid"/>
              <a:miter/>
            </a:ln>
          </p:spPr>
          <p:txBody>
            <a:bodyPr rtlCol="0" anchor="ctr"/>
            <a:lstStyle/>
            <a:p>
              <a:endParaRPr lang="zh-CN" altLang="en-US"/>
            </a:p>
          </p:txBody>
        </p:sp>
        <p:sp>
          <p:nvSpPr>
            <p:cNvPr id="125" name="任意多边形: 形状 124"/>
            <p:cNvSpPr/>
            <p:nvPr/>
          </p:nvSpPr>
          <p:spPr>
            <a:xfrm>
              <a:off x="6673786" y="3775995"/>
              <a:ext cx="571" cy="571"/>
            </a:xfrm>
            <a:custGeom>
              <a:avLst/>
              <a:gdLst>
                <a:gd name="connsiteX0" fmla="*/ 572 w 571"/>
                <a:gd name="connsiteY0" fmla="*/ 286 h 571"/>
                <a:gd name="connsiteX1" fmla="*/ 286 w 571"/>
                <a:gd name="connsiteY1" fmla="*/ 571 h 571"/>
                <a:gd name="connsiteX2" fmla="*/ 0 w 571"/>
                <a:gd name="connsiteY2" fmla="*/ 286 h 571"/>
                <a:gd name="connsiteX3" fmla="*/ 286 w 571"/>
                <a:gd name="connsiteY3" fmla="*/ 0 h 571"/>
                <a:gd name="connsiteX4" fmla="*/ 572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2" y="286"/>
                  </a:moveTo>
                  <a:cubicBezTo>
                    <a:pt x="572" y="444"/>
                    <a:pt x="444" y="571"/>
                    <a:pt x="286" y="571"/>
                  </a:cubicBezTo>
                  <a:cubicBezTo>
                    <a:pt x="128" y="571"/>
                    <a:pt x="0" y="444"/>
                    <a:pt x="0" y="286"/>
                  </a:cubicBezTo>
                  <a:cubicBezTo>
                    <a:pt x="0" y="128"/>
                    <a:pt x="128" y="0"/>
                    <a:pt x="286" y="0"/>
                  </a:cubicBezTo>
                  <a:cubicBezTo>
                    <a:pt x="444" y="0"/>
                    <a:pt x="572" y="128"/>
                    <a:pt x="572" y="286"/>
                  </a:cubicBezTo>
                  <a:close/>
                </a:path>
              </a:pathLst>
            </a:custGeom>
            <a:grpFill/>
            <a:ln w="9525" cap="flat">
              <a:noFill/>
              <a:prstDash val="solid"/>
              <a:miter/>
            </a:ln>
          </p:spPr>
          <p:txBody>
            <a:bodyPr rtlCol="0" anchor="ctr"/>
            <a:lstStyle/>
            <a:p>
              <a:endParaRPr lang="zh-CN" altLang="en-US"/>
            </a:p>
          </p:txBody>
        </p:sp>
        <p:sp>
          <p:nvSpPr>
            <p:cNvPr id="126" name="任意多边形: 形状 125"/>
            <p:cNvSpPr/>
            <p:nvPr/>
          </p:nvSpPr>
          <p:spPr>
            <a:xfrm>
              <a:off x="5634513" y="3890676"/>
              <a:ext cx="1904" cy="1904"/>
            </a:xfrm>
            <a:custGeom>
              <a:avLst/>
              <a:gdLst>
                <a:gd name="connsiteX0" fmla="*/ 952 w 1904"/>
                <a:gd name="connsiteY0" fmla="*/ 1905 h 1904"/>
                <a:gd name="connsiteX1" fmla="*/ 1905 w 1904"/>
                <a:gd name="connsiteY1" fmla="*/ 952 h 1904"/>
                <a:gd name="connsiteX2" fmla="*/ 952 w 1904"/>
                <a:gd name="connsiteY2" fmla="*/ 0 h 1904"/>
                <a:gd name="connsiteX3" fmla="*/ 0 w 1904"/>
                <a:gd name="connsiteY3" fmla="*/ 952 h 1904"/>
                <a:gd name="connsiteX4" fmla="*/ 952 w 1904"/>
                <a:gd name="connsiteY4" fmla="*/ 1905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952" y="1905"/>
                  </a:moveTo>
                  <a:cubicBezTo>
                    <a:pt x="1524" y="1905"/>
                    <a:pt x="1905" y="1429"/>
                    <a:pt x="1905" y="952"/>
                  </a:cubicBezTo>
                  <a:cubicBezTo>
                    <a:pt x="1905" y="381"/>
                    <a:pt x="1429" y="0"/>
                    <a:pt x="952" y="0"/>
                  </a:cubicBezTo>
                  <a:cubicBezTo>
                    <a:pt x="381" y="0"/>
                    <a:pt x="0" y="476"/>
                    <a:pt x="0" y="952"/>
                  </a:cubicBezTo>
                  <a:cubicBezTo>
                    <a:pt x="0" y="1524"/>
                    <a:pt x="476" y="1905"/>
                    <a:pt x="952" y="1905"/>
                  </a:cubicBezTo>
                  <a:close/>
                </a:path>
              </a:pathLst>
            </a:custGeom>
            <a:grpFill/>
            <a:ln w="9525" cap="flat">
              <a:noFill/>
              <a:prstDash val="solid"/>
              <a:miter/>
            </a:ln>
          </p:spPr>
          <p:txBody>
            <a:bodyPr rtlCol="0" anchor="ctr"/>
            <a:lstStyle/>
            <a:p>
              <a:endParaRPr lang="zh-CN" altLang="en-US"/>
            </a:p>
          </p:txBody>
        </p:sp>
        <p:sp>
          <p:nvSpPr>
            <p:cNvPr id="127" name="任意多边形: 形状 126"/>
            <p:cNvSpPr/>
            <p:nvPr/>
          </p:nvSpPr>
          <p:spPr>
            <a:xfrm>
              <a:off x="5745480" y="3886200"/>
              <a:ext cx="10858" cy="10858"/>
            </a:xfrm>
            <a:custGeom>
              <a:avLst/>
              <a:gdLst>
                <a:gd name="connsiteX0" fmla="*/ 10859 w 10858"/>
                <a:gd name="connsiteY0" fmla="*/ 5429 h 10858"/>
                <a:gd name="connsiteX1" fmla="*/ 5429 w 10858"/>
                <a:gd name="connsiteY1" fmla="*/ 10858 h 10858"/>
                <a:gd name="connsiteX2" fmla="*/ 0 w 10858"/>
                <a:gd name="connsiteY2" fmla="*/ 5429 h 10858"/>
                <a:gd name="connsiteX3" fmla="*/ 5429 w 10858"/>
                <a:gd name="connsiteY3" fmla="*/ 0 h 10858"/>
                <a:gd name="connsiteX4" fmla="*/ 10859 w 10858"/>
                <a:gd name="connsiteY4" fmla="*/ 5429 h 10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8" h="10858">
                  <a:moveTo>
                    <a:pt x="10859" y="5429"/>
                  </a:moveTo>
                  <a:cubicBezTo>
                    <a:pt x="10859" y="8428"/>
                    <a:pt x="8428" y="10858"/>
                    <a:pt x="5429" y="10858"/>
                  </a:cubicBezTo>
                  <a:cubicBezTo>
                    <a:pt x="2431" y="10858"/>
                    <a:pt x="0" y="8428"/>
                    <a:pt x="0" y="5429"/>
                  </a:cubicBezTo>
                  <a:cubicBezTo>
                    <a:pt x="0" y="2431"/>
                    <a:pt x="2431" y="0"/>
                    <a:pt x="5429" y="0"/>
                  </a:cubicBezTo>
                  <a:cubicBezTo>
                    <a:pt x="8428" y="0"/>
                    <a:pt x="10859" y="2431"/>
                    <a:pt x="10859" y="5429"/>
                  </a:cubicBezTo>
                  <a:close/>
                </a:path>
              </a:pathLst>
            </a:custGeom>
            <a:grpFill/>
            <a:ln w="9525" cap="flat">
              <a:noFill/>
              <a:prstDash val="solid"/>
              <a:miter/>
            </a:ln>
          </p:spPr>
          <p:txBody>
            <a:bodyPr rtlCol="0" anchor="ctr"/>
            <a:lstStyle/>
            <a:p>
              <a:endParaRPr lang="zh-CN" altLang="en-US"/>
            </a:p>
          </p:txBody>
        </p:sp>
        <p:sp>
          <p:nvSpPr>
            <p:cNvPr id="128" name="任意多边形: 形状 127"/>
            <p:cNvSpPr/>
            <p:nvPr/>
          </p:nvSpPr>
          <p:spPr>
            <a:xfrm>
              <a:off x="5855684" y="3881056"/>
              <a:ext cx="21145" cy="21145"/>
            </a:xfrm>
            <a:custGeom>
              <a:avLst/>
              <a:gdLst>
                <a:gd name="connsiteX0" fmla="*/ 21146 w 21145"/>
                <a:gd name="connsiteY0" fmla="*/ 10573 h 21145"/>
                <a:gd name="connsiteX1" fmla="*/ 10573 w 21145"/>
                <a:gd name="connsiteY1" fmla="*/ 21146 h 21145"/>
                <a:gd name="connsiteX2" fmla="*/ 0 w 21145"/>
                <a:gd name="connsiteY2" fmla="*/ 10573 h 21145"/>
                <a:gd name="connsiteX3" fmla="*/ 10573 w 21145"/>
                <a:gd name="connsiteY3" fmla="*/ 0 h 21145"/>
                <a:gd name="connsiteX4" fmla="*/ 21146 w 21145"/>
                <a:gd name="connsiteY4" fmla="*/ 10573 h 211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5" h="21145">
                  <a:moveTo>
                    <a:pt x="21146" y="10573"/>
                  </a:moveTo>
                  <a:cubicBezTo>
                    <a:pt x="21146" y="16412"/>
                    <a:pt x="16412" y="21146"/>
                    <a:pt x="10573" y="21146"/>
                  </a:cubicBezTo>
                  <a:cubicBezTo>
                    <a:pt x="4734" y="21146"/>
                    <a:pt x="0" y="16412"/>
                    <a:pt x="0" y="10573"/>
                  </a:cubicBezTo>
                  <a:cubicBezTo>
                    <a:pt x="0" y="4734"/>
                    <a:pt x="4734" y="0"/>
                    <a:pt x="10573" y="0"/>
                  </a:cubicBezTo>
                  <a:cubicBezTo>
                    <a:pt x="16412" y="0"/>
                    <a:pt x="21146" y="4734"/>
                    <a:pt x="21146" y="10573"/>
                  </a:cubicBezTo>
                  <a:close/>
                </a:path>
              </a:pathLst>
            </a:custGeom>
            <a:grpFill/>
            <a:ln w="9525" cap="flat">
              <a:noFill/>
              <a:prstDash val="solid"/>
              <a:miter/>
            </a:ln>
          </p:spPr>
          <p:txBody>
            <a:bodyPr rtlCol="0" anchor="ctr"/>
            <a:lstStyle/>
            <a:p>
              <a:endParaRPr lang="zh-CN" altLang="en-US"/>
            </a:p>
          </p:txBody>
        </p:sp>
        <p:sp>
          <p:nvSpPr>
            <p:cNvPr id="129" name="任意多边形: 形状 128"/>
            <p:cNvSpPr/>
            <p:nvPr/>
          </p:nvSpPr>
          <p:spPr>
            <a:xfrm>
              <a:off x="5967603" y="3877532"/>
              <a:ext cx="28193" cy="28194"/>
            </a:xfrm>
            <a:custGeom>
              <a:avLst/>
              <a:gdLst>
                <a:gd name="connsiteX0" fmla="*/ 14097 w 28193"/>
                <a:gd name="connsiteY0" fmla="*/ 28194 h 28194"/>
                <a:gd name="connsiteX1" fmla="*/ 28194 w 28193"/>
                <a:gd name="connsiteY1" fmla="*/ 14097 h 28194"/>
                <a:gd name="connsiteX2" fmla="*/ 14097 w 28193"/>
                <a:gd name="connsiteY2" fmla="*/ 0 h 28194"/>
                <a:gd name="connsiteX3" fmla="*/ 0 w 28193"/>
                <a:gd name="connsiteY3" fmla="*/ 14097 h 28194"/>
                <a:gd name="connsiteX4" fmla="*/ 14097 w 28193"/>
                <a:gd name="connsiteY4" fmla="*/ 28194 h 28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93" h="28194">
                  <a:moveTo>
                    <a:pt x="14097" y="28194"/>
                  </a:moveTo>
                  <a:cubicBezTo>
                    <a:pt x="21907" y="28194"/>
                    <a:pt x="28194" y="21908"/>
                    <a:pt x="28194" y="14097"/>
                  </a:cubicBezTo>
                  <a:cubicBezTo>
                    <a:pt x="28194" y="6287"/>
                    <a:pt x="21907" y="0"/>
                    <a:pt x="14097" y="0"/>
                  </a:cubicBezTo>
                  <a:cubicBezTo>
                    <a:pt x="6286" y="0"/>
                    <a:pt x="0" y="6287"/>
                    <a:pt x="0" y="14097"/>
                  </a:cubicBezTo>
                  <a:cubicBezTo>
                    <a:pt x="0" y="21908"/>
                    <a:pt x="6286" y="28194"/>
                    <a:pt x="14097" y="28194"/>
                  </a:cubicBezTo>
                  <a:close/>
                </a:path>
              </a:pathLst>
            </a:custGeom>
            <a:grpFill/>
            <a:ln w="9525" cap="flat">
              <a:noFill/>
              <a:prstDash val="solid"/>
              <a:miter/>
            </a:ln>
          </p:spPr>
          <p:txBody>
            <a:bodyPr rtlCol="0" anchor="ctr"/>
            <a:lstStyle/>
            <a:p>
              <a:endParaRPr lang="zh-CN" altLang="en-US"/>
            </a:p>
          </p:txBody>
        </p:sp>
        <p:sp>
          <p:nvSpPr>
            <p:cNvPr id="130" name="任意多边形: 形状 129"/>
            <p:cNvSpPr/>
            <p:nvPr/>
          </p:nvSpPr>
          <p:spPr>
            <a:xfrm>
              <a:off x="6081712" y="3876293"/>
              <a:ext cx="30670" cy="30670"/>
            </a:xfrm>
            <a:custGeom>
              <a:avLst/>
              <a:gdLst>
                <a:gd name="connsiteX0" fmla="*/ 15335 w 30670"/>
                <a:gd name="connsiteY0" fmla="*/ 30671 h 30670"/>
                <a:gd name="connsiteX1" fmla="*/ 30671 w 30670"/>
                <a:gd name="connsiteY1" fmla="*/ 15335 h 30670"/>
                <a:gd name="connsiteX2" fmla="*/ 15335 w 30670"/>
                <a:gd name="connsiteY2" fmla="*/ 0 h 30670"/>
                <a:gd name="connsiteX3" fmla="*/ 0 w 30670"/>
                <a:gd name="connsiteY3" fmla="*/ 15335 h 30670"/>
                <a:gd name="connsiteX4" fmla="*/ 15335 w 30670"/>
                <a:gd name="connsiteY4" fmla="*/ 30671 h 30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0" h="30670">
                  <a:moveTo>
                    <a:pt x="15335" y="30671"/>
                  </a:moveTo>
                  <a:cubicBezTo>
                    <a:pt x="23813" y="30671"/>
                    <a:pt x="30671" y="23813"/>
                    <a:pt x="30671" y="15335"/>
                  </a:cubicBezTo>
                  <a:cubicBezTo>
                    <a:pt x="30671" y="6858"/>
                    <a:pt x="23813" y="0"/>
                    <a:pt x="15335" y="0"/>
                  </a:cubicBezTo>
                  <a:cubicBezTo>
                    <a:pt x="6858" y="0"/>
                    <a:pt x="0" y="6858"/>
                    <a:pt x="0" y="15335"/>
                  </a:cubicBezTo>
                  <a:cubicBezTo>
                    <a:pt x="0" y="23813"/>
                    <a:pt x="6858" y="30671"/>
                    <a:pt x="15335" y="30671"/>
                  </a:cubicBezTo>
                  <a:close/>
                </a:path>
              </a:pathLst>
            </a:custGeom>
            <a:grpFill/>
            <a:ln w="9525" cap="flat">
              <a:noFill/>
              <a:prstDash val="solid"/>
              <a:miter/>
            </a:ln>
          </p:spPr>
          <p:txBody>
            <a:bodyPr rtlCol="0" anchor="ctr"/>
            <a:lstStyle/>
            <a:p>
              <a:endParaRPr lang="zh-CN" altLang="en-US"/>
            </a:p>
          </p:txBody>
        </p:sp>
        <p:sp>
          <p:nvSpPr>
            <p:cNvPr id="131" name="任意多边形: 形状 130"/>
            <p:cNvSpPr/>
            <p:nvPr/>
          </p:nvSpPr>
          <p:spPr>
            <a:xfrm>
              <a:off x="6198108" y="3877246"/>
              <a:ext cx="28765" cy="28765"/>
            </a:xfrm>
            <a:custGeom>
              <a:avLst/>
              <a:gdLst>
                <a:gd name="connsiteX0" fmla="*/ 14383 w 28765"/>
                <a:gd name="connsiteY0" fmla="*/ 28766 h 28765"/>
                <a:gd name="connsiteX1" fmla="*/ 28765 w 28765"/>
                <a:gd name="connsiteY1" fmla="*/ 14383 h 28765"/>
                <a:gd name="connsiteX2" fmla="*/ 14383 w 28765"/>
                <a:gd name="connsiteY2" fmla="*/ 0 h 28765"/>
                <a:gd name="connsiteX3" fmla="*/ 0 w 28765"/>
                <a:gd name="connsiteY3" fmla="*/ 14383 h 28765"/>
                <a:gd name="connsiteX4" fmla="*/ 14383 w 28765"/>
                <a:gd name="connsiteY4" fmla="*/ 28766 h 28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65" h="28765">
                  <a:moveTo>
                    <a:pt x="14383" y="28766"/>
                  </a:moveTo>
                  <a:cubicBezTo>
                    <a:pt x="22288" y="28766"/>
                    <a:pt x="28765" y="22289"/>
                    <a:pt x="28765" y="14383"/>
                  </a:cubicBezTo>
                  <a:cubicBezTo>
                    <a:pt x="28765" y="6477"/>
                    <a:pt x="22288" y="0"/>
                    <a:pt x="14383" y="0"/>
                  </a:cubicBezTo>
                  <a:cubicBezTo>
                    <a:pt x="6477" y="0"/>
                    <a:pt x="0" y="6477"/>
                    <a:pt x="0" y="14383"/>
                  </a:cubicBezTo>
                  <a:cubicBezTo>
                    <a:pt x="0" y="22289"/>
                    <a:pt x="6382" y="28766"/>
                    <a:pt x="14383" y="28766"/>
                  </a:cubicBezTo>
                  <a:close/>
                </a:path>
              </a:pathLst>
            </a:custGeom>
            <a:grpFill/>
            <a:ln w="9525" cap="flat">
              <a:noFill/>
              <a:prstDash val="solid"/>
              <a:miter/>
            </a:ln>
          </p:spPr>
          <p:txBody>
            <a:bodyPr rtlCol="0" anchor="ctr"/>
            <a:lstStyle/>
            <a:p>
              <a:endParaRPr lang="zh-CN" altLang="en-US"/>
            </a:p>
          </p:txBody>
        </p:sp>
        <p:sp>
          <p:nvSpPr>
            <p:cNvPr id="132" name="任意多边形: 形状 131"/>
            <p:cNvSpPr/>
            <p:nvPr/>
          </p:nvSpPr>
          <p:spPr>
            <a:xfrm>
              <a:off x="6316599" y="3880389"/>
              <a:ext cx="22479" cy="22479"/>
            </a:xfrm>
            <a:custGeom>
              <a:avLst/>
              <a:gdLst>
                <a:gd name="connsiteX0" fmla="*/ 22479 w 22479"/>
                <a:gd name="connsiteY0" fmla="*/ 11239 h 22479"/>
                <a:gd name="connsiteX1" fmla="*/ 11239 w 22479"/>
                <a:gd name="connsiteY1" fmla="*/ 22479 h 22479"/>
                <a:gd name="connsiteX2" fmla="*/ 0 w 22479"/>
                <a:gd name="connsiteY2" fmla="*/ 11239 h 22479"/>
                <a:gd name="connsiteX3" fmla="*/ 11239 w 22479"/>
                <a:gd name="connsiteY3" fmla="*/ 0 h 22479"/>
                <a:gd name="connsiteX4" fmla="*/ 22479 w 22479"/>
                <a:gd name="connsiteY4" fmla="*/ 11239 h 22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22479">
                  <a:moveTo>
                    <a:pt x="22479" y="11239"/>
                  </a:moveTo>
                  <a:cubicBezTo>
                    <a:pt x="22479" y="17447"/>
                    <a:pt x="17447" y="22479"/>
                    <a:pt x="11239" y="22479"/>
                  </a:cubicBezTo>
                  <a:cubicBezTo>
                    <a:pt x="5032" y="22479"/>
                    <a:pt x="0" y="17447"/>
                    <a:pt x="0" y="11239"/>
                  </a:cubicBezTo>
                  <a:cubicBezTo>
                    <a:pt x="0" y="5032"/>
                    <a:pt x="5032" y="0"/>
                    <a:pt x="11239" y="0"/>
                  </a:cubicBezTo>
                  <a:cubicBezTo>
                    <a:pt x="17447" y="0"/>
                    <a:pt x="22479" y="5032"/>
                    <a:pt x="22479" y="11239"/>
                  </a:cubicBezTo>
                  <a:close/>
                </a:path>
              </a:pathLst>
            </a:custGeom>
            <a:grpFill/>
            <a:ln w="9525" cap="flat">
              <a:noFill/>
              <a:prstDash val="solid"/>
              <a:miter/>
            </a:ln>
          </p:spPr>
          <p:txBody>
            <a:bodyPr rtlCol="0" anchor="ctr"/>
            <a:lstStyle/>
            <a:p>
              <a:endParaRPr lang="zh-CN" altLang="en-US"/>
            </a:p>
          </p:txBody>
        </p:sp>
        <p:sp>
          <p:nvSpPr>
            <p:cNvPr id="133" name="任意多边形: 形状 132"/>
            <p:cNvSpPr/>
            <p:nvPr/>
          </p:nvSpPr>
          <p:spPr>
            <a:xfrm>
              <a:off x="6437185" y="3885533"/>
              <a:ext cx="12192" cy="12192"/>
            </a:xfrm>
            <a:custGeom>
              <a:avLst/>
              <a:gdLst>
                <a:gd name="connsiteX0" fmla="*/ 12192 w 12192"/>
                <a:gd name="connsiteY0" fmla="*/ 6096 h 12192"/>
                <a:gd name="connsiteX1" fmla="*/ 6096 w 12192"/>
                <a:gd name="connsiteY1" fmla="*/ 12192 h 12192"/>
                <a:gd name="connsiteX2" fmla="*/ 0 w 12192"/>
                <a:gd name="connsiteY2" fmla="*/ 6096 h 12192"/>
                <a:gd name="connsiteX3" fmla="*/ 6096 w 12192"/>
                <a:gd name="connsiteY3" fmla="*/ 0 h 12192"/>
                <a:gd name="connsiteX4" fmla="*/ 12192 w 12192"/>
                <a:gd name="connsiteY4" fmla="*/ 6096 h 121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 h="12192">
                  <a:moveTo>
                    <a:pt x="12192" y="6096"/>
                  </a:moveTo>
                  <a:cubicBezTo>
                    <a:pt x="12192" y="9463"/>
                    <a:pt x="9463" y="12192"/>
                    <a:pt x="6096" y="12192"/>
                  </a:cubicBezTo>
                  <a:cubicBezTo>
                    <a:pt x="2729" y="12192"/>
                    <a:pt x="0" y="9463"/>
                    <a:pt x="0" y="6096"/>
                  </a:cubicBezTo>
                  <a:cubicBezTo>
                    <a:pt x="0" y="2729"/>
                    <a:pt x="2729" y="0"/>
                    <a:pt x="6096" y="0"/>
                  </a:cubicBezTo>
                  <a:cubicBezTo>
                    <a:pt x="9463" y="0"/>
                    <a:pt x="12192" y="2729"/>
                    <a:pt x="12192" y="6096"/>
                  </a:cubicBezTo>
                  <a:close/>
                </a:path>
              </a:pathLst>
            </a:custGeom>
            <a:grpFill/>
            <a:ln w="9525" cap="flat">
              <a:noFill/>
              <a:prstDash val="solid"/>
              <a:miter/>
            </a:ln>
          </p:spPr>
          <p:txBody>
            <a:bodyPr rtlCol="0" anchor="ctr"/>
            <a:lstStyle/>
            <a:p>
              <a:endParaRPr lang="zh-CN" altLang="en-US"/>
            </a:p>
          </p:txBody>
        </p:sp>
        <p:sp>
          <p:nvSpPr>
            <p:cNvPr id="134" name="任意多边形: 形状 133"/>
            <p:cNvSpPr/>
            <p:nvPr/>
          </p:nvSpPr>
          <p:spPr>
            <a:xfrm>
              <a:off x="6557676" y="3890676"/>
              <a:ext cx="1904" cy="1904"/>
            </a:xfrm>
            <a:custGeom>
              <a:avLst/>
              <a:gdLst>
                <a:gd name="connsiteX0" fmla="*/ 952 w 1904"/>
                <a:gd name="connsiteY0" fmla="*/ 1905 h 1904"/>
                <a:gd name="connsiteX1" fmla="*/ 1905 w 1904"/>
                <a:gd name="connsiteY1" fmla="*/ 952 h 1904"/>
                <a:gd name="connsiteX2" fmla="*/ 952 w 1904"/>
                <a:gd name="connsiteY2" fmla="*/ 0 h 1904"/>
                <a:gd name="connsiteX3" fmla="*/ 0 w 1904"/>
                <a:gd name="connsiteY3" fmla="*/ 952 h 1904"/>
                <a:gd name="connsiteX4" fmla="*/ 952 w 1904"/>
                <a:gd name="connsiteY4" fmla="*/ 1905 h 1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4" h="1904">
                  <a:moveTo>
                    <a:pt x="952" y="1905"/>
                  </a:moveTo>
                  <a:cubicBezTo>
                    <a:pt x="1524" y="1905"/>
                    <a:pt x="1905" y="1429"/>
                    <a:pt x="1905" y="952"/>
                  </a:cubicBezTo>
                  <a:cubicBezTo>
                    <a:pt x="1905" y="381"/>
                    <a:pt x="1429" y="0"/>
                    <a:pt x="952" y="0"/>
                  </a:cubicBezTo>
                  <a:cubicBezTo>
                    <a:pt x="381" y="0"/>
                    <a:pt x="0" y="476"/>
                    <a:pt x="0" y="952"/>
                  </a:cubicBezTo>
                  <a:cubicBezTo>
                    <a:pt x="0" y="1524"/>
                    <a:pt x="476" y="1905"/>
                    <a:pt x="952" y="1905"/>
                  </a:cubicBezTo>
                  <a:close/>
                </a:path>
              </a:pathLst>
            </a:custGeom>
            <a:grpFill/>
            <a:ln w="9525" cap="flat">
              <a:noFill/>
              <a:prstDash val="solid"/>
              <a:miter/>
            </a:ln>
          </p:spPr>
          <p:txBody>
            <a:bodyPr rtlCol="0" anchor="ctr"/>
            <a:lstStyle/>
            <a:p>
              <a:endParaRPr lang="zh-CN" altLang="en-US"/>
            </a:p>
          </p:txBody>
        </p:sp>
        <p:sp>
          <p:nvSpPr>
            <p:cNvPr id="135" name="任意多边形: 形状 134"/>
            <p:cNvSpPr/>
            <p:nvPr/>
          </p:nvSpPr>
          <p:spPr>
            <a:xfrm>
              <a:off x="5750623" y="4006786"/>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sp>
          <p:nvSpPr>
            <p:cNvPr id="136" name="任意多边形: 形状 135"/>
            <p:cNvSpPr/>
            <p:nvPr/>
          </p:nvSpPr>
          <p:spPr>
            <a:xfrm>
              <a:off x="5863685" y="4004500"/>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37" name="任意多边形: 形状 136"/>
            <p:cNvSpPr/>
            <p:nvPr/>
          </p:nvSpPr>
          <p:spPr>
            <a:xfrm>
              <a:off x="5976934" y="4002309"/>
              <a:ext cx="9527" cy="9525"/>
            </a:xfrm>
            <a:custGeom>
              <a:avLst/>
              <a:gdLst>
                <a:gd name="connsiteX0" fmla="*/ 4765 w 9527"/>
                <a:gd name="connsiteY0" fmla="*/ 9525 h 9525"/>
                <a:gd name="connsiteX1" fmla="*/ 9528 w 9527"/>
                <a:gd name="connsiteY1" fmla="*/ 4763 h 9525"/>
                <a:gd name="connsiteX2" fmla="*/ 4765 w 9527"/>
                <a:gd name="connsiteY2" fmla="*/ 0 h 9525"/>
                <a:gd name="connsiteX3" fmla="*/ 3 w 9527"/>
                <a:gd name="connsiteY3" fmla="*/ 4763 h 9525"/>
                <a:gd name="connsiteX4" fmla="*/ 4765 w 9527"/>
                <a:gd name="connsiteY4" fmla="*/ 9525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7" h="9525">
                  <a:moveTo>
                    <a:pt x="4765" y="9525"/>
                  </a:moveTo>
                  <a:cubicBezTo>
                    <a:pt x="7432" y="9525"/>
                    <a:pt x="9528" y="7334"/>
                    <a:pt x="9528" y="4763"/>
                  </a:cubicBezTo>
                  <a:cubicBezTo>
                    <a:pt x="9528" y="2096"/>
                    <a:pt x="7337" y="0"/>
                    <a:pt x="4765" y="0"/>
                  </a:cubicBezTo>
                  <a:cubicBezTo>
                    <a:pt x="2099" y="0"/>
                    <a:pt x="3" y="2191"/>
                    <a:pt x="3" y="4763"/>
                  </a:cubicBezTo>
                  <a:cubicBezTo>
                    <a:pt x="-92" y="7334"/>
                    <a:pt x="2099" y="9525"/>
                    <a:pt x="4765" y="9525"/>
                  </a:cubicBezTo>
                  <a:close/>
                </a:path>
              </a:pathLst>
            </a:custGeom>
            <a:grpFill/>
            <a:ln w="9525" cap="flat">
              <a:noFill/>
              <a:prstDash val="solid"/>
              <a:miter/>
            </a:ln>
          </p:spPr>
          <p:txBody>
            <a:bodyPr rtlCol="0" anchor="ctr"/>
            <a:lstStyle/>
            <a:p>
              <a:endParaRPr lang="zh-CN" altLang="en-US"/>
            </a:p>
          </p:txBody>
        </p:sp>
        <p:sp>
          <p:nvSpPr>
            <p:cNvPr id="138" name="任意多边形: 形状 137"/>
            <p:cNvSpPr/>
            <p:nvPr/>
          </p:nvSpPr>
          <p:spPr>
            <a:xfrm>
              <a:off x="6091332" y="4001357"/>
              <a:ext cx="11430" cy="11429"/>
            </a:xfrm>
            <a:custGeom>
              <a:avLst/>
              <a:gdLst>
                <a:gd name="connsiteX0" fmla="*/ 11430 w 11430"/>
                <a:gd name="connsiteY0" fmla="*/ 5715 h 11429"/>
                <a:gd name="connsiteX1" fmla="*/ 5715 w 11430"/>
                <a:gd name="connsiteY1" fmla="*/ 11430 h 11429"/>
                <a:gd name="connsiteX2" fmla="*/ 0 w 11430"/>
                <a:gd name="connsiteY2" fmla="*/ 5715 h 11429"/>
                <a:gd name="connsiteX3" fmla="*/ 5715 w 11430"/>
                <a:gd name="connsiteY3" fmla="*/ 0 h 11429"/>
                <a:gd name="connsiteX4" fmla="*/ 11430 w 11430"/>
                <a:gd name="connsiteY4" fmla="*/ 5715 h 11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 h="11429">
                  <a:moveTo>
                    <a:pt x="11430" y="5715"/>
                  </a:moveTo>
                  <a:cubicBezTo>
                    <a:pt x="11430" y="8871"/>
                    <a:pt x="8871" y="11430"/>
                    <a:pt x="5715" y="11430"/>
                  </a:cubicBezTo>
                  <a:cubicBezTo>
                    <a:pt x="2559" y="11430"/>
                    <a:pt x="0" y="8871"/>
                    <a:pt x="0" y="5715"/>
                  </a:cubicBezTo>
                  <a:cubicBezTo>
                    <a:pt x="0" y="2559"/>
                    <a:pt x="2559" y="0"/>
                    <a:pt x="5715" y="0"/>
                  </a:cubicBezTo>
                  <a:cubicBezTo>
                    <a:pt x="8871" y="0"/>
                    <a:pt x="11430" y="2559"/>
                    <a:pt x="11430" y="5715"/>
                  </a:cubicBezTo>
                  <a:close/>
                </a:path>
              </a:pathLst>
            </a:custGeom>
            <a:grpFill/>
            <a:ln w="9525" cap="flat">
              <a:noFill/>
              <a:prstDash val="solid"/>
              <a:miter/>
            </a:ln>
          </p:spPr>
          <p:txBody>
            <a:bodyPr rtlCol="0" anchor="ctr"/>
            <a:lstStyle/>
            <a:p>
              <a:endParaRPr lang="zh-CN" altLang="en-US"/>
            </a:p>
          </p:txBody>
        </p:sp>
        <p:sp>
          <p:nvSpPr>
            <p:cNvPr id="139" name="任意多边形: 形状 138"/>
            <p:cNvSpPr/>
            <p:nvPr/>
          </p:nvSpPr>
          <p:spPr>
            <a:xfrm>
              <a:off x="6207347" y="4001928"/>
              <a:ext cx="10287" cy="10287"/>
            </a:xfrm>
            <a:custGeom>
              <a:avLst/>
              <a:gdLst>
                <a:gd name="connsiteX0" fmla="*/ 10287 w 10287"/>
                <a:gd name="connsiteY0" fmla="*/ 5144 h 10287"/>
                <a:gd name="connsiteX1" fmla="*/ 5143 w 10287"/>
                <a:gd name="connsiteY1" fmla="*/ 10287 h 10287"/>
                <a:gd name="connsiteX2" fmla="*/ 0 w 10287"/>
                <a:gd name="connsiteY2" fmla="*/ 5144 h 10287"/>
                <a:gd name="connsiteX3" fmla="*/ 5143 w 10287"/>
                <a:gd name="connsiteY3" fmla="*/ 0 h 10287"/>
                <a:gd name="connsiteX4" fmla="*/ 10287 w 10287"/>
                <a:gd name="connsiteY4" fmla="*/ 5144 h 10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 h="10287">
                  <a:moveTo>
                    <a:pt x="10287" y="5144"/>
                  </a:moveTo>
                  <a:cubicBezTo>
                    <a:pt x="10287" y="7984"/>
                    <a:pt x="7984" y="10287"/>
                    <a:pt x="5143" y="10287"/>
                  </a:cubicBezTo>
                  <a:cubicBezTo>
                    <a:pt x="2303" y="10287"/>
                    <a:pt x="0" y="7984"/>
                    <a:pt x="0" y="5144"/>
                  </a:cubicBezTo>
                  <a:cubicBezTo>
                    <a:pt x="0" y="2303"/>
                    <a:pt x="2303" y="0"/>
                    <a:pt x="5143" y="0"/>
                  </a:cubicBezTo>
                  <a:cubicBezTo>
                    <a:pt x="7984" y="0"/>
                    <a:pt x="10287" y="2303"/>
                    <a:pt x="10287" y="5144"/>
                  </a:cubicBezTo>
                  <a:close/>
                </a:path>
              </a:pathLst>
            </a:custGeom>
            <a:grpFill/>
            <a:ln w="9525" cap="flat">
              <a:noFill/>
              <a:prstDash val="solid"/>
              <a:miter/>
            </a:ln>
          </p:spPr>
          <p:txBody>
            <a:bodyPr rtlCol="0" anchor="ctr"/>
            <a:lstStyle/>
            <a:p>
              <a:endParaRPr lang="zh-CN" altLang="en-US"/>
            </a:p>
          </p:txBody>
        </p:sp>
        <p:sp>
          <p:nvSpPr>
            <p:cNvPr id="140" name="任意多边形: 形状 139"/>
            <p:cNvSpPr/>
            <p:nvPr/>
          </p:nvSpPr>
          <p:spPr>
            <a:xfrm>
              <a:off x="6325266" y="4004500"/>
              <a:ext cx="5143" cy="5143"/>
            </a:xfrm>
            <a:custGeom>
              <a:avLst/>
              <a:gdLst>
                <a:gd name="connsiteX0" fmla="*/ 2572 w 5143"/>
                <a:gd name="connsiteY0" fmla="*/ 5144 h 5143"/>
                <a:gd name="connsiteX1" fmla="*/ 5144 w 5143"/>
                <a:gd name="connsiteY1" fmla="*/ 2572 h 5143"/>
                <a:gd name="connsiteX2" fmla="*/ 2572 w 5143"/>
                <a:gd name="connsiteY2" fmla="*/ 0 h 5143"/>
                <a:gd name="connsiteX3" fmla="*/ 0 w 5143"/>
                <a:gd name="connsiteY3" fmla="*/ 2572 h 5143"/>
                <a:gd name="connsiteX4" fmla="*/ 2572 w 5143"/>
                <a:gd name="connsiteY4" fmla="*/ 5144 h 5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 h="5143">
                  <a:moveTo>
                    <a:pt x="2572" y="5144"/>
                  </a:moveTo>
                  <a:cubicBezTo>
                    <a:pt x="4000" y="5144"/>
                    <a:pt x="5144" y="4000"/>
                    <a:pt x="5144" y="2572"/>
                  </a:cubicBezTo>
                  <a:cubicBezTo>
                    <a:pt x="5144" y="1143"/>
                    <a:pt x="4000" y="0"/>
                    <a:pt x="2572" y="0"/>
                  </a:cubicBezTo>
                  <a:cubicBezTo>
                    <a:pt x="1143" y="0"/>
                    <a:pt x="0" y="1143"/>
                    <a:pt x="0" y="2572"/>
                  </a:cubicBezTo>
                  <a:cubicBezTo>
                    <a:pt x="0" y="4000"/>
                    <a:pt x="1143" y="5144"/>
                    <a:pt x="2572" y="5144"/>
                  </a:cubicBezTo>
                  <a:close/>
                </a:path>
              </a:pathLst>
            </a:custGeom>
            <a:grpFill/>
            <a:ln w="9525" cap="flat">
              <a:noFill/>
              <a:prstDash val="solid"/>
              <a:miter/>
            </a:ln>
          </p:spPr>
          <p:txBody>
            <a:bodyPr rtlCol="0" anchor="ctr"/>
            <a:lstStyle/>
            <a:p>
              <a:endParaRPr lang="zh-CN" altLang="en-US"/>
            </a:p>
          </p:txBody>
        </p:sp>
        <p:sp>
          <p:nvSpPr>
            <p:cNvPr id="141" name="任意多边形: 形状 140"/>
            <p:cNvSpPr/>
            <p:nvPr/>
          </p:nvSpPr>
          <p:spPr>
            <a:xfrm>
              <a:off x="6442995" y="4006786"/>
              <a:ext cx="571" cy="571"/>
            </a:xfrm>
            <a:custGeom>
              <a:avLst/>
              <a:gdLst>
                <a:gd name="connsiteX0" fmla="*/ 571 w 571"/>
                <a:gd name="connsiteY0" fmla="*/ 286 h 571"/>
                <a:gd name="connsiteX1" fmla="*/ 286 w 571"/>
                <a:gd name="connsiteY1" fmla="*/ 572 h 571"/>
                <a:gd name="connsiteX2" fmla="*/ 0 w 571"/>
                <a:gd name="connsiteY2" fmla="*/ 286 h 571"/>
                <a:gd name="connsiteX3" fmla="*/ 286 w 571"/>
                <a:gd name="connsiteY3" fmla="*/ 0 h 571"/>
                <a:gd name="connsiteX4" fmla="*/ 571 w 571"/>
                <a:gd name="connsiteY4" fmla="*/ 286 h 5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 h="571">
                  <a:moveTo>
                    <a:pt x="571" y="286"/>
                  </a:moveTo>
                  <a:cubicBezTo>
                    <a:pt x="571" y="444"/>
                    <a:pt x="444" y="572"/>
                    <a:pt x="286" y="572"/>
                  </a:cubicBezTo>
                  <a:cubicBezTo>
                    <a:pt x="128" y="572"/>
                    <a:pt x="0" y="444"/>
                    <a:pt x="0" y="286"/>
                  </a:cubicBezTo>
                  <a:cubicBezTo>
                    <a:pt x="0" y="128"/>
                    <a:pt x="128" y="0"/>
                    <a:pt x="286" y="0"/>
                  </a:cubicBezTo>
                  <a:cubicBezTo>
                    <a:pt x="444" y="0"/>
                    <a:pt x="571" y="128"/>
                    <a:pt x="571" y="286"/>
                  </a:cubicBezTo>
                  <a:close/>
                </a:path>
              </a:pathLst>
            </a:custGeom>
            <a:grpFill/>
            <a:ln w="9525" cap="flat">
              <a:noFill/>
              <a:prstDash val="solid"/>
              <a:miter/>
            </a:ln>
          </p:spPr>
          <p:txBody>
            <a:bodyPr rtlCol="0" anchor="ctr"/>
            <a:lstStyle/>
            <a:p>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0" y="0"/>
            <a:ext cx="173754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1" name="图片 30"/>
          <p:cNvPicPr>
            <a:picLocks noChangeAspect="1"/>
          </p:cNvPicPr>
          <p:nvPr userDrawn="1"/>
        </p:nvPicPr>
        <p:blipFill rotWithShape="1">
          <a:blip r:embed="rId2" cstate="print">
            <a:extLst>
              <a:ext uri="{28A0092B-C50C-407E-A947-70E740481C1C}">
                <a14:useLocalDpi xmlns:a14="http://schemas.microsoft.com/office/drawing/2010/main" val="0"/>
              </a:ext>
            </a:extLst>
          </a:blip>
          <a:srcRect r="80387"/>
          <a:stretch>
            <a:fillRect/>
          </a:stretch>
        </p:blipFill>
        <p:spPr>
          <a:xfrm>
            <a:off x="461760" y="396652"/>
            <a:ext cx="869688" cy="831909"/>
          </a:xfrm>
          <a:prstGeom prst="rect">
            <a:avLst/>
          </a:prstGeom>
        </p:spPr>
      </p:pic>
      <p:sp>
        <p:nvSpPr>
          <p:cNvPr id="30" name="矩形 29"/>
          <p:cNvSpPr/>
          <p:nvPr userDrawn="1"/>
        </p:nvSpPr>
        <p:spPr>
          <a:xfrm>
            <a:off x="11671301" y="6337301"/>
            <a:ext cx="520700" cy="520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9367194" y="6415088"/>
            <a:ext cx="2743200" cy="365125"/>
          </a:xfrm>
        </p:spPr>
        <p:txBody>
          <a:bodyPr/>
          <a:lstStyle>
            <a:lvl1pPr>
              <a:defRPr sz="1400">
                <a:solidFill>
                  <a:schemeClr val="bg1"/>
                </a:solidFill>
              </a:defRPr>
            </a:lvl1pPr>
          </a:lstStyle>
          <a:p>
            <a:fld id="{3E75C6D3-133E-4A51-8F1C-F484242B8F05}"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75C6D3-133E-4A51-8F1C-F484242B8F05}"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5C6D3-133E-4A51-8F1C-F484242B8F0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notesSlide" Target="../notesSlides/notesSlide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slide" Target="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23.xml"/><Relationship Id="rId7" Type="http://schemas.openxmlformats.org/officeDocument/2006/relationships/notesSlide" Target="../notesSlides/notesSlide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Layout" Target="../slideLayouts/slideLayout3.xml"/><Relationship Id="rId5" Type="http://schemas.openxmlformats.org/officeDocument/2006/relationships/tags" Target="../tags/tag25.xml"/><Relationship Id="rId10" Type="http://schemas.openxmlformats.org/officeDocument/2006/relationships/image" Target="../media/image6.png"/><Relationship Id="rId4" Type="http://schemas.openxmlformats.org/officeDocument/2006/relationships/tags" Target="../tags/tag24.xml"/><Relationship Id="rId9"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28.xml"/><Relationship Id="rId7" Type="http://schemas.openxmlformats.org/officeDocument/2006/relationships/notesSlide" Target="../notesSlides/notesSlide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Layout" Target="../slideLayouts/slideLayout3.xml"/><Relationship Id="rId5" Type="http://schemas.openxmlformats.org/officeDocument/2006/relationships/tags" Target="../tags/tag30.xml"/><Relationship Id="rId10" Type="http://schemas.openxmlformats.org/officeDocument/2006/relationships/image" Target="../media/image8.png"/><Relationship Id="rId4" Type="http://schemas.openxmlformats.org/officeDocument/2006/relationships/tags" Target="../tags/tag29.xml"/><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33.xml"/><Relationship Id="rId7" Type="http://schemas.openxmlformats.org/officeDocument/2006/relationships/notesSlide" Target="../notesSlides/notesSlide9.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slideLayout" Target="../slideLayouts/slideLayout3.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38.xml"/><Relationship Id="rId7" Type="http://schemas.openxmlformats.org/officeDocument/2006/relationships/notesSlide" Target="../notesSlides/notesSlide10.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3.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1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43.xml"/><Relationship Id="rId7" Type="http://schemas.openxmlformats.org/officeDocument/2006/relationships/notesSlide" Target="../notesSlides/notesSlide11.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slideLayout" Target="../slideLayouts/slideLayout3.xml"/><Relationship Id="rId5" Type="http://schemas.openxmlformats.org/officeDocument/2006/relationships/tags" Target="../tags/tag45.xml"/><Relationship Id="rId4" Type="http://schemas.openxmlformats.org/officeDocument/2006/relationships/tags" Target="../tags/tag44.xml"/></Relationships>
</file>

<file path=ppt/slides/_rels/slide17.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48.xml"/><Relationship Id="rId7" Type="http://schemas.openxmlformats.org/officeDocument/2006/relationships/notesSlide" Target="../notesSlides/notesSlide1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Layout" Target="../slideLayouts/slideLayout3.xml"/><Relationship Id="rId5" Type="http://schemas.openxmlformats.org/officeDocument/2006/relationships/tags" Target="../tags/tag50.xml"/><Relationship Id="rId10" Type="http://schemas.openxmlformats.org/officeDocument/2006/relationships/image" Target="../media/image12.png"/><Relationship Id="rId4" Type="http://schemas.openxmlformats.org/officeDocument/2006/relationships/tags" Target="../tags/tag49.xml"/><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tags" Target="../tags/tag53.xml"/><Relationship Id="rId7" Type="http://schemas.openxmlformats.org/officeDocument/2006/relationships/notesSlide" Target="../notesSlides/notesSlide1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Layout" Target="../slideLayouts/slideLayout3.xml"/><Relationship Id="rId5" Type="http://schemas.openxmlformats.org/officeDocument/2006/relationships/tags" Target="../tags/tag55.xml"/><Relationship Id="rId4" Type="http://schemas.openxmlformats.org/officeDocument/2006/relationships/tags" Target="../tags/tag5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hyperlink" Target="file:///D:\&#22797;&#29616;&#39033;&#30446;&#25972;&#29702;\DISFusion\outputfile.txt" TargetMode="External"/><Relationship Id="rId2" Type="http://schemas.openxmlformats.org/officeDocument/2006/relationships/slide" Target="slide3.xml"/><Relationship Id="rId1" Type="http://schemas.openxmlformats.org/officeDocument/2006/relationships/slideLayout" Target="../slideLayouts/slideLayout3.xml"/><Relationship Id="rId6" Type="http://schemas.openxmlformats.org/officeDocument/2006/relationships/hyperlink" Target="https://github.com/CharlesDeng0814/DISFusion.git" TargetMode="External"/><Relationship Id="rId5" Type="http://schemas.openxmlformats.org/officeDocument/2006/relationships/image" Target="../media/image13.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3" cstate="print">
            <a:alphaModFix amt="60000"/>
            <a:extLst>
              <a:ext uri="{28A0092B-C50C-407E-A947-70E740481C1C}">
                <a14:useLocalDpi xmlns:a14="http://schemas.microsoft.com/office/drawing/2010/main" val="0"/>
              </a:ext>
            </a:extLst>
          </a:blip>
          <a:srcRect l="50151"/>
          <a:stretch>
            <a:fillRect/>
          </a:stretch>
        </p:blipFill>
        <p:spPr>
          <a:xfrm>
            <a:off x="0" y="17891"/>
            <a:ext cx="3439538" cy="6858000"/>
          </a:xfrm>
          <a:prstGeom prst="rect">
            <a:avLst/>
          </a:prstGeom>
        </p:spPr>
      </p:pic>
      <p:sp>
        <p:nvSpPr>
          <p:cNvPr id="2" name="标题 1"/>
          <p:cNvSpPr>
            <a:spLocks noGrp="1"/>
          </p:cNvSpPr>
          <p:nvPr>
            <p:ph type="ctrTitle"/>
          </p:nvPr>
        </p:nvSpPr>
        <p:spPr>
          <a:xfrm>
            <a:off x="578485" y="1396365"/>
            <a:ext cx="8442325" cy="2107565"/>
          </a:xfrm>
        </p:spPr>
        <p:txBody>
          <a:bodyPr>
            <a:noAutofit/>
          </a:bodyPr>
          <a:lstStyle/>
          <a:p>
            <a:pPr algn="ctr">
              <a:lnSpc>
                <a:spcPct val="130000"/>
              </a:lnSpc>
            </a:pPr>
            <a:br>
              <a:rPr lang="en-US" altLang="zh-CN" sz="2400" b="1" dirty="0">
                <a:solidFill>
                  <a:schemeClr val="tx1">
                    <a:lumMod val="65000"/>
                    <a:lumOff val="35000"/>
                  </a:schemeClr>
                </a:solidFill>
                <a:latin typeface="黑体" panose="02010609060101010101" pitchFamily="49" charset="-122"/>
                <a:ea typeface="黑体" panose="02010609060101010101" pitchFamily="49" charset="-122"/>
              </a:rPr>
            </a:br>
            <a:r>
              <a:rPr lang="zh-CN" altLang="en-US" sz="4000" b="1" dirty="0">
                <a:solidFill>
                  <a:schemeClr val="accent1"/>
                </a:solidFill>
                <a:latin typeface="黑体" panose="02010609060101010101" pitchFamily="49" charset="-122"/>
                <a:ea typeface="黑体" panose="02010609060101010101" pitchFamily="49" charset="-122"/>
              </a:rPr>
              <a:t>通过增强</a:t>
            </a:r>
            <a:r>
              <a:rPr lang="en-US" altLang="zh-CN" sz="4000" b="1" dirty="0">
                <a:solidFill>
                  <a:schemeClr val="accent1"/>
                </a:solidFill>
                <a:latin typeface="黑体" panose="02010609060101010101" pitchFamily="49" charset="-122"/>
                <a:ea typeface="黑体" panose="02010609060101010101" pitchFamily="49" charset="-122"/>
              </a:rPr>
              <a:t>PPI</a:t>
            </a:r>
            <a:r>
              <a:rPr lang="zh-CN" altLang="en-US" sz="4000" b="1" dirty="0">
                <a:solidFill>
                  <a:schemeClr val="accent1"/>
                </a:solidFill>
                <a:latin typeface="黑体" panose="02010609060101010101" pitchFamily="49" charset="-122"/>
                <a:ea typeface="黑体" panose="02010609060101010101" pitchFamily="49" charset="-122"/>
              </a:rPr>
              <a:t>网络与基因功能关联</a:t>
            </a:r>
            <a:br>
              <a:rPr lang="zh-CN" altLang="en-US" sz="4000" b="1" dirty="0">
                <a:solidFill>
                  <a:schemeClr val="accent1"/>
                </a:solidFill>
                <a:latin typeface="黑体" panose="02010609060101010101" pitchFamily="49" charset="-122"/>
                <a:ea typeface="黑体" panose="02010609060101010101" pitchFamily="49" charset="-122"/>
              </a:rPr>
            </a:br>
            <a:r>
              <a:rPr lang="zh-CN" altLang="en-US" sz="4000" b="1" dirty="0">
                <a:solidFill>
                  <a:schemeClr val="accent1"/>
                </a:solidFill>
                <a:latin typeface="黑体" panose="02010609060101010101" pitchFamily="49" charset="-122"/>
                <a:ea typeface="黑体" panose="02010609060101010101" pitchFamily="49" charset="-122"/>
              </a:rPr>
              <a:t>之间的共同信息来改进癌症基因预测</a:t>
            </a:r>
            <a:endParaRPr lang="en-US" altLang="zh-CN" sz="4000" b="1" dirty="0">
              <a:solidFill>
                <a:schemeClr val="accent1"/>
              </a:solidFill>
              <a:latin typeface="黑体" panose="02010609060101010101" pitchFamily="49" charset="-122"/>
              <a:ea typeface="黑体" panose="02010609060101010101" pitchFamily="49" charset="-122"/>
            </a:endParaRPr>
          </a:p>
        </p:txBody>
      </p:sp>
      <p:sp>
        <p:nvSpPr>
          <p:cNvPr id="5" name="矩形 4"/>
          <p:cNvSpPr/>
          <p:nvPr/>
        </p:nvSpPr>
        <p:spPr>
          <a:xfrm>
            <a:off x="9266841" y="0"/>
            <a:ext cx="18783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020174" y="2243138"/>
            <a:ext cx="2371725" cy="2371725"/>
          </a:xfrm>
          <a:prstGeom prst="ellipse">
            <a:avLst/>
          </a:prstGeom>
          <a:solidFill>
            <a:schemeClr val="bg1"/>
          </a:solidFill>
          <a:ln>
            <a:noFill/>
          </a:ln>
          <a:effectLst>
            <a:glow rad="1270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p:cNvCxnSpPr/>
          <p:nvPr/>
        </p:nvCxnSpPr>
        <p:spPr>
          <a:xfrm flipV="1">
            <a:off x="2858267" y="1184397"/>
            <a:ext cx="4167505" cy="1905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a:xfrm>
            <a:off x="3166533" y="3886395"/>
            <a:ext cx="3550972" cy="1477328"/>
          </a:xfrm>
          <a:prstGeom prst="rect">
            <a:avLst/>
          </a:prstGeom>
          <a:noFill/>
        </p:spPr>
        <p:txBody>
          <a:bodyPr wrap="none" rtlCol="0">
            <a:spAutoFit/>
          </a:bodyPr>
          <a:lstStyle/>
          <a:p>
            <a:r>
              <a:rPr lang="zh-CN" altLang="en-US" dirty="0">
                <a:latin typeface="+mn-ea"/>
              </a:rPr>
              <a:t>姓    名：刘静芸，</a:t>
            </a:r>
            <a:r>
              <a:rPr lang="en-US" altLang="zh-CN" dirty="0">
                <a:latin typeface="+mn-ea"/>
              </a:rPr>
              <a:t> 2024218648</a:t>
            </a:r>
          </a:p>
          <a:p>
            <a:r>
              <a:rPr lang="en-US" altLang="zh-CN" dirty="0">
                <a:latin typeface="+mn-ea"/>
              </a:rPr>
              <a:t>              </a:t>
            </a:r>
            <a:r>
              <a:rPr lang="zh-CN" altLang="en-US" dirty="0">
                <a:latin typeface="+mn-ea"/>
              </a:rPr>
              <a:t>涂璟曼， </a:t>
            </a:r>
            <a:r>
              <a:rPr lang="en-US" altLang="zh-CN" dirty="0">
                <a:latin typeface="+mn-ea"/>
              </a:rPr>
              <a:t>2024218636</a:t>
            </a:r>
          </a:p>
          <a:p>
            <a:r>
              <a:rPr lang="en-US" altLang="zh-CN" dirty="0">
                <a:latin typeface="+mn-ea"/>
              </a:rPr>
              <a:t>              </a:t>
            </a:r>
            <a:r>
              <a:rPr lang="zh-CN" altLang="en-US" dirty="0">
                <a:latin typeface="+mn-ea"/>
              </a:rPr>
              <a:t>李婷婷， </a:t>
            </a:r>
            <a:r>
              <a:rPr lang="en-US" altLang="zh-CN" dirty="0">
                <a:latin typeface="+mn-ea"/>
              </a:rPr>
              <a:t>2024217531</a:t>
            </a:r>
          </a:p>
          <a:p>
            <a:r>
              <a:rPr lang="zh-CN" altLang="en-US" dirty="0">
                <a:latin typeface="+mn-ea"/>
              </a:rPr>
              <a:t>              杨灵欣玥，</a:t>
            </a:r>
            <a:r>
              <a:rPr lang="en-US" altLang="zh-CN" dirty="0">
                <a:latin typeface="+mn-ea"/>
              </a:rPr>
              <a:t>2024218652</a:t>
            </a:r>
          </a:p>
          <a:p>
            <a:r>
              <a:rPr lang="en-US" altLang="zh-CN" dirty="0">
                <a:latin typeface="+mn-ea"/>
              </a:rPr>
              <a:t>              </a:t>
            </a:r>
            <a:r>
              <a:rPr lang="zh-CN" altLang="en-US" dirty="0">
                <a:latin typeface="+mn-ea"/>
              </a:rPr>
              <a:t>裴语，</a:t>
            </a:r>
            <a:r>
              <a:rPr lang="en-US" altLang="zh-CN" dirty="0">
                <a:latin typeface="+mn-ea"/>
              </a:rPr>
              <a:t>2024218631</a:t>
            </a:r>
            <a:endParaRPr lang="zh-CN" altLang="en-US" dirty="0">
              <a:latin typeface="+mn-ea"/>
            </a:endParaRPr>
          </a:p>
        </p:txBody>
      </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85397" y="2250943"/>
            <a:ext cx="2406502" cy="2391897"/>
          </a:xfrm>
          <a:prstGeom prst="rect">
            <a:avLst/>
          </a:prstGeom>
        </p:spPr>
      </p:pic>
      <p:sp>
        <p:nvSpPr>
          <p:cNvPr id="8" name="文本框 7"/>
          <p:cNvSpPr txBox="1"/>
          <p:nvPr/>
        </p:nvSpPr>
        <p:spPr>
          <a:xfrm>
            <a:off x="3166533" y="5500047"/>
            <a:ext cx="2580005" cy="619760"/>
          </a:xfrm>
          <a:prstGeom prst="rect">
            <a:avLst/>
          </a:prstGeom>
          <a:noFill/>
        </p:spPr>
        <p:txBody>
          <a:bodyPr wrap="none" rtlCol="0">
            <a:noAutofit/>
          </a:bodyPr>
          <a:lstStyle/>
          <a:p>
            <a:r>
              <a:rPr lang="zh-CN" altLang="en-US" dirty="0">
                <a:latin typeface="+mn-ea"/>
              </a:rPr>
              <a:t>老    师：</a:t>
            </a:r>
            <a:r>
              <a:rPr lang="en-US" altLang="zh-CN" dirty="0">
                <a:latin typeface="+mn-ea"/>
              </a:rPr>
              <a:t> </a:t>
            </a:r>
            <a:r>
              <a:rPr lang="zh-CN" altLang="en-US" dirty="0">
                <a:latin typeface="+mn-ea"/>
              </a:rPr>
              <a:t>刁云峰，马绘</a:t>
            </a:r>
          </a:p>
        </p:txBody>
      </p:sp>
      <p:sp>
        <p:nvSpPr>
          <p:cNvPr id="3" name="文本框 2"/>
          <p:cNvSpPr txBox="1"/>
          <p:nvPr/>
        </p:nvSpPr>
        <p:spPr>
          <a:xfrm>
            <a:off x="3096260" y="588010"/>
            <a:ext cx="3691890" cy="460375"/>
          </a:xfrm>
          <a:prstGeom prst="rect">
            <a:avLst/>
          </a:prstGeom>
          <a:noFill/>
        </p:spPr>
        <p:txBody>
          <a:bodyPr wrap="square" rtlCol="0">
            <a:spAutoFit/>
          </a:bodyPr>
          <a:lstStyle/>
          <a:p>
            <a:r>
              <a:rPr lang="zh-CN" altLang="en-US" sz="2400">
                <a:highlight>
                  <a:srgbClr val="00FF00"/>
                </a:highlight>
                <a:latin typeface="黑体" panose="02010609060101010101" pitchFamily="49" charset="-122"/>
                <a:ea typeface="黑体" panose="02010609060101010101" pitchFamily="49" charset="-122"/>
              </a:rPr>
              <a:t>智能信息处理小组作业</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矩形: 圆角 174"/>
          <p:cNvSpPr/>
          <p:nvPr>
            <p:custDataLst>
              <p:tags r:id="rId1"/>
            </p:custDataLst>
          </p:nvPr>
        </p:nvSpPr>
        <p:spPr>
          <a:xfrm>
            <a:off x="1066015"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2" name="文本框 171"/>
          <p:cNvSpPr txBox="1"/>
          <p:nvPr>
            <p:custDataLst>
              <p:tags r:id="rId2"/>
            </p:custDataLst>
          </p:nvPr>
        </p:nvSpPr>
        <p:spPr>
          <a:xfrm>
            <a:off x="364310" y="4053987"/>
            <a:ext cx="2143985" cy="1107996"/>
          </a:xfrm>
          <a:prstGeom prst="rect">
            <a:avLst/>
          </a:prstGeom>
          <a:noFill/>
        </p:spPr>
        <p:txBody>
          <a:bodyPr wrap="square">
            <a:spAutoFit/>
          </a:bodyPr>
          <a:lstStyle/>
          <a:p>
            <a:pPr algn="ctr">
              <a:defRPr/>
            </a:pPr>
            <a:r>
              <a:rPr kumimoji="0" lang="zh-CN" altLang="en-US" sz="2200" b="1" i="0" u="none" strike="noStrike" kern="1200" cap="none" spc="0" normalizeH="0" baseline="0" noProof="0" dirty="0">
                <a:ln>
                  <a:noFill/>
                </a:ln>
                <a:solidFill>
                  <a:srgbClr val="000000"/>
                </a:solidFill>
                <a:effectLst/>
                <a:uLnTx/>
                <a:uFillTx/>
                <a:latin typeface="+mj-ea"/>
                <a:ea typeface="+mj-ea"/>
                <a:cs typeface="+mn-cs"/>
              </a:rPr>
              <a:t>摘要</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a:p>
            <a:pPr algn="ctr">
              <a:defRPr/>
            </a:pPr>
            <a:r>
              <a:rPr lang="zh-CN" altLang="en-US" sz="2200" b="1" dirty="0">
                <a:solidFill>
                  <a:srgbClr val="000000"/>
                </a:solidFill>
                <a:latin typeface="+mj-ea"/>
                <a:ea typeface="+mj-ea"/>
              </a:rPr>
              <a:t>介绍 / 引言</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0" name="research_106198"/>
          <p:cNvSpPr/>
          <p:nvPr>
            <p:custDataLst>
              <p:tags r:id="rId3"/>
            </p:custDataLst>
          </p:nvPr>
        </p:nvSpPr>
        <p:spPr>
          <a:xfrm>
            <a:off x="1209900" y="3046472"/>
            <a:ext cx="357472" cy="463239"/>
          </a:xfrm>
          <a:custGeom>
            <a:avLst/>
            <a:gdLst>
              <a:gd name="connsiteX0" fmla="*/ 187633 w 468413"/>
              <a:gd name="connsiteY0" fmla="*/ 448867 h 607004"/>
              <a:gd name="connsiteX1" fmla="*/ 358190 w 468413"/>
              <a:gd name="connsiteY1" fmla="*/ 448867 h 607004"/>
              <a:gd name="connsiteX2" fmla="*/ 358190 w 468413"/>
              <a:gd name="connsiteY2" fmla="*/ 467708 h 607004"/>
              <a:gd name="connsiteX3" fmla="*/ 187633 w 468413"/>
              <a:gd name="connsiteY3" fmla="*/ 467708 h 607004"/>
              <a:gd name="connsiteX4" fmla="*/ 110153 w 468413"/>
              <a:gd name="connsiteY4" fmla="*/ 448867 h 607004"/>
              <a:gd name="connsiteX5" fmla="*/ 156656 w 468413"/>
              <a:gd name="connsiteY5" fmla="*/ 448867 h 607004"/>
              <a:gd name="connsiteX6" fmla="*/ 156656 w 468413"/>
              <a:gd name="connsiteY6" fmla="*/ 467708 h 607004"/>
              <a:gd name="connsiteX7" fmla="*/ 110153 w 468413"/>
              <a:gd name="connsiteY7" fmla="*/ 467708 h 607004"/>
              <a:gd name="connsiteX8" fmla="*/ 187633 w 468413"/>
              <a:gd name="connsiteY8" fmla="*/ 356003 h 607004"/>
              <a:gd name="connsiteX9" fmla="*/ 358190 w 468413"/>
              <a:gd name="connsiteY9" fmla="*/ 356003 h 607004"/>
              <a:gd name="connsiteX10" fmla="*/ 358190 w 468413"/>
              <a:gd name="connsiteY10" fmla="*/ 374844 h 607004"/>
              <a:gd name="connsiteX11" fmla="*/ 187633 w 468413"/>
              <a:gd name="connsiteY11" fmla="*/ 374844 h 607004"/>
              <a:gd name="connsiteX12" fmla="*/ 110153 w 468413"/>
              <a:gd name="connsiteY12" fmla="*/ 356003 h 607004"/>
              <a:gd name="connsiteX13" fmla="*/ 156656 w 468413"/>
              <a:gd name="connsiteY13" fmla="*/ 356003 h 607004"/>
              <a:gd name="connsiteX14" fmla="*/ 156656 w 468413"/>
              <a:gd name="connsiteY14" fmla="*/ 374844 h 607004"/>
              <a:gd name="connsiteX15" fmla="*/ 110153 w 468413"/>
              <a:gd name="connsiteY15" fmla="*/ 374844 h 607004"/>
              <a:gd name="connsiteX16" fmla="*/ 187633 w 468413"/>
              <a:gd name="connsiteY16" fmla="*/ 263209 h 607004"/>
              <a:gd name="connsiteX17" fmla="*/ 358190 w 468413"/>
              <a:gd name="connsiteY17" fmla="*/ 263209 h 607004"/>
              <a:gd name="connsiteX18" fmla="*/ 358190 w 468413"/>
              <a:gd name="connsiteY18" fmla="*/ 281979 h 607004"/>
              <a:gd name="connsiteX19" fmla="*/ 187633 w 468413"/>
              <a:gd name="connsiteY19" fmla="*/ 281979 h 607004"/>
              <a:gd name="connsiteX20" fmla="*/ 110153 w 468413"/>
              <a:gd name="connsiteY20" fmla="*/ 263209 h 607004"/>
              <a:gd name="connsiteX21" fmla="*/ 156656 w 468413"/>
              <a:gd name="connsiteY21" fmla="*/ 263209 h 607004"/>
              <a:gd name="connsiteX22" fmla="*/ 156656 w 468413"/>
              <a:gd name="connsiteY22" fmla="*/ 281979 h 607004"/>
              <a:gd name="connsiteX23" fmla="*/ 110153 w 468413"/>
              <a:gd name="connsiteY23" fmla="*/ 281979 h 607004"/>
              <a:gd name="connsiteX24" fmla="*/ 187633 w 468413"/>
              <a:gd name="connsiteY24" fmla="*/ 170274 h 607004"/>
              <a:gd name="connsiteX25" fmla="*/ 358190 w 468413"/>
              <a:gd name="connsiteY25" fmla="*/ 170274 h 607004"/>
              <a:gd name="connsiteX26" fmla="*/ 358190 w 468413"/>
              <a:gd name="connsiteY26" fmla="*/ 189044 h 607004"/>
              <a:gd name="connsiteX27" fmla="*/ 187633 w 468413"/>
              <a:gd name="connsiteY27" fmla="*/ 189044 h 607004"/>
              <a:gd name="connsiteX28" fmla="*/ 110153 w 468413"/>
              <a:gd name="connsiteY28" fmla="*/ 170274 h 607004"/>
              <a:gd name="connsiteX29" fmla="*/ 156656 w 468413"/>
              <a:gd name="connsiteY29" fmla="*/ 170274 h 607004"/>
              <a:gd name="connsiteX30" fmla="*/ 156656 w 468413"/>
              <a:gd name="connsiteY30" fmla="*/ 189044 h 607004"/>
              <a:gd name="connsiteX31" fmla="*/ 110153 w 468413"/>
              <a:gd name="connsiteY31" fmla="*/ 189044 h 607004"/>
              <a:gd name="connsiteX32" fmla="*/ 73013 w 468413"/>
              <a:gd name="connsiteY32" fmla="*/ 96229 h 607004"/>
              <a:gd name="connsiteX33" fmla="*/ 73013 w 468413"/>
              <a:gd name="connsiteY33" fmla="*/ 534009 h 607004"/>
              <a:gd name="connsiteX34" fmla="*/ 395306 w 468413"/>
              <a:gd name="connsiteY34" fmla="*/ 534009 h 607004"/>
              <a:gd name="connsiteX35" fmla="*/ 395306 w 468413"/>
              <a:gd name="connsiteY35" fmla="*/ 96229 h 607004"/>
              <a:gd name="connsiteX36" fmla="*/ 365724 w 468413"/>
              <a:gd name="connsiteY36" fmla="*/ 96229 h 607004"/>
              <a:gd name="connsiteX37" fmla="*/ 342737 w 468413"/>
              <a:gd name="connsiteY37" fmla="*/ 111655 h 607004"/>
              <a:gd name="connsiteX38" fmla="*/ 125676 w 468413"/>
              <a:gd name="connsiteY38" fmla="*/ 111655 h 607004"/>
              <a:gd name="connsiteX39" fmla="*/ 102595 w 468413"/>
              <a:gd name="connsiteY39" fmla="*/ 96229 h 607004"/>
              <a:gd name="connsiteX40" fmla="*/ 18842 w 468413"/>
              <a:gd name="connsiteY40" fmla="*/ 49760 h 607004"/>
              <a:gd name="connsiteX41" fmla="*/ 18842 w 468413"/>
              <a:gd name="connsiteY41" fmla="*/ 588191 h 607004"/>
              <a:gd name="connsiteX42" fmla="*/ 449571 w 468413"/>
              <a:gd name="connsiteY42" fmla="*/ 588191 h 607004"/>
              <a:gd name="connsiteX43" fmla="*/ 449571 w 468413"/>
              <a:gd name="connsiteY43" fmla="*/ 49760 h 607004"/>
              <a:gd name="connsiteX44" fmla="*/ 367608 w 468413"/>
              <a:gd name="connsiteY44" fmla="*/ 49760 h 607004"/>
              <a:gd name="connsiteX45" fmla="*/ 367608 w 468413"/>
              <a:gd name="connsiteY45" fmla="*/ 77416 h 607004"/>
              <a:gd name="connsiteX46" fmla="*/ 414148 w 468413"/>
              <a:gd name="connsiteY46" fmla="*/ 77416 h 607004"/>
              <a:gd name="connsiteX47" fmla="*/ 414148 w 468413"/>
              <a:gd name="connsiteY47" fmla="*/ 552823 h 607004"/>
              <a:gd name="connsiteX48" fmla="*/ 54171 w 468413"/>
              <a:gd name="connsiteY48" fmla="*/ 552823 h 607004"/>
              <a:gd name="connsiteX49" fmla="*/ 54171 w 468413"/>
              <a:gd name="connsiteY49" fmla="*/ 77416 h 607004"/>
              <a:gd name="connsiteX50" fmla="*/ 100710 w 468413"/>
              <a:gd name="connsiteY50" fmla="*/ 77416 h 607004"/>
              <a:gd name="connsiteX51" fmla="*/ 100710 w 468413"/>
              <a:gd name="connsiteY51" fmla="*/ 49760 h 607004"/>
              <a:gd name="connsiteX52" fmla="*/ 164417 w 468413"/>
              <a:gd name="connsiteY52" fmla="*/ 46432 h 607004"/>
              <a:gd name="connsiteX53" fmla="*/ 303925 w 468413"/>
              <a:gd name="connsiteY53" fmla="*/ 46432 h 607004"/>
              <a:gd name="connsiteX54" fmla="*/ 303925 w 468413"/>
              <a:gd name="connsiteY54" fmla="*/ 65273 h 607004"/>
              <a:gd name="connsiteX55" fmla="*/ 164417 w 468413"/>
              <a:gd name="connsiteY55" fmla="*/ 65273 h 607004"/>
              <a:gd name="connsiteX56" fmla="*/ 125676 w 468413"/>
              <a:gd name="connsiteY56" fmla="*/ 18813 h 607004"/>
              <a:gd name="connsiteX57" fmla="*/ 119552 w 468413"/>
              <a:gd name="connsiteY57" fmla="*/ 24927 h 607004"/>
              <a:gd name="connsiteX58" fmla="*/ 119552 w 468413"/>
              <a:gd name="connsiteY58" fmla="*/ 86822 h 607004"/>
              <a:gd name="connsiteX59" fmla="*/ 125676 w 468413"/>
              <a:gd name="connsiteY59" fmla="*/ 92842 h 607004"/>
              <a:gd name="connsiteX60" fmla="*/ 342737 w 468413"/>
              <a:gd name="connsiteY60" fmla="*/ 92842 h 607004"/>
              <a:gd name="connsiteX61" fmla="*/ 348766 w 468413"/>
              <a:gd name="connsiteY61" fmla="*/ 86822 h 607004"/>
              <a:gd name="connsiteX62" fmla="*/ 348766 w 468413"/>
              <a:gd name="connsiteY62" fmla="*/ 24927 h 607004"/>
              <a:gd name="connsiteX63" fmla="*/ 342737 w 468413"/>
              <a:gd name="connsiteY63" fmla="*/ 18813 h 607004"/>
              <a:gd name="connsiteX64" fmla="*/ 125676 w 468413"/>
              <a:gd name="connsiteY64" fmla="*/ 0 h 607004"/>
              <a:gd name="connsiteX65" fmla="*/ 342737 w 468413"/>
              <a:gd name="connsiteY65" fmla="*/ 0 h 607004"/>
              <a:gd name="connsiteX66" fmla="*/ 367608 w 468413"/>
              <a:gd name="connsiteY66" fmla="*/ 24927 h 607004"/>
              <a:gd name="connsiteX67" fmla="*/ 367608 w 468413"/>
              <a:gd name="connsiteY67" fmla="*/ 30947 h 607004"/>
              <a:gd name="connsiteX68" fmla="*/ 468413 w 468413"/>
              <a:gd name="connsiteY68" fmla="*/ 30947 h 607004"/>
              <a:gd name="connsiteX69" fmla="*/ 468413 w 468413"/>
              <a:gd name="connsiteY69" fmla="*/ 607004 h 607004"/>
              <a:gd name="connsiteX70" fmla="*/ 0 w 468413"/>
              <a:gd name="connsiteY70" fmla="*/ 607004 h 607004"/>
              <a:gd name="connsiteX71" fmla="*/ 0 w 468413"/>
              <a:gd name="connsiteY71" fmla="*/ 30947 h 607004"/>
              <a:gd name="connsiteX72" fmla="*/ 100710 w 468413"/>
              <a:gd name="connsiteY72" fmla="*/ 30947 h 607004"/>
              <a:gd name="connsiteX73" fmla="*/ 100710 w 468413"/>
              <a:gd name="connsiteY73" fmla="*/ 24927 h 607004"/>
              <a:gd name="connsiteX74" fmla="*/ 125676 w 468413"/>
              <a:gd name="connsiteY7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68413" h="607004">
                <a:moveTo>
                  <a:pt x="187633" y="448867"/>
                </a:moveTo>
                <a:lnTo>
                  <a:pt x="358190" y="448867"/>
                </a:lnTo>
                <a:lnTo>
                  <a:pt x="358190" y="467708"/>
                </a:lnTo>
                <a:lnTo>
                  <a:pt x="187633" y="467708"/>
                </a:lnTo>
                <a:close/>
                <a:moveTo>
                  <a:pt x="110153" y="448867"/>
                </a:moveTo>
                <a:lnTo>
                  <a:pt x="156656" y="448867"/>
                </a:lnTo>
                <a:lnTo>
                  <a:pt x="156656" y="467708"/>
                </a:lnTo>
                <a:lnTo>
                  <a:pt x="110153" y="467708"/>
                </a:lnTo>
                <a:close/>
                <a:moveTo>
                  <a:pt x="187633" y="356003"/>
                </a:moveTo>
                <a:lnTo>
                  <a:pt x="358190" y="356003"/>
                </a:lnTo>
                <a:lnTo>
                  <a:pt x="358190" y="374844"/>
                </a:lnTo>
                <a:lnTo>
                  <a:pt x="187633" y="374844"/>
                </a:lnTo>
                <a:close/>
                <a:moveTo>
                  <a:pt x="110153" y="356003"/>
                </a:moveTo>
                <a:lnTo>
                  <a:pt x="156656" y="356003"/>
                </a:lnTo>
                <a:lnTo>
                  <a:pt x="156656" y="374844"/>
                </a:lnTo>
                <a:lnTo>
                  <a:pt x="110153" y="374844"/>
                </a:lnTo>
                <a:close/>
                <a:moveTo>
                  <a:pt x="187633" y="263209"/>
                </a:moveTo>
                <a:lnTo>
                  <a:pt x="358190" y="263209"/>
                </a:lnTo>
                <a:lnTo>
                  <a:pt x="358190" y="281979"/>
                </a:lnTo>
                <a:lnTo>
                  <a:pt x="187633" y="281979"/>
                </a:lnTo>
                <a:close/>
                <a:moveTo>
                  <a:pt x="110153" y="263209"/>
                </a:moveTo>
                <a:lnTo>
                  <a:pt x="156656" y="263209"/>
                </a:lnTo>
                <a:lnTo>
                  <a:pt x="156656" y="281979"/>
                </a:lnTo>
                <a:lnTo>
                  <a:pt x="110153" y="281979"/>
                </a:lnTo>
                <a:close/>
                <a:moveTo>
                  <a:pt x="187633" y="170274"/>
                </a:moveTo>
                <a:lnTo>
                  <a:pt x="358190" y="170274"/>
                </a:lnTo>
                <a:lnTo>
                  <a:pt x="358190" y="189044"/>
                </a:lnTo>
                <a:lnTo>
                  <a:pt x="187633" y="189044"/>
                </a:lnTo>
                <a:close/>
                <a:moveTo>
                  <a:pt x="110153" y="170274"/>
                </a:moveTo>
                <a:lnTo>
                  <a:pt x="156656" y="170274"/>
                </a:lnTo>
                <a:lnTo>
                  <a:pt x="156656" y="189044"/>
                </a:lnTo>
                <a:lnTo>
                  <a:pt x="110153" y="189044"/>
                </a:lnTo>
                <a:close/>
                <a:moveTo>
                  <a:pt x="73013" y="96229"/>
                </a:moveTo>
                <a:lnTo>
                  <a:pt x="73013" y="534009"/>
                </a:lnTo>
                <a:lnTo>
                  <a:pt x="395306" y="534009"/>
                </a:lnTo>
                <a:lnTo>
                  <a:pt x="395306" y="96229"/>
                </a:lnTo>
                <a:lnTo>
                  <a:pt x="365724" y="96229"/>
                </a:lnTo>
                <a:cubicBezTo>
                  <a:pt x="362050" y="105259"/>
                  <a:pt x="353100" y="111655"/>
                  <a:pt x="342737" y="111655"/>
                </a:cubicBezTo>
                <a:lnTo>
                  <a:pt x="125676" y="111655"/>
                </a:lnTo>
                <a:cubicBezTo>
                  <a:pt x="115219" y="111655"/>
                  <a:pt x="106269" y="105259"/>
                  <a:pt x="102595" y="96229"/>
                </a:cubicBezTo>
                <a:close/>
                <a:moveTo>
                  <a:pt x="18842" y="49760"/>
                </a:moveTo>
                <a:lnTo>
                  <a:pt x="18842" y="588191"/>
                </a:lnTo>
                <a:lnTo>
                  <a:pt x="449571" y="588191"/>
                </a:lnTo>
                <a:lnTo>
                  <a:pt x="449571" y="49760"/>
                </a:lnTo>
                <a:lnTo>
                  <a:pt x="367608" y="49760"/>
                </a:lnTo>
                <a:lnTo>
                  <a:pt x="367608" y="77416"/>
                </a:lnTo>
                <a:lnTo>
                  <a:pt x="414148" y="77416"/>
                </a:lnTo>
                <a:lnTo>
                  <a:pt x="414148" y="552823"/>
                </a:lnTo>
                <a:lnTo>
                  <a:pt x="54171" y="552823"/>
                </a:lnTo>
                <a:lnTo>
                  <a:pt x="54171" y="77416"/>
                </a:lnTo>
                <a:lnTo>
                  <a:pt x="100710" y="77416"/>
                </a:lnTo>
                <a:lnTo>
                  <a:pt x="100710" y="49760"/>
                </a:lnTo>
                <a:close/>
                <a:moveTo>
                  <a:pt x="164417" y="46432"/>
                </a:moveTo>
                <a:lnTo>
                  <a:pt x="303925" y="46432"/>
                </a:lnTo>
                <a:lnTo>
                  <a:pt x="303925" y="65273"/>
                </a:lnTo>
                <a:lnTo>
                  <a:pt x="164417" y="65273"/>
                </a:lnTo>
                <a:close/>
                <a:moveTo>
                  <a:pt x="125676" y="18813"/>
                </a:moveTo>
                <a:cubicBezTo>
                  <a:pt x="122379" y="18813"/>
                  <a:pt x="119552" y="21635"/>
                  <a:pt x="119552" y="24927"/>
                </a:cubicBezTo>
                <a:lnTo>
                  <a:pt x="119552" y="86822"/>
                </a:lnTo>
                <a:cubicBezTo>
                  <a:pt x="119552" y="90114"/>
                  <a:pt x="122379" y="92842"/>
                  <a:pt x="125676" y="92842"/>
                </a:cubicBezTo>
                <a:lnTo>
                  <a:pt x="342737" y="92842"/>
                </a:lnTo>
                <a:cubicBezTo>
                  <a:pt x="346034" y="92842"/>
                  <a:pt x="348766" y="90114"/>
                  <a:pt x="348766" y="86822"/>
                </a:cubicBezTo>
                <a:lnTo>
                  <a:pt x="348766" y="24927"/>
                </a:lnTo>
                <a:cubicBezTo>
                  <a:pt x="348766" y="21635"/>
                  <a:pt x="346034" y="18813"/>
                  <a:pt x="342737" y="18813"/>
                </a:cubicBezTo>
                <a:close/>
                <a:moveTo>
                  <a:pt x="125676" y="0"/>
                </a:moveTo>
                <a:lnTo>
                  <a:pt x="342737" y="0"/>
                </a:lnTo>
                <a:cubicBezTo>
                  <a:pt x="356397" y="0"/>
                  <a:pt x="367608" y="11194"/>
                  <a:pt x="367608" y="24927"/>
                </a:cubicBezTo>
                <a:lnTo>
                  <a:pt x="367608" y="30947"/>
                </a:lnTo>
                <a:lnTo>
                  <a:pt x="468413" y="30947"/>
                </a:lnTo>
                <a:lnTo>
                  <a:pt x="468413" y="607004"/>
                </a:lnTo>
                <a:lnTo>
                  <a:pt x="0" y="607004"/>
                </a:lnTo>
                <a:lnTo>
                  <a:pt x="0" y="30947"/>
                </a:lnTo>
                <a:lnTo>
                  <a:pt x="100710" y="30947"/>
                </a:lnTo>
                <a:lnTo>
                  <a:pt x="100710" y="24927"/>
                </a:lnTo>
                <a:cubicBezTo>
                  <a:pt x="100710" y="11194"/>
                  <a:pt x="111921" y="0"/>
                  <a:pt x="12567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05" name="矩形: 圆角 204"/>
          <p:cNvSpPr/>
          <p:nvPr>
            <p:custDataLst>
              <p:tags r:id="rId4"/>
            </p:custDataLst>
          </p:nvPr>
        </p:nvSpPr>
        <p:spPr>
          <a:xfrm>
            <a:off x="4229509"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6" name="文本框 205"/>
          <p:cNvSpPr txBox="1"/>
          <p:nvPr>
            <p:custDataLst>
              <p:tags r:id="rId5"/>
            </p:custDataLst>
          </p:nvPr>
        </p:nvSpPr>
        <p:spPr>
          <a:xfrm>
            <a:off x="3480136" y="4090237"/>
            <a:ext cx="2143985"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0000"/>
                </a:solidFill>
                <a:effectLst/>
                <a:uLnTx/>
                <a:uFillTx/>
                <a:latin typeface="+mj-ea"/>
                <a:ea typeface="+mj-ea"/>
                <a:cs typeface="+mn-cs"/>
              </a:rPr>
              <a:t>相关工作</a:t>
            </a:r>
          </a:p>
        </p:txBody>
      </p:sp>
      <p:sp>
        <p:nvSpPr>
          <p:cNvPr id="221" name="research_106198"/>
          <p:cNvSpPr/>
          <p:nvPr>
            <p:custDataLst>
              <p:tags r:id="rId6"/>
            </p:custDataLst>
          </p:nvPr>
        </p:nvSpPr>
        <p:spPr>
          <a:xfrm>
            <a:off x="4387908" y="3046471"/>
            <a:ext cx="328445" cy="463239"/>
          </a:xfrm>
          <a:custGeom>
            <a:avLst/>
            <a:gdLst>
              <a:gd name="T0" fmla="*/ 0 w 9020"/>
              <a:gd name="T1" fmla="*/ 12520 h 12720"/>
              <a:gd name="T2" fmla="*/ 7870 w 9020"/>
              <a:gd name="T3" fmla="*/ 10730 h 12720"/>
              <a:gd name="T4" fmla="*/ 8820 w 9020"/>
              <a:gd name="T5" fmla="*/ 12720 h 12720"/>
              <a:gd name="T6" fmla="*/ 8610 w 9020"/>
              <a:gd name="T7" fmla="*/ 11870 h 12720"/>
              <a:gd name="T8" fmla="*/ 400 w 9020"/>
              <a:gd name="T9" fmla="*/ 11870 h 12720"/>
              <a:gd name="T10" fmla="*/ 2950 w 9020"/>
              <a:gd name="T11" fmla="*/ 6680 h 12720"/>
              <a:gd name="T12" fmla="*/ 2210 w 9020"/>
              <a:gd name="T13" fmla="*/ 5830 h 12720"/>
              <a:gd name="T14" fmla="*/ 4220 w 9020"/>
              <a:gd name="T15" fmla="*/ 5110 h 12720"/>
              <a:gd name="T16" fmla="*/ 3240 w 9020"/>
              <a:gd name="T17" fmla="*/ 6640 h 12720"/>
              <a:gd name="T18" fmla="*/ 3060 w 9020"/>
              <a:gd name="T19" fmla="*/ 6230 h 12720"/>
              <a:gd name="T20" fmla="*/ 2660 w 9020"/>
              <a:gd name="T21" fmla="*/ 5910 h 12720"/>
              <a:gd name="T22" fmla="*/ 5320 w 9020"/>
              <a:gd name="T23" fmla="*/ 2250 h 12720"/>
              <a:gd name="T24" fmla="*/ 6090 w 9020"/>
              <a:gd name="T25" fmla="*/ 970 h 12720"/>
              <a:gd name="T26" fmla="*/ 6970 w 9020"/>
              <a:gd name="T27" fmla="*/ 1680 h 12720"/>
              <a:gd name="T28" fmla="*/ 6020 w 9020"/>
              <a:gd name="T29" fmla="*/ 2750 h 12720"/>
              <a:gd name="T30" fmla="*/ 6540 w 9020"/>
              <a:gd name="T31" fmla="*/ 1600 h 12720"/>
              <a:gd name="T32" fmla="*/ 7140 w 9020"/>
              <a:gd name="T33" fmla="*/ 2020 h 12720"/>
              <a:gd name="T34" fmla="*/ 5780 w 9020"/>
              <a:gd name="T35" fmla="*/ 900 h 12720"/>
              <a:gd name="T36" fmla="*/ 6680 w 9020"/>
              <a:gd name="T37" fmla="*/ 60 h 12720"/>
              <a:gd name="T38" fmla="*/ 7820 w 9020"/>
              <a:gd name="T39" fmla="*/ 1340 h 12720"/>
              <a:gd name="T40" fmla="*/ 6270 w 9020"/>
              <a:gd name="T41" fmla="*/ 860 h 12720"/>
              <a:gd name="T42" fmla="*/ 6580 w 9020"/>
              <a:gd name="T43" fmla="*/ 500 h 12720"/>
              <a:gd name="T44" fmla="*/ 200 w 9020"/>
              <a:gd name="T45" fmla="*/ 9050 h 12720"/>
              <a:gd name="T46" fmla="*/ 200 w 9020"/>
              <a:gd name="T47" fmla="*/ 7520 h 12720"/>
              <a:gd name="T48" fmla="*/ 3710 w 9020"/>
              <a:gd name="T49" fmla="*/ 8850 h 12720"/>
              <a:gd name="T50" fmla="*/ 3310 w 9020"/>
              <a:gd name="T51" fmla="*/ 8650 h 12720"/>
              <a:gd name="T52" fmla="*/ 400 w 9020"/>
              <a:gd name="T53" fmla="*/ 8650 h 12720"/>
              <a:gd name="T54" fmla="*/ 1160 w 9020"/>
              <a:gd name="T55" fmla="*/ 11030 h 12720"/>
              <a:gd name="T56" fmla="*/ 2360 w 9020"/>
              <a:gd name="T57" fmla="*/ 8670 h 12720"/>
              <a:gd name="T58" fmla="*/ 6110 w 9020"/>
              <a:gd name="T59" fmla="*/ 6090 h 12720"/>
              <a:gd name="T60" fmla="*/ 4820 w 9020"/>
              <a:gd name="T61" fmla="*/ 4800 h 12720"/>
              <a:gd name="T62" fmla="*/ 5560 w 9020"/>
              <a:gd name="T63" fmla="*/ 4470 h 12720"/>
              <a:gd name="T64" fmla="*/ 5710 w 9020"/>
              <a:gd name="T65" fmla="*/ 3690 h 12720"/>
              <a:gd name="T66" fmla="*/ 7860 w 9020"/>
              <a:gd name="T67" fmla="*/ 4760 h 12720"/>
              <a:gd name="T68" fmla="*/ 7740 w 9020"/>
              <a:gd name="T69" fmla="*/ 11130 h 12720"/>
              <a:gd name="T70" fmla="*/ 7540 w 9020"/>
              <a:gd name="T71" fmla="*/ 5020 h 12720"/>
              <a:gd name="T72" fmla="*/ 5560 w 9020"/>
              <a:gd name="T73" fmla="*/ 4860 h 12720"/>
              <a:gd name="T74" fmla="*/ 6510 w 9020"/>
              <a:gd name="T75" fmla="*/ 5880 h 12720"/>
              <a:gd name="T76" fmla="*/ 3660 w 9020"/>
              <a:gd name="T77" fmla="*/ 9970 h 12720"/>
              <a:gd name="T78" fmla="*/ 4470 w 9020"/>
              <a:gd name="T79" fmla="*/ 5750 h 12720"/>
              <a:gd name="T80" fmla="*/ 2810 w 9020"/>
              <a:gd name="T81" fmla="*/ 4390 h 12720"/>
              <a:gd name="T82" fmla="*/ 5210 w 9020"/>
              <a:gd name="T83" fmla="*/ 1640 h 12720"/>
              <a:gd name="T84" fmla="*/ 6020 w 9020"/>
              <a:gd name="T85" fmla="*/ 3940 h 12720"/>
              <a:gd name="T86" fmla="*/ 5550 w 9020"/>
              <a:gd name="T87" fmla="*/ 3890 h 12720"/>
              <a:gd name="T88" fmla="*/ 5460 w 9020"/>
              <a:gd name="T89" fmla="*/ 4530 h 12720"/>
              <a:gd name="T90" fmla="*/ 4470 w 9020"/>
              <a:gd name="T91" fmla="*/ 5750 h 12720"/>
              <a:gd name="T92" fmla="*/ 5000 w 9020"/>
              <a:gd name="T93" fmla="*/ 4580 h 12720"/>
              <a:gd name="T94" fmla="*/ 5830 w 9020"/>
              <a:gd name="T95" fmla="*/ 3570 h 12720"/>
              <a:gd name="T96" fmla="*/ 3290 w 9020"/>
              <a:gd name="T97" fmla="*/ 4340 h 12720"/>
              <a:gd name="T98" fmla="*/ 4870 w 9020"/>
              <a:gd name="T99" fmla="*/ 4190 h 12720"/>
              <a:gd name="T100" fmla="*/ 6230 w 9020"/>
              <a:gd name="T101" fmla="*/ 4190 h 12720"/>
              <a:gd name="T102" fmla="*/ 5280 w 9020"/>
              <a:gd name="T103" fmla="*/ 4180 h 12720"/>
              <a:gd name="T104" fmla="*/ 5840 w 9020"/>
              <a:gd name="T105" fmla="*/ 4180 h 12720"/>
              <a:gd name="T106" fmla="*/ 6140 w 9020"/>
              <a:gd name="T107" fmla="*/ 10190 h 12720"/>
              <a:gd name="T108" fmla="*/ 7010 w 9020"/>
              <a:gd name="T109" fmla="*/ 9320 h 12720"/>
              <a:gd name="T110" fmla="*/ 5521 w 9020"/>
              <a:gd name="T111" fmla="*/ 9054 h 12720"/>
              <a:gd name="T112" fmla="*/ 6810 w 9020"/>
              <a:gd name="T113" fmla="*/ 9310 h 12720"/>
              <a:gd name="T114" fmla="*/ 1330 w 9020"/>
              <a:gd name="T115" fmla="*/ 11830 h 12720"/>
              <a:gd name="T116" fmla="*/ 7740 w 9020"/>
              <a:gd name="T117" fmla="*/ 11630 h 12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20" h="12720">
                <a:moveTo>
                  <a:pt x="8820" y="12720"/>
                </a:moveTo>
                <a:lnTo>
                  <a:pt x="200" y="12720"/>
                </a:lnTo>
                <a:cubicBezTo>
                  <a:pt x="90" y="12720"/>
                  <a:pt x="0" y="12630"/>
                  <a:pt x="0" y="12520"/>
                </a:cubicBezTo>
                <a:lnTo>
                  <a:pt x="0" y="11870"/>
                </a:lnTo>
                <a:cubicBezTo>
                  <a:pt x="0" y="11240"/>
                  <a:pt x="510" y="10730"/>
                  <a:pt x="1140" y="10730"/>
                </a:cubicBezTo>
                <a:lnTo>
                  <a:pt x="7870" y="10730"/>
                </a:lnTo>
                <a:cubicBezTo>
                  <a:pt x="8500" y="10730"/>
                  <a:pt x="9010" y="11240"/>
                  <a:pt x="9010" y="11870"/>
                </a:cubicBezTo>
                <a:lnTo>
                  <a:pt x="9010" y="12520"/>
                </a:lnTo>
                <a:cubicBezTo>
                  <a:pt x="9020" y="12630"/>
                  <a:pt x="8930" y="12720"/>
                  <a:pt x="8820" y="12720"/>
                </a:cubicBezTo>
                <a:close/>
                <a:moveTo>
                  <a:pt x="400" y="12320"/>
                </a:moveTo>
                <a:lnTo>
                  <a:pt x="8610" y="12320"/>
                </a:lnTo>
                <a:lnTo>
                  <a:pt x="8610" y="11870"/>
                </a:lnTo>
                <a:cubicBezTo>
                  <a:pt x="8610" y="11460"/>
                  <a:pt x="8280" y="11130"/>
                  <a:pt x="7870" y="11130"/>
                </a:cubicBezTo>
                <a:lnTo>
                  <a:pt x="1140" y="11130"/>
                </a:lnTo>
                <a:cubicBezTo>
                  <a:pt x="730" y="11130"/>
                  <a:pt x="400" y="11460"/>
                  <a:pt x="400" y="11870"/>
                </a:cubicBezTo>
                <a:lnTo>
                  <a:pt x="400" y="12320"/>
                </a:lnTo>
                <a:close/>
                <a:moveTo>
                  <a:pt x="3080" y="6720"/>
                </a:moveTo>
                <a:cubicBezTo>
                  <a:pt x="3040" y="6720"/>
                  <a:pt x="2990" y="6710"/>
                  <a:pt x="2950" y="6680"/>
                </a:cubicBezTo>
                <a:lnTo>
                  <a:pt x="2240" y="6110"/>
                </a:lnTo>
                <a:cubicBezTo>
                  <a:pt x="2200" y="6080"/>
                  <a:pt x="2170" y="6030"/>
                  <a:pt x="2170" y="5980"/>
                </a:cubicBezTo>
                <a:cubicBezTo>
                  <a:pt x="2160" y="5930"/>
                  <a:pt x="2180" y="5870"/>
                  <a:pt x="2210" y="5830"/>
                </a:cubicBezTo>
                <a:lnTo>
                  <a:pt x="3230" y="4570"/>
                </a:lnTo>
                <a:cubicBezTo>
                  <a:pt x="3300" y="4480"/>
                  <a:pt x="3430" y="4470"/>
                  <a:pt x="3510" y="4540"/>
                </a:cubicBezTo>
                <a:lnTo>
                  <a:pt x="4220" y="5110"/>
                </a:lnTo>
                <a:cubicBezTo>
                  <a:pt x="4260" y="5140"/>
                  <a:pt x="4290" y="5190"/>
                  <a:pt x="4290" y="5240"/>
                </a:cubicBezTo>
                <a:cubicBezTo>
                  <a:pt x="4300" y="5290"/>
                  <a:pt x="4280" y="5350"/>
                  <a:pt x="4250" y="5390"/>
                </a:cubicBezTo>
                <a:lnTo>
                  <a:pt x="3240" y="6640"/>
                </a:lnTo>
                <a:cubicBezTo>
                  <a:pt x="3200" y="6690"/>
                  <a:pt x="3140" y="6720"/>
                  <a:pt x="3080" y="6720"/>
                </a:cubicBezTo>
                <a:close/>
                <a:moveTo>
                  <a:pt x="2660" y="5910"/>
                </a:moveTo>
                <a:lnTo>
                  <a:pt x="3060" y="6230"/>
                </a:lnTo>
                <a:lnTo>
                  <a:pt x="3810" y="5300"/>
                </a:lnTo>
                <a:lnTo>
                  <a:pt x="3410" y="4980"/>
                </a:lnTo>
                <a:lnTo>
                  <a:pt x="2660" y="5910"/>
                </a:lnTo>
                <a:close/>
                <a:moveTo>
                  <a:pt x="6020" y="2750"/>
                </a:moveTo>
                <a:cubicBezTo>
                  <a:pt x="5970" y="2750"/>
                  <a:pt x="5930" y="2730"/>
                  <a:pt x="5890" y="2710"/>
                </a:cubicBezTo>
                <a:lnTo>
                  <a:pt x="5320" y="2250"/>
                </a:lnTo>
                <a:cubicBezTo>
                  <a:pt x="5280" y="2220"/>
                  <a:pt x="5250" y="2170"/>
                  <a:pt x="5250" y="2120"/>
                </a:cubicBezTo>
                <a:cubicBezTo>
                  <a:pt x="5240" y="2070"/>
                  <a:pt x="5260" y="2010"/>
                  <a:pt x="5290" y="1970"/>
                </a:cubicBezTo>
                <a:lnTo>
                  <a:pt x="6090" y="970"/>
                </a:lnTo>
                <a:cubicBezTo>
                  <a:pt x="6160" y="880"/>
                  <a:pt x="6290" y="870"/>
                  <a:pt x="6370" y="940"/>
                </a:cubicBezTo>
                <a:lnTo>
                  <a:pt x="6940" y="1400"/>
                </a:lnTo>
                <a:cubicBezTo>
                  <a:pt x="7030" y="1470"/>
                  <a:pt x="7040" y="1600"/>
                  <a:pt x="6970" y="1680"/>
                </a:cubicBezTo>
                <a:lnTo>
                  <a:pt x="6170" y="2680"/>
                </a:lnTo>
                <a:cubicBezTo>
                  <a:pt x="6140" y="2720"/>
                  <a:pt x="6090" y="2750"/>
                  <a:pt x="6040" y="2750"/>
                </a:cubicBezTo>
                <a:lnTo>
                  <a:pt x="6020" y="2750"/>
                </a:lnTo>
                <a:close/>
                <a:moveTo>
                  <a:pt x="5740" y="2070"/>
                </a:moveTo>
                <a:lnTo>
                  <a:pt x="5990" y="2280"/>
                </a:lnTo>
                <a:lnTo>
                  <a:pt x="6540" y="1600"/>
                </a:lnTo>
                <a:lnTo>
                  <a:pt x="6290" y="1390"/>
                </a:lnTo>
                <a:lnTo>
                  <a:pt x="5740" y="2070"/>
                </a:lnTo>
                <a:close/>
                <a:moveTo>
                  <a:pt x="7140" y="2020"/>
                </a:moveTo>
                <a:cubicBezTo>
                  <a:pt x="7100" y="2020"/>
                  <a:pt x="7050" y="2010"/>
                  <a:pt x="7010" y="1980"/>
                </a:cubicBezTo>
                <a:lnTo>
                  <a:pt x="5850" y="1040"/>
                </a:lnTo>
                <a:cubicBezTo>
                  <a:pt x="5810" y="1010"/>
                  <a:pt x="5780" y="960"/>
                  <a:pt x="5780" y="900"/>
                </a:cubicBezTo>
                <a:cubicBezTo>
                  <a:pt x="5780" y="850"/>
                  <a:pt x="5790" y="790"/>
                  <a:pt x="5830" y="750"/>
                </a:cubicBezTo>
                <a:lnTo>
                  <a:pt x="6400" y="90"/>
                </a:lnTo>
                <a:cubicBezTo>
                  <a:pt x="6470" y="10"/>
                  <a:pt x="6590" y="0"/>
                  <a:pt x="6680" y="60"/>
                </a:cubicBezTo>
                <a:lnTo>
                  <a:pt x="7840" y="1000"/>
                </a:lnTo>
                <a:cubicBezTo>
                  <a:pt x="7930" y="1070"/>
                  <a:pt x="7940" y="1200"/>
                  <a:pt x="7870" y="1280"/>
                </a:cubicBezTo>
                <a:lnTo>
                  <a:pt x="7820" y="1340"/>
                </a:lnTo>
                <a:lnTo>
                  <a:pt x="7300" y="1950"/>
                </a:lnTo>
                <a:cubicBezTo>
                  <a:pt x="7260" y="2000"/>
                  <a:pt x="7200" y="2020"/>
                  <a:pt x="7140" y="2020"/>
                </a:cubicBezTo>
                <a:close/>
                <a:moveTo>
                  <a:pt x="6270" y="860"/>
                </a:moveTo>
                <a:lnTo>
                  <a:pt x="7120" y="1550"/>
                </a:lnTo>
                <a:lnTo>
                  <a:pt x="7430" y="1190"/>
                </a:lnTo>
                <a:lnTo>
                  <a:pt x="6580" y="500"/>
                </a:lnTo>
                <a:lnTo>
                  <a:pt x="6270" y="860"/>
                </a:lnTo>
                <a:close/>
                <a:moveTo>
                  <a:pt x="3520" y="9050"/>
                </a:moveTo>
                <a:lnTo>
                  <a:pt x="200" y="9050"/>
                </a:lnTo>
                <a:cubicBezTo>
                  <a:pt x="90" y="9050"/>
                  <a:pt x="0" y="8960"/>
                  <a:pt x="0" y="8850"/>
                </a:cubicBezTo>
                <a:lnTo>
                  <a:pt x="0" y="7720"/>
                </a:lnTo>
                <a:cubicBezTo>
                  <a:pt x="0" y="7610"/>
                  <a:pt x="90" y="7520"/>
                  <a:pt x="200" y="7520"/>
                </a:cubicBezTo>
                <a:lnTo>
                  <a:pt x="3510" y="7520"/>
                </a:lnTo>
                <a:cubicBezTo>
                  <a:pt x="3620" y="7520"/>
                  <a:pt x="3710" y="7610"/>
                  <a:pt x="3710" y="7720"/>
                </a:cubicBezTo>
                <a:lnTo>
                  <a:pt x="3710" y="8850"/>
                </a:lnTo>
                <a:cubicBezTo>
                  <a:pt x="3720" y="8960"/>
                  <a:pt x="3630" y="9050"/>
                  <a:pt x="3520" y="9050"/>
                </a:cubicBezTo>
                <a:close/>
                <a:moveTo>
                  <a:pt x="400" y="8650"/>
                </a:moveTo>
                <a:lnTo>
                  <a:pt x="3310" y="8650"/>
                </a:lnTo>
                <a:lnTo>
                  <a:pt x="3310" y="7920"/>
                </a:lnTo>
                <a:lnTo>
                  <a:pt x="400" y="7920"/>
                </a:lnTo>
                <a:lnTo>
                  <a:pt x="400" y="8650"/>
                </a:lnTo>
                <a:close/>
                <a:moveTo>
                  <a:pt x="7740" y="11130"/>
                </a:moveTo>
                <a:lnTo>
                  <a:pt x="1330" y="11130"/>
                </a:lnTo>
                <a:cubicBezTo>
                  <a:pt x="1260" y="11130"/>
                  <a:pt x="1200" y="11090"/>
                  <a:pt x="1160" y="11030"/>
                </a:cubicBezTo>
                <a:cubicBezTo>
                  <a:pt x="1120" y="10970"/>
                  <a:pt x="1120" y="10900"/>
                  <a:pt x="1150" y="10830"/>
                </a:cubicBezTo>
                <a:lnTo>
                  <a:pt x="2230" y="8770"/>
                </a:lnTo>
                <a:cubicBezTo>
                  <a:pt x="2260" y="8720"/>
                  <a:pt x="2300" y="8680"/>
                  <a:pt x="2360" y="8670"/>
                </a:cubicBezTo>
                <a:cubicBezTo>
                  <a:pt x="2420" y="8660"/>
                  <a:pt x="2470" y="8670"/>
                  <a:pt x="2520" y="8700"/>
                </a:cubicBezTo>
                <a:lnTo>
                  <a:pt x="3720" y="9530"/>
                </a:lnTo>
                <a:lnTo>
                  <a:pt x="6110" y="6090"/>
                </a:lnTo>
                <a:lnTo>
                  <a:pt x="4850" y="5080"/>
                </a:lnTo>
                <a:cubicBezTo>
                  <a:pt x="4810" y="5050"/>
                  <a:pt x="4780" y="5000"/>
                  <a:pt x="4780" y="4950"/>
                </a:cubicBezTo>
                <a:cubicBezTo>
                  <a:pt x="4770" y="4900"/>
                  <a:pt x="4790" y="4840"/>
                  <a:pt x="4820" y="4800"/>
                </a:cubicBezTo>
                <a:lnTo>
                  <a:pt x="5110" y="4440"/>
                </a:lnTo>
                <a:cubicBezTo>
                  <a:pt x="5180" y="4360"/>
                  <a:pt x="5300" y="4340"/>
                  <a:pt x="5390" y="4410"/>
                </a:cubicBezTo>
                <a:cubicBezTo>
                  <a:pt x="5430" y="4440"/>
                  <a:pt x="5480" y="4470"/>
                  <a:pt x="5560" y="4470"/>
                </a:cubicBezTo>
                <a:cubicBezTo>
                  <a:pt x="5720" y="4470"/>
                  <a:pt x="5840" y="4340"/>
                  <a:pt x="5840" y="4190"/>
                </a:cubicBezTo>
                <a:cubicBezTo>
                  <a:pt x="5840" y="4110"/>
                  <a:pt x="5800" y="4030"/>
                  <a:pt x="5740" y="3970"/>
                </a:cubicBezTo>
                <a:cubicBezTo>
                  <a:pt x="5660" y="3900"/>
                  <a:pt x="5650" y="3780"/>
                  <a:pt x="5710" y="3690"/>
                </a:cubicBezTo>
                <a:lnTo>
                  <a:pt x="5890" y="3470"/>
                </a:lnTo>
                <a:cubicBezTo>
                  <a:pt x="5960" y="3380"/>
                  <a:pt x="6080" y="3370"/>
                  <a:pt x="6170" y="3440"/>
                </a:cubicBezTo>
                <a:lnTo>
                  <a:pt x="7860" y="4760"/>
                </a:lnTo>
                <a:cubicBezTo>
                  <a:pt x="7910" y="4800"/>
                  <a:pt x="7940" y="4860"/>
                  <a:pt x="7940" y="4920"/>
                </a:cubicBezTo>
                <a:lnTo>
                  <a:pt x="7940" y="10930"/>
                </a:lnTo>
                <a:cubicBezTo>
                  <a:pt x="7940" y="11040"/>
                  <a:pt x="7850" y="11130"/>
                  <a:pt x="7740" y="11130"/>
                </a:cubicBezTo>
                <a:close/>
                <a:moveTo>
                  <a:pt x="1660" y="10730"/>
                </a:moveTo>
                <a:lnTo>
                  <a:pt x="7540" y="10730"/>
                </a:lnTo>
                <a:lnTo>
                  <a:pt x="7540" y="5020"/>
                </a:lnTo>
                <a:lnTo>
                  <a:pt x="6210" y="3980"/>
                </a:lnTo>
                <a:cubicBezTo>
                  <a:pt x="6230" y="4040"/>
                  <a:pt x="6240" y="4110"/>
                  <a:pt x="6240" y="4180"/>
                </a:cubicBezTo>
                <a:cubicBezTo>
                  <a:pt x="6240" y="4560"/>
                  <a:pt x="5930" y="4860"/>
                  <a:pt x="5560" y="4860"/>
                </a:cubicBezTo>
                <a:cubicBezTo>
                  <a:pt x="5480" y="4860"/>
                  <a:pt x="5390" y="4840"/>
                  <a:pt x="5320" y="4810"/>
                </a:cubicBezTo>
                <a:lnTo>
                  <a:pt x="5260" y="4880"/>
                </a:lnTo>
                <a:lnTo>
                  <a:pt x="6510" y="5880"/>
                </a:lnTo>
                <a:cubicBezTo>
                  <a:pt x="6590" y="5950"/>
                  <a:pt x="6610" y="6060"/>
                  <a:pt x="6550" y="6150"/>
                </a:cubicBezTo>
                <a:lnTo>
                  <a:pt x="3940" y="9920"/>
                </a:lnTo>
                <a:cubicBezTo>
                  <a:pt x="3880" y="10010"/>
                  <a:pt x="3750" y="10030"/>
                  <a:pt x="3660" y="9970"/>
                </a:cubicBezTo>
                <a:lnTo>
                  <a:pt x="2480" y="9150"/>
                </a:lnTo>
                <a:lnTo>
                  <a:pt x="1660" y="10730"/>
                </a:lnTo>
                <a:close/>
                <a:moveTo>
                  <a:pt x="4470" y="5750"/>
                </a:moveTo>
                <a:cubicBezTo>
                  <a:pt x="4430" y="5750"/>
                  <a:pt x="4380" y="5740"/>
                  <a:pt x="4340" y="5710"/>
                </a:cubicBezTo>
                <a:lnTo>
                  <a:pt x="2880" y="4520"/>
                </a:lnTo>
                <a:cubicBezTo>
                  <a:pt x="2840" y="4490"/>
                  <a:pt x="2810" y="4440"/>
                  <a:pt x="2810" y="4390"/>
                </a:cubicBezTo>
                <a:cubicBezTo>
                  <a:pt x="2800" y="4340"/>
                  <a:pt x="2820" y="4280"/>
                  <a:pt x="2850" y="4240"/>
                </a:cubicBezTo>
                <a:lnTo>
                  <a:pt x="4930" y="1670"/>
                </a:lnTo>
                <a:cubicBezTo>
                  <a:pt x="5000" y="1580"/>
                  <a:pt x="5130" y="1570"/>
                  <a:pt x="5210" y="1640"/>
                </a:cubicBezTo>
                <a:lnTo>
                  <a:pt x="6670" y="2820"/>
                </a:lnTo>
                <a:cubicBezTo>
                  <a:pt x="6760" y="2890"/>
                  <a:pt x="6770" y="3020"/>
                  <a:pt x="6700" y="3100"/>
                </a:cubicBezTo>
                <a:lnTo>
                  <a:pt x="6020" y="3940"/>
                </a:lnTo>
                <a:cubicBezTo>
                  <a:pt x="5990" y="3980"/>
                  <a:pt x="5940" y="4010"/>
                  <a:pt x="5880" y="4010"/>
                </a:cubicBezTo>
                <a:cubicBezTo>
                  <a:pt x="5830" y="4020"/>
                  <a:pt x="5770" y="4000"/>
                  <a:pt x="5730" y="3960"/>
                </a:cubicBezTo>
                <a:cubicBezTo>
                  <a:pt x="5690" y="3930"/>
                  <a:pt x="5630" y="3890"/>
                  <a:pt x="5550" y="3890"/>
                </a:cubicBezTo>
                <a:cubicBezTo>
                  <a:pt x="5390" y="3890"/>
                  <a:pt x="5270" y="4020"/>
                  <a:pt x="5270" y="4170"/>
                </a:cubicBezTo>
                <a:cubicBezTo>
                  <a:pt x="5270" y="4260"/>
                  <a:pt x="5310" y="4340"/>
                  <a:pt x="5380" y="4390"/>
                </a:cubicBezTo>
                <a:cubicBezTo>
                  <a:pt x="5420" y="4420"/>
                  <a:pt x="5450" y="4470"/>
                  <a:pt x="5460" y="4530"/>
                </a:cubicBezTo>
                <a:cubicBezTo>
                  <a:pt x="5470" y="4590"/>
                  <a:pt x="5450" y="4640"/>
                  <a:pt x="5420" y="4680"/>
                </a:cubicBezTo>
                <a:lnTo>
                  <a:pt x="4620" y="5670"/>
                </a:lnTo>
                <a:cubicBezTo>
                  <a:pt x="4580" y="5720"/>
                  <a:pt x="4530" y="5750"/>
                  <a:pt x="4470" y="5750"/>
                </a:cubicBezTo>
                <a:close/>
                <a:moveTo>
                  <a:pt x="3290" y="4340"/>
                </a:moveTo>
                <a:lnTo>
                  <a:pt x="4440" y="5270"/>
                </a:lnTo>
                <a:lnTo>
                  <a:pt x="5000" y="4580"/>
                </a:lnTo>
                <a:cubicBezTo>
                  <a:pt x="4920" y="4470"/>
                  <a:pt x="4880" y="4330"/>
                  <a:pt x="4880" y="4190"/>
                </a:cubicBezTo>
                <a:cubicBezTo>
                  <a:pt x="4880" y="3810"/>
                  <a:pt x="5190" y="3510"/>
                  <a:pt x="5560" y="3510"/>
                </a:cubicBezTo>
                <a:cubicBezTo>
                  <a:pt x="5650" y="3510"/>
                  <a:pt x="5740" y="3530"/>
                  <a:pt x="5830" y="3570"/>
                </a:cubicBezTo>
                <a:lnTo>
                  <a:pt x="6270" y="3020"/>
                </a:lnTo>
                <a:lnTo>
                  <a:pt x="5110" y="2070"/>
                </a:lnTo>
                <a:lnTo>
                  <a:pt x="3290" y="4340"/>
                </a:lnTo>
                <a:close/>
                <a:moveTo>
                  <a:pt x="5560" y="4870"/>
                </a:moveTo>
                <a:cubicBezTo>
                  <a:pt x="5410" y="4870"/>
                  <a:pt x="5260" y="4820"/>
                  <a:pt x="5140" y="4730"/>
                </a:cubicBezTo>
                <a:cubicBezTo>
                  <a:pt x="4970" y="4600"/>
                  <a:pt x="4870" y="4400"/>
                  <a:pt x="4870" y="4190"/>
                </a:cubicBezTo>
                <a:cubicBezTo>
                  <a:pt x="4870" y="3810"/>
                  <a:pt x="5180" y="3510"/>
                  <a:pt x="5550" y="3510"/>
                </a:cubicBezTo>
                <a:cubicBezTo>
                  <a:pt x="5710" y="3510"/>
                  <a:pt x="5870" y="3570"/>
                  <a:pt x="5990" y="3670"/>
                </a:cubicBezTo>
                <a:cubicBezTo>
                  <a:pt x="6140" y="3800"/>
                  <a:pt x="6230" y="3990"/>
                  <a:pt x="6230" y="4190"/>
                </a:cubicBezTo>
                <a:cubicBezTo>
                  <a:pt x="6240" y="4560"/>
                  <a:pt x="5940" y="4870"/>
                  <a:pt x="5560" y="4870"/>
                </a:cubicBezTo>
                <a:close/>
                <a:moveTo>
                  <a:pt x="5560" y="3900"/>
                </a:moveTo>
                <a:cubicBezTo>
                  <a:pt x="5400" y="3900"/>
                  <a:pt x="5280" y="4030"/>
                  <a:pt x="5280" y="4180"/>
                </a:cubicBezTo>
                <a:cubicBezTo>
                  <a:pt x="5280" y="4270"/>
                  <a:pt x="5320" y="4350"/>
                  <a:pt x="5390" y="4400"/>
                </a:cubicBezTo>
                <a:cubicBezTo>
                  <a:pt x="5430" y="4430"/>
                  <a:pt x="5480" y="4460"/>
                  <a:pt x="5560" y="4460"/>
                </a:cubicBezTo>
                <a:cubicBezTo>
                  <a:pt x="5720" y="4460"/>
                  <a:pt x="5840" y="4330"/>
                  <a:pt x="5840" y="4180"/>
                </a:cubicBezTo>
                <a:cubicBezTo>
                  <a:pt x="5840" y="4100"/>
                  <a:pt x="5800" y="4020"/>
                  <a:pt x="5740" y="3960"/>
                </a:cubicBezTo>
                <a:cubicBezTo>
                  <a:pt x="5700" y="3930"/>
                  <a:pt x="5640" y="3900"/>
                  <a:pt x="5560" y="3900"/>
                </a:cubicBezTo>
                <a:close/>
                <a:moveTo>
                  <a:pt x="6140" y="10190"/>
                </a:moveTo>
                <a:cubicBezTo>
                  <a:pt x="5660" y="10190"/>
                  <a:pt x="5270" y="9800"/>
                  <a:pt x="5270" y="9320"/>
                </a:cubicBezTo>
                <a:cubicBezTo>
                  <a:pt x="5270" y="8840"/>
                  <a:pt x="5660" y="8450"/>
                  <a:pt x="6140" y="8450"/>
                </a:cubicBezTo>
                <a:cubicBezTo>
                  <a:pt x="6620" y="8450"/>
                  <a:pt x="7010" y="8840"/>
                  <a:pt x="7010" y="9320"/>
                </a:cubicBezTo>
                <a:cubicBezTo>
                  <a:pt x="7020" y="9800"/>
                  <a:pt x="6630" y="10190"/>
                  <a:pt x="6140" y="10190"/>
                </a:cubicBezTo>
                <a:close/>
                <a:moveTo>
                  <a:pt x="6140" y="8640"/>
                </a:moveTo>
                <a:cubicBezTo>
                  <a:pt x="5869" y="8640"/>
                  <a:pt x="5625" y="8803"/>
                  <a:pt x="5521" y="9054"/>
                </a:cubicBezTo>
                <a:cubicBezTo>
                  <a:pt x="5417" y="9304"/>
                  <a:pt x="5475" y="9592"/>
                  <a:pt x="5666" y="9784"/>
                </a:cubicBezTo>
                <a:cubicBezTo>
                  <a:pt x="5858" y="9975"/>
                  <a:pt x="6146" y="10033"/>
                  <a:pt x="6396" y="9929"/>
                </a:cubicBezTo>
                <a:cubicBezTo>
                  <a:pt x="6647" y="9825"/>
                  <a:pt x="6810" y="9581"/>
                  <a:pt x="6810" y="9310"/>
                </a:cubicBezTo>
                <a:cubicBezTo>
                  <a:pt x="6820" y="8940"/>
                  <a:pt x="6520" y="8640"/>
                  <a:pt x="6140" y="8640"/>
                </a:cubicBezTo>
                <a:close/>
                <a:moveTo>
                  <a:pt x="7740" y="11830"/>
                </a:moveTo>
                <a:lnTo>
                  <a:pt x="1330" y="11830"/>
                </a:lnTo>
                <a:cubicBezTo>
                  <a:pt x="1270" y="11830"/>
                  <a:pt x="1230" y="11790"/>
                  <a:pt x="1230" y="11730"/>
                </a:cubicBezTo>
                <a:cubicBezTo>
                  <a:pt x="1230" y="11670"/>
                  <a:pt x="1270" y="11630"/>
                  <a:pt x="1330" y="11630"/>
                </a:cubicBezTo>
                <a:lnTo>
                  <a:pt x="7740" y="11630"/>
                </a:lnTo>
                <a:cubicBezTo>
                  <a:pt x="7800" y="11630"/>
                  <a:pt x="7840" y="11670"/>
                  <a:pt x="7840" y="11730"/>
                </a:cubicBezTo>
                <a:cubicBezTo>
                  <a:pt x="7840" y="11780"/>
                  <a:pt x="7790" y="11830"/>
                  <a:pt x="7740" y="1183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09" name="矩形: 圆角 208"/>
          <p:cNvSpPr/>
          <p:nvPr>
            <p:custDataLst>
              <p:tags r:id="rId7"/>
            </p:custDataLst>
          </p:nvPr>
        </p:nvSpPr>
        <p:spPr>
          <a:xfrm>
            <a:off x="7314466" y="3017729"/>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0" name="文本框 209"/>
          <p:cNvSpPr txBox="1"/>
          <p:nvPr>
            <p:custDataLst>
              <p:tags r:id="rId8"/>
            </p:custDataLst>
          </p:nvPr>
        </p:nvSpPr>
        <p:spPr>
          <a:xfrm>
            <a:off x="6567880" y="4090236"/>
            <a:ext cx="2143985" cy="42989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rgbClr val="000000"/>
                </a:solidFill>
                <a:latin typeface="+mj-ea"/>
                <a:ea typeface="+mj-ea"/>
              </a:rPr>
              <a:t>方法论</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2" name="research_106198"/>
          <p:cNvSpPr/>
          <p:nvPr>
            <p:custDataLst>
              <p:tags r:id="rId9"/>
            </p:custDataLst>
          </p:nvPr>
        </p:nvSpPr>
        <p:spPr>
          <a:xfrm>
            <a:off x="7405468" y="3108729"/>
            <a:ext cx="463239" cy="457227"/>
          </a:xfrm>
          <a:custGeom>
            <a:avLst/>
            <a:gdLst>
              <a:gd name="connsiteX0" fmla="*/ 274567 w 432437"/>
              <a:gd name="connsiteY0" fmla="*/ 347163 h 426825"/>
              <a:gd name="connsiteX1" fmla="*/ 295552 w 432437"/>
              <a:gd name="connsiteY1" fmla="*/ 347163 h 426825"/>
              <a:gd name="connsiteX2" fmla="*/ 349003 w 432437"/>
              <a:gd name="connsiteY2" fmla="*/ 413395 h 426825"/>
              <a:gd name="connsiteX3" fmla="*/ 348047 w 432437"/>
              <a:gd name="connsiteY3" fmla="*/ 424913 h 426825"/>
              <a:gd name="connsiteX4" fmla="*/ 342312 w 432437"/>
              <a:gd name="connsiteY4" fmla="*/ 426825 h 426825"/>
              <a:gd name="connsiteX5" fmla="*/ 335578 w 432437"/>
              <a:gd name="connsiteY5" fmla="*/ 423957 h 426825"/>
              <a:gd name="connsiteX6" fmla="*/ 139097 w 432437"/>
              <a:gd name="connsiteY6" fmla="*/ 347163 h 426825"/>
              <a:gd name="connsiteX7" fmla="*/ 159837 w 432437"/>
              <a:gd name="connsiteY7" fmla="*/ 347163 h 426825"/>
              <a:gd name="connsiteX8" fmla="*/ 99706 w 432437"/>
              <a:gd name="connsiteY8" fmla="*/ 423957 h 426825"/>
              <a:gd name="connsiteX9" fmla="*/ 93015 w 432437"/>
              <a:gd name="connsiteY9" fmla="*/ 426825 h 426825"/>
              <a:gd name="connsiteX10" fmla="*/ 88192 w 432437"/>
              <a:gd name="connsiteY10" fmla="*/ 424913 h 426825"/>
              <a:gd name="connsiteX11" fmla="*/ 87236 w 432437"/>
              <a:gd name="connsiteY11" fmla="*/ 413395 h 426825"/>
              <a:gd name="connsiteX12" fmla="*/ 394044 w 432437"/>
              <a:gd name="connsiteY12" fmla="*/ 296364 h 426825"/>
              <a:gd name="connsiteX13" fmla="*/ 394159 w 432437"/>
              <a:gd name="connsiteY13" fmla="*/ 296364 h 426825"/>
              <a:gd name="connsiteX14" fmla="*/ 394098 w 432437"/>
              <a:gd name="connsiteY14" fmla="*/ 296418 h 426825"/>
              <a:gd name="connsiteX15" fmla="*/ 31587 w 432437"/>
              <a:gd name="connsiteY15" fmla="*/ 296364 h 426825"/>
              <a:gd name="connsiteX16" fmla="*/ 33602 w 432437"/>
              <a:gd name="connsiteY16" fmla="*/ 296364 h 426825"/>
              <a:gd name="connsiteX17" fmla="*/ 32592 w 432437"/>
              <a:gd name="connsiteY17" fmla="*/ 297374 h 426825"/>
              <a:gd name="connsiteX18" fmla="*/ 41239 w 432437"/>
              <a:gd name="connsiteY18" fmla="*/ 279069 h 426825"/>
              <a:gd name="connsiteX19" fmla="*/ 385495 w 432437"/>
              <a:gd name="connsiteY19" fmla="*/ 279069 h 426825"/>
              <a:gd name="connsiteX20" fmla="*/ 385495 w 432437"/>
              <a:gd name="connsiteY20" fmla="*/ 287770 h 426825"/>
              <a:gd name="connsiteX21" fmla="*/ 394044 w 432437"/>
              <a:gd name="connsiteY21" fmla="*/ 296364 h 426825"/>
              <a:gd name="connsiteX22" fmla="*/ 33602 w 432437"/>
              <a:gd name="connsiteY22" fmla="*/ 296364 h 426825"/>
              <a:gd name="connsiteX23" fmla="*/ 41239 w 432437"/>
              <a:gd name="connsiteY23" fmla="*/ 288726 h 426825"/>
              <a:gd name="connsiteX24" fmla="*/ 8646 w 432437"/>
              <a:gd name="connsiteY24" fmla="*/ 279069 h 426825"/>
              <a:gd name="connsiteX25" fmla="*/ 23989 w 432437"/>
              <a:gd name="connsiteY25" fmla="*/ 279069 h 426825"/>
              <a:gd name="connsiteX26" fmla="*/ 23989 w 432437"/>
              <a:gd name="connsiteY26" fmla="*/ 288726 h 426825"/>
              <a:gd name="connsiteX27" fmla="*/ 31587 w 432437"/>
              <a:gd name="connsiteY27" fmla="*/ 296364 h 426825"/>
              <a:gd name="connsiteX28" fmla="*/ 16293 w 432437"/>
              <a:gd name="connsiteY28" fmla="*/ 296364 h 426825"/>
              <a:gd name="connsiteX29" fmla="*/ 16293 w 432437"/>
              <a:gd name="connsiteY29" fmla="*/ 330867 h 426825"/>
              <a:gd name="connsiteX30" fmla="*/ 414232 w 432437"/>
              <a:gd name="connsiteY30" fmla="*/ 330867 h 426825"/>
              <a:gd name="connsiteX31" fmla="*/ 414232 w 432437"/>
              <a:gd name="connsiteY31" fmla="*/ 296364 h 426825"/>
              <a:gd name="connsiteX32" fmla="*/ 394159 w 432437"/>
              <a:gd name="connsiteY32" fmla="*/ 296364 h 426825"/>
              <a:gd name="connsiteX33" fmla="*/ 402745 w 432437"/>
              <a:gd name="connsiteY33" fmla="*/ 288726 h 426825"/>
              <a:gd name="connsiteX34" fmla="*/ 402745 w 432437"/>
              <a:gd name="connsiteY34" fmla="*/ 279069 h 426825"/>
              <a:gd name="connsiteX35" fmla="*/ 423791 w 432437"/>
              <a:gd name="connsiteY35" fmla="*/ 279069 h 426825"/>
              <a:gd name="connsiteX36" fmla="*/ 432437 w 432437"/>
              <a:gd name="connsiteY36" fmla="*/ 287716 h 426825"/>
              <a:gd name="connsiteX37" fmla="*/ 432437 w 432437"/>
              <a:gd name="connsiteY37" fmla="*/ 338559 h 426825"/>
              <a:gd name="connsiteX38" fmla="*/ 422835 w 432437"/>
              <a:gd name="connsiteY38" fmla="*/ 347163 h 426825"/>
              <a:gd name="connsiteX39" fmla="*/ 295552 w 432437"/>
              <a:gd name="connsiteY39" fmla="*/ 347163 h 426825"/>
              <a:gd name="connsiteX40" fmla="*/ 284745 w 432437"/>
              <a:gd name="connsiteY40" fmla="*/ 333772 h 426825"/>
              <a:gd name="connsiteX41" fmla="*/ 273275 w 432437"/>
              <a:gd name="connsiteY41" fmla="*/ 332816 h 426825"/>
              <a:gd name="connsiteX42" fmla="*/ 272319 w 432437"/>
              <a:gd name="connsiteY42" fmla="*/ 344334 h 426825"/>
              <a:gd name="connsiteX43" fmla="*/ 274567 w 432437"/>
              <a:gd name="connsiteY43" fmla="*/ 347163 h 426825"/>
              <a:gd name="connsiteX44" fmla="*/ 159837 w 432437"/>
              <a:gd name="connsiteY44" fmla="*/ 347163 h 426825"/>
              <a:gd name="connsiteX45" fmla="*/ 162052 w 432437"/>
              <a:gd name="connsiteY45" fmla="*/ 344334 h 426825"/>
              <a:gd name="connsiteX46" fmla="*/ 161096 w 432437"/>
              <a:gd name="connsiteY46" fmla="*/ 332816 h 426825"/>
              <a:gd name="connsiteX47" fmla="*/ 149582 w 432437"/>
              <a:gd name="connsiteY47" fmla="*/ 333772 h 426825"/>
              <a:gd name="connsiteX48" fmla="*/ 139097 w 432437"/>
              <a:gd name="connsiteY48" fmla="*/ 347163 h 426825"/>
              <a:gd name="connsiteX49" fmla="*/ 8646 w 432437"/>
              <a:gd name="connsiteY49" fmla="*/ 347163 h 426825"/>
              <a:gd name="connsiteX50" fmla="*/ 0 w 432437"/>
              <a:gd name="connsiteY50" fmla="*/ 338559 h 426825"/>
              <a:gd name="connsiteX51" fmla="*/ 0 w 432437"/>
              <a:gd name="connsiteY51" fmla="*/ 287716 h 426825"/>
              <a:gd name="connsiteX52" fmla="*/ 8646 w 432437"/>
              <a:gd name="connsiteY52" fmla="*/ 279069 h 426825"/>
              <a:gd name="connsiteX53" fmla="*/ 93024 w 432437"/>
              <a:gd name="connsiteY53" fmla="*/ 209090 h 426825"/>
              <a:gd name="connsiteX54" fmla="*/ 83423 w 432437"/>
              <a:gd name="connsiteY54" fmla="*/ 218693 h 426825"/>
              <a:gd name="connsiteX55" fmla="*/ 93024 w 432437"/>
              <a:gd name="connsiteY55" fmla="*/ 228295 h 426825"/>
              <a:gd name="connsiteX56" fmla="*/ 102583 w 432437"/>
              <a:gd name="connsiteY56" fmla="*/ 218693 h 426825"/>
              <a:gd name="connsiteX57" fmla="*/ 93024 w 432437"/>
              <a:gd name="connsiteY57" fmla="*/ 209090 h 426825"/>
              <a:gd name="connsiteX58" fmla="*/ 93024 w 432437"/>
              <a:gd name="connsiteY58" fmla="*/ 192797 h 426825"/>
              <a:gd name="connsiteX59" fmla="*/ 105915 w 432437"/>
              <a:gd name="connsiteY59" fmla="*/ 198299 h 426825"/>
              <a:gd name="connsiteX60" fmla="*/ 102573 w 432437"/>
              <a:gd name="connsiteY60" fmla="*/ 202386 h 426825"/>
              <a:gd name="connsiteX61" fmla="*/ 103529 w 432437"/>
              <a:gd name="connsiteY61" fmla="*/ 213904 h 426825"/>
              <a:gd name="connsiteX62" fmla="*/ 109307 w 432437"/>
              <a:gd name="connsiteY62" fmla="*/ 215816 h 426825"/>
              <a:gd name="connsiteX63" fmla="*/ 115042 w 432437"/>
              <a:gd name="connsiteY63" fmla="*/ 212948 h 426825"/>
              <a:gd name="connsiteX64" fmla="*/ 116338 w 432437"/>
              <a:gd name="connsiteY64" fmla="*/ 211362 h 426825"/>
              <a:gd name="connsiteX65" fmla="*/ 119875 w 432437"/>
              <a:gd name="connsiteY65" fmla="*/ 219649 h 426825"/>
              <a:gd name="connsiteX66" fmla="*/ 93024 w 432437"/>
              <a:gd name="connsiteY66" fmla="*/ 246500 h 426825"/>
              <a:gd name="connsiteX67" fmla="*/ 66174 w 432437"/>
              <a:gd name="connsiteY67" fmla="*/ 219649 h 426825"/>
              <a:gd name="connsiteX68" fmla="*/ 93024 w 432437"/>
              <a:gd name="connsiteY68" fmla="*/ 192797 h 426825"/>
              <a:gd name="connsiteX69" fmla="*/ 259862 w 432437"/>
              <a:gd name="connsiteY69" fmla="*/ 183195 h 426825"/>
              <a:gd name="connsiteX70" fmla="*/ 250260 w 432437"/>
              <a:gd name="connsiteY70" fmla="*/ 192797 h 426825"/>
              <a:gd name="connsiteX71" fmla="*/ 259862 w 432437"/>
              <a:gd name="connsiteY71" fmla="*/ 202399 h 426825"/>
              <a:gd name="connsiteX72" fmla="*/ 269420 w 432437"/>
              <a:gd name="connsiteY72" fmla="*/ 192797 h 426825"/>
              <a:gd name="connsiteX73" fmla="*/ 269420 w 432437"/>
              <a:gd name="connsiteY73" fmla="*/ 191841 h 426825"/>
              <a:gd name="connsiteX74" fmla="*/ 267508 w 432437"/>
              <a:gd name="connsiteY74" fmla="*/ 185150 h 426825"/>
              <a:gd name="connsiteX75" fmla="*/ 259862 w 432437"/>
              <a:gd name="connsiteY75" fmla="*/ 183195 h 426825"/>
              <a:gd name="connsiteX76" fmla="*/ 259862 w 432437"/>
              <a:gd name="connsiteY76" fmla="*/ 165946 h 426825"/>
              <a:gd name="connsiteX77" fmla="*/ 274588 w 432437"/>
              <a:gd name="connsiteY77" fmla="*/ 169430 h 426825"/>
              <a:gd name="connsiteX78" fmla="*/ 272319 w 432437"/>
              <a:gd name="connsiteY78" fmla="*/ 171702 h 426825"/>
              <a:gd name="connsiteX79" fmla="*/ 272319 w 432437"/>
              <a:gd name="connsiteY79" fmla="*/ 183176 h 426825"/>
              <a:gd name="connsiteX80" fmla="*/ 278054 w 432437"/>
              <a:gd name="connsiteY80" fmla="*/ 186088 h 426825"/>
              <a:gd name="connsiteX81" fmla="*/ 283789 w 432437"/>
              <a:gd name="connsiteY81" fmla="*/ 183176 h 426825"/>
              <a:gd name="connsiteX82" fmla="*/ 284459 w 432437"/>
              <a:gd name="connsiteY82" fmla="*/ 182506 h 426825"/>
              <a:gd name="connsiteX83" fmla="*/ 286712 w 432437"/>
              <a:gd name="connsiteY83" fmla="*/ 190885 h 426825"/>
              <a:gd name="connsiteX84" fmla="*/ 286712 w 432437"/>
              <a:gd name="connsiteY84" fmla="*/ 191841 h 426825"/>
              <a:gd name="connsiteX85" fmla="*/ 259862 w 432437"/>
              <a:gd name="connsiteY85" fmla="*/ 219649 h 426825"/>
              <a:gd name="connsiteX86" fmla="*/ 233011 w 432437"/>
              <a:gd name="connsiteY86" fmla="*/ 192797 h 426825"/>
              <a:gd name="connsiteX87" fmla="*/ 235014 w 432437"/>
              <a:gd name="connsiteY87" fmla="*/ 188105 h 426825"/>
              <a:gd name="connsiteX88" fmla="*/ 239691 w 432437"/>
              <a:gd name="connsiteY88" fmla="*/ 190869 h 426825"/>
              <a:gd name="connsiteX89" fmla="*/ 243514 w 432437"/>
              <a:gd name="connsiteY89" fmla="*/ 191825 h 426825"/>
              <a:gd name="connsiteX90" fmla="*/ 251204 w 432437"/>
              <a:gd name="connsiteY90" fmla="*/ 188000 h 426825"/>
              <a:gd name="connsiteX91" fmla="*/ 248337 w 432437"/>
              <a:gd name="connsiteY91" fmla="*/ 176483 h 426825"/>
              <a:gd name="connsiteX92" fmla="*/ 242817 w 432437"/>
              <a:gd name="connsiteY92" fmla="*/ 173221 h 426825"/>
              <a:gd name="connsiteX93" fmla="*/ 144187 w 432437"/>
              <a:gd name="connsiteY93" fmla="*/ 151493 h 426825"/>
              <a:gd name="connsiteX94" fmla="*/ 146112 w 432437"/>
              <a:gd name="connsiteY94" fmla="*/ 156001 h 426825"/>
              <a:gd name="connsiteX95" fmla="*/ 157597 w 432437"/>
              <a:gd name="connsiteY95" fmla="*/ 160904 h 426825"/>
              <a:gd name="connsiteX96" fmla="*/ 116338 w 432437"/>
              <a:gd name="connsiteY96" fmla="*/ 211362 h 426825"/>
              <a:gd name="connsiteX97" fmla="*/ 111842 w 432437"/>
              <a:gd name="connsiteY97" fmla="*/ 200830 h 426825"/>
              <a:gd name="connsiteX98" fmla="*/ 105915 w 432437"/>
              <a:gd name="connsiteY98" fmla="*/ 198299 h 426825"/>
              <a:gd name="connsiteX99" fmla="*/ 190858 w 432437"/>
              <a:gd name="connsiteY99" fmla="*/ 142522 h 426825"/>
              <a:gd name="connsiteX100" fmla="*/ 242817 w 432437"/>
              <a:gd name="connsiteY100" fmla="*/ 173221 h 426825"/>
              <a:gd name="connsiteX101" fmla="*/ 241044 w 432437"/>
              <a:gd name="connsiteY101" fmla="*/ 173978 h 426825"/>
              <a:gd name="connsiteX102" fmla="*/ 235014 w 432437"/>
              <a:gd name="connsiteY102" fmla="*/ 188105 h 426825"/>
              <a:gd name="connsiteX103" fmla="*/ 183474 w 432437"/>
              <a:gd name="connsiteY103" fmla="*/ 157653 h 426825"/>
              <a:gd name="connsiteX104" fmla="*/ 187913 w 432437"/>
              <a:gd name="connsiteY104" fmla="*/ 153476 h 426825"/>
              <a:gd name="connsiteX105" fmla="*/ 164930 w 432437"/>
              <a:gd name="connsiteY105" fmla="*/ 127580 h 426825"/>
              <a:gd name="connsiteX106" fmla="*/ 155328 w 432437"/>
              <a:gd name="connsiteY106" fmla="*/ 137182 h 426825"/>
              <a:gd name="connsiteX107" fmla="*/ 164930 w 432437"/>
              <a:gd name="connsiteY107" fmla="*/ 146785 h 426825"/>
              <a:gd name="connsiteX108" fmla="*/ 172576 w 432437"/>
              <a:gd name="connsiteY108" fmla="*/ 143917 h 426825"/>
              <a:gd name="connsiteX109" fmla="*/ 174531 w 432437"/>
              <a:gd name="connsiteY109" fmla="*/ 137182 h 426825"/>
              <a:gd name="connsiteX110" fmla="*/ 174531 w 432437"/>
              <a:gd name="connsiteY110" fmla="*/ 136226 h 426825"/>
              <a:gd name="connsiteX111" fmla="*/ 164930 w 432437"/>
              <a:gd name="connsiteY111" fmla="*/ 127580 h 426825"/>
              <a:gd name="connsiteX112" fmla="*/ 317141 w 432437"/>
              <a:gd name="connsiteY112" fmla="*/ 126823 h 426825"/>
              <a:gd name="connsiteX113" fmla="*/ 320596 w 432437"/>
              <a:gd name="connsiteY113" fmla="*/ 134907 h 426825"/>
              <a:gd name="connsiteX114" fmla="*/ 328653 w 432437"/>
              <a:gd name="connsiteY114" fmla="*/ 138337 h 426825"/>
              <a:gd name="connsiteX115" fmla="*/ 284459 w 432437"/>
              <a:gd name="connsiteY115" fmla="*/ 182506 h 426825"/>
              <a:gd name="connsiteX116" fmla="*/ 282845 w 432437"/>
              <a:gd name="connsiteY116" fmla="*/ 176504 h 426825"/>
              <a:gd name="connsiteX117" fmla="*/ 274596 w 432437"/>
              <a:gd name="connsiteY117" fmla="*/ 169432 h 426825"/>
              <a:gd name="connsiteX118" fmla="*/ 274588 w 432437"/>
              <a:gd name="connsiteY118" fmla="*/ 169430 h 426825"/>
              <a:gd name="connsiteX119" fmla="*/ 164930 w 432437"/>
              <a:gd name="connsiteY119" fmla="*/ 110331 h 426825"/>
              <a:gd name="connsiteX120" fmla="*/ 191780 w 432437"/>
              <a:gd name="connsiteY120" fmla="*/ 137182 h 426825"/>
              <a:gd name="connsiteX121" fmla="*/ 191780 w 432437"/>
              <a:gd name="connsiteY121" fmla="*/ 139094 h 426825"/>
              <a:gd name="connsiteX122" fmla="*/ 190858 w 432437"/>
              <a:gd name="connsiteY122" fmla="*/ 142522 h 426825"/>
              <a:gd name="connsiteX123" fmla="*/ 189857 w 432437"/>
              <a:gd name="connsiteY123" fmla="*/ 141930 h 426825"/>
              <a:gd name="connsiteX124" fmla="*/ 178344 w 432437"/>
              <a:gd name="connsiteY124" fmla="*/ 144842 h 426825"/>
              <a:gd name="connsiteX125" fmla="*/ 181212 w 432437"/>
              <a:gd name="connsiteY125" fmla="*/ 156316 h 426825"/>
              <a:gd name="connsiteX126" fmla="*/ 183474 w 432437"/>
              <a:gd name="connsiteY126" fmla="*/ 157653 h 426825"/>
              <a:gd name="connsiteX127" fmla="*/ 180381 w 432437"/>
              <a:gd name="connsiteY127" fmla="*/ 160563 h 426825"/>
              <a:gd name="connsiteX128" fmla="*/ 164930 w 432437"/>
              <a:gd name="connsiteY128" fmla="*/ 164034 h 426825"/>
              <a:gd name="connsiteX129" fmla="*/ 157597 w 432437"/>
              <a:gd name="connsiteY129" fmla="*/ 160904 h 426825"/>
              <a:gd name="connsiteX130" fmla="*/ 158185 w 432437"/>
              <a:gd name="connsiteY130" fmla="*/ 160184 h 426825"/>
              <a:gd name="connsiteX131" fmla="*/ 157229 w 432437"/>
              <a:gd name="connsiteY131" fmla="*/ 148667 h 426825"/>
              <a:gd name="connsiteX132" fmla="*/ 145716 w 432437"/>
              <a:gd name="connsiteY132" fmla="*/ 149623 h 426825"/>
              <a:gd name="connsiteX133" fmla="*/ 144187 w 432437"/>
              <a:gd name="connsiteY133" fmla="*/ 151493 h 426825"/>
              <a:gd name="connsiteX134" fmla="*/ 138079 w 432437"/>
              <a:gd name="connsiteY134" fmla="*/ 137182 h 426825"/>
              <a:gd name="connsiteX135" fmla="*/ 164930 w 432437"/>
              <a:gd name="connsiteY135" fmla="*/ 110331 h 426825"/>
              <a:gd name="connsiteX136" fmla="*/ 339414 w 432437"/>
              <a:gd name="connsiteY136" fmla="*/ 105551 h 426825"/>
              <a:gd name="connsiteX137" fmla="*/ 329855 w 432437"/>
              <a:gd name="connsiteY137" fmla="*/ 115110 h 426825"/>
              <a:gd name="connsiteX138" fmla="*/ 339414 w 432437"/>
              <a:gd name="connsiteY138" fmla="*/ 124712 h 426825"/>
              <a:gd name="connsiteX139" fmla="*/ 349015 w 432437"/>
              <a:gd name="connsiteY139" fmla="*/ 115110 h 426825"/>
              <a:gd name="connsiteX140" fmla="*/ 339414 w 432437"/>
              <a:gd name="connsiteY140" fmla="*/ 105551 h 426825"/>
              <a:gd name="connsiteX141" fmla="*/ 339414 w 432437"/>
              <a:gd name="connsiteY141" fmla="*/ 89258 h 426825"/>
              <a:gd name="connsiteX142" fmla="*/ 366264 w 432437"/>
              <a:gd name="connsiteY142" fmla="*/ 116110 h 426825"/>
              <a:gd name="connsiteX143" fmla="*/ 339414 w 432437"/>
              <a:gd name="connsiteY143" fmla="*/ 142918 h 426825"/>
              <a:gd name="connsiteX144" fmla="*/ 328653 w 432437"/>
              <a:gd name="connsiteY144" fmla="*/ 138337 h 426825"/>
              <a:gd name="connsiteX145" fmla="*/ 331754 w 432437"/>
              <a:gd name="connsiteY145" fmla="*/ 135237 h 426825"/>
              <a:gd name="connsiteX146" fmla="*/ 331754 w 432437"/>
              <a:gd name="connsiteY146" fmla="*/ 123720 h 426825"/>
              <a:gd name="connsiteX147" fmla="*/ 320241 w 432437"/>
              <a:gd name="connsiteY147" fmla="*/ 123720 h 426825"/>
              <a:gd name="connsiteX148" fmla="*/ 317141 w 432437"/>
              <a:gd name="connsiteY148" fmla="*/ 126823 h 426825"/>
              <a:gd name="connsiteX149" fmla="*/ 312563 w 432437"/>
              <a:gd name="connsiteY149" fmla="*/ 116110 h 426825"/>
              <a:gd name="connsiteX150" fmla="*/ 339414 w 432437"/>
              <a:gd name="connsiteY150" fmla="*/ 89258 h 426825"/>
              <a:gd name="connsiteX151" fmla="*/ 32592 w 432437"/>
              <a:gd name="connsiteY151" fmla="*/ 26886 h 426825"/>
              <a:gd name="connsiteX152" fmla="*/ 207116 w 432437"/>
              <a:gd name="connsiteY152" fmla="*/ 26886 h 426825"/>
              <a:gd name="connsiteX153" fmla="*/ 207116 w 432437"/>
              <a:gd name="connsiteY153" fmla="*/ 35503 h 426825"/>
              <a:gd name="connsiteX154" fmla="*/ 215719 w 432437"/>
              <a:gd name="connsiteY154" fmla="*/ 44107 h 426825"/>
              <a:gd name="connsiteX155" fmla="*/ 224365 w 432437"/>
              <a:gd name="connsiteY155" fmla="*/ 35503 h 426825"/>
              <a:gd name="connsiteX156" fmla="*/ 224365 w 432437"/>
              <a:gd name="connsiteY156" fmla="*/ 26886 h 426825"/>
              <a:gd name="connsiteX157" fmla="*/ 394098 w 432437"/>
              <a:gd name="connsiteY157" fmla="*/ 26886 h 426825"/>
              <a:gd name="connsiteX158" fmla="*/ 402745 w 432437"/>
              <a:gd name="connsiteY158" fmla="*/ 35534 h 426825"/>
              <a:gd name="connsiteX159" fmla="*/ 402745 w 432437"/>
              <a:gd name="connsiteY159" fmla="*/ 279069 h 426825"/>
              <a:gd name="connsiteX160" fmla="*/ 385495 w 432437"/>
              <a:gd name="connsiteY160" fmla="*/ 279069 h 426825"/>
              <a:gd name="connsiteX161" fmla="*/ 385495 w 432437"/>
              <a:gd name="connsiteY161" fmla="*/ 44139 h 426825"/>
              <a:gd name="connsiteX162" fmla="*/ 41239 w 432437"/>
              <a:gd name="connsiteY162" fmla="*/ 44139 h 426825"/>
              <a:gd name="connsiteX163" fmla="*/ 41239 w 432437"/>
              <a:gd name="connsiteY163" fmla="*/ 279069 h 426825"/>
              <a:gd name="connsiteX164" fmla="*/ 23989 w 432437"/>
              <a:gd name="connsiteY164" fmla="*/ 279069 h 426825"/>
              <a:gd name="connsiteX165" fmla="*/ 23989 w 432437"/>
              <a:gd name="connsiteY165" fmla="*/ 35534 h 426825"/>
              <a:gd name="connsiteX166" fmla="*/ 32592 w 432437"/>
              <a:gd name="connsiteY166" fmla="*/ 26886 h 426825"/>
              <a:gd name="connsiteX167" fmla="*/ 215719 w 432437"/>
              <a:gd name="connsiteY167" fmla="*/ 0 h 426825"/>
              <a:gd name="connsiteX168" fmla="*/ 224365 w 432437"/>
              <a:gd name="connsiteY168" fmla="*/ 8648 h 426825"/>
              <a:gd name="connsiteX169" fmla="*/ 224365 w 432437"/>
              <a:gd name="connsiteY169" fmla="*/ 26886 h 426825"/>
              <a:gd name="connsiteX170" fmla="*/ 207116 w 432437"/>
              <a:gd name="connsiteY170" fmla="*/ 26886 h 426825"/>
              <a:gd name="connsiteX171" fmla="*/ 207116 w 432437"/>
              <a:gd name="connsiteY171" fmla="*/ 8648 h 426825"/>
              <a:gd name="connsiteX172" fmla="*/ 215719 w 432437"/>
              <a:gd name="connsiteY172" fmla="*/ 0 h 426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32437" h="426825">
                <a:moveTo>
                  <a:pt x="274567" y="347163"/>
                </a:moveTo>
                <a:lnTo>
                  <a:pt x="295552" y="347163"/>
                </a:lnTo>
                <a:lnTo>
                  <a:pt x="349003" y="413395"/>
                </a:lnTo>
                <a:cubicBezTo>
                  <a:pt x="351870" y="417220"/>
                  <a:pt x="350914" y="422044"/>
                  <a:pt x="348047" y="424913"/>
                </a:cubicBezTo>
                <a:cubicBezTo>
                  <a:pt x="346135" y="425869"/>
                  <a:pt x="344223" y="426825"/>
                  <a:pt x="342312" y="426825"/>
                </a:cubicBezTo>
                <a:cubicBezTo>
                  <a:pt x="339401" y="426825"/>
                  <a:pt x="337489" y="425869"/>
                  <a:pt x="335578" y="423957"/>
                </a:cubicBezTo>
                <a:close/>
                <a:moveTo>
                  <a:pt x="139097" y="347163"/>
                </a:moveTo>
                <a:lnTo>
                  <a:pt x="159837" y="347163"/>
                </a:lnTo>
                <a:lnTo>
                  <a:pt x="99706" y="423957"/>
                </a:lnTo>
                <a:cubicBezTo>
                  <a:pt x="97794" y="425869"/>
                  <a:pt x="94927" y="426825"/>
                  <a:pt x="93015" y="426825"/>
                </a:cubicBezTo>
                <a:cubicBezTo>
                  <a:pt x="91103" y="426825"/>
                  <a:pt x="89148" y="425869"/>
                  <a:pt x="88192" y="424913"/>
                </a:cubicBezTo>
                <a:cubicBezTo>
                  <a:pt x="84369" y="422044"/>
                  <a:pt x="84369" y="417220"/>
                  <a:pt x="87236" y="413395"/>
                </a:cubicBezTo>
                <a:close/>
                <a:moveTo>
                  <a:pt x="394044" y="296364"/>
                </a:moveTo>
                <a:lnTo>
                  <a:pt x="394159" y="296364"/>
                </a:lnTo>
                <a:lnTo>
                  <a:pt x="394098" y="296418"/>
                </a:lnTo>
                <a:close/>
                <a:moveTo>
                  <a:pt x="31587" y="296364"/>
                </a:moveTo>
                <a:lnTo>
                  <a:pt x="33602" y="296364"/>
                </a:lnTo>
                <a:lnTo>
                  <a:pt x="32592" y="297374"/>
                </a:lnTo>
                <a:close/>
                <a:moveTo>
                  <a:pt x="41239" y="279069"/>
                </a:moveTo>
                <a:lnTo>
                  <a:pt x="385495" y="279069"/>
                </a:lnTo>
                <a:lnTo>
                  <a:pt x="385495" y="287770"/>
                </a:lnTo>
                <a:lnTo>
                  <a:pt x="394044" y="296364"/>
                </a:lnTo>
                <a:lnTo>
                  <a:pt x="33602" y="296364"/>
                </a:lnTo>
                <a:lnTo>
                  <a:pt x="41239" y="288726"/>
                </a:lnTo>
                <a:close/>
                <a:moveTo>
                  <a:pt x="8646" y="279069"/>
                </a:moveTo>
                <a:lnTo>
                  <a:pt x="23989" y="279069"/>
                </a:lnTo>
                <a:lnTo>
                  <a:pt x="23989" y="288726"/>
                </a:lnTo>
                <a:lnTo>
                  <a:pt x="31587" y="296364"/>
                </a:lnTo>
                <a:lnTo>
                  <a:pt x="16293" y="296364"/>
                </a:lnTo>
                <a:lnTo>
                  <a:pt x="16293" y="330867"/>
                </a:lnTo>
                <a:lnTo>
                  <a:pt x="414232" y="330867"/>
                </a:lnTo>
                <a:lnTo>
                  <a:pt x="414232" y="296364"/>
                </a:lnTo>
                <a:lnTo>
                  <a:pt x="394159" y="296364"/>
                </a:lnTo>
                <a:lnTo>
                  <a:pt x="402745" y="288726"/>
                </a:lnTo>
                <a:lnTo>
                  <a:pt x="402745" y="279069"/>
                </a:lnTo>
                <a:lnTo>
                  <a:pt x="423791" y="279069"/>
                </a:lnTo>
                <a:cubicBezTo>
                  <a:pt x="428614" y="279069"/>
                  <a:pt x="432437" y="282936"/>
                  <a:pt x="432437" y="287716"/>
                </a:cubicBezTo>
                <a:lnTo>
                  <a:pt x="432437" y="338559"/>
                </a:lnTo>
                <a:cubicBezTo>
                  <a:pt x="431481" y="343339"/>
                  <a:pt x="427658" y="347163"/>
                  <a:pt x="422835" y="347163"/>
                </a:cubicBezTo>
                <a:lnTo>
                  <a:pt x="295552" y="347163"/>
                </a:lnTo>
                <a:lnTo>
                  <a:pt x="284745" y="333772"/>
                </a:lnTo>
                <a:cubicBezTo>
                  <a:pt x="281877" y="330904"/>
                  <a:pt x="277098" y="329948"/>
                  <a:pt x="273275" y="332816"/>
                </a:cubicBezTo>
                <a:cubicBezTo>
                  <a:pt x="270364" y="335685"/>
                  <a:pt x="269408" y="340509"/>
                  <a:pt x="272319" y="344334"/>
                </a:cubicBezTo>
                <a:lnTo>
                  <a:pt x="274567" y="347163"/>
                </a:lnTo>
                <a:lnTo>
                  <a:pt x="159837" y="347163"/>
                </a:lnTo>
                <a:lnTo>
                  <a:pt x="162052" y="344334"/>
                </a:lnTo>
                <a:cubicBezTo>
                  <a:pt x="164919" y="340509"/>
                  <a:pt x="164919" y="335685"/>
                  <a:pt x="161096" y="332816"/>
                </a:cubicBezTo>
                <a:cubicBezTo>
                  <a:pt x="157229" y="329948"/>
                  <a:pt x="152450" y="329948"/>
                  <a:pt x="149582" y="333772"/>
                </a:cubicBezTo>
                <a:lnTo>
                  <a:pt x="139097" y="347163"/>
                </a:lnTo>
                <a:lnTo>
                  <a:pt x="8646" y="347163"/>
                </a:lnTo>
                <a:cubicBezTo>
                  <a:pt x="3823" y="347163"/>
                  <a:pt x="0" y="343339"/>
                  <a:pt x="0" y="338559"/>
                </a:cubicBezTo>
                <a:lnTo>
                  <a:pt x="0" y="287716"/>
                </a:lnTo>
                <a:cubicBezTo>
                  <a:pt x="0" y="282936"/>
                  <a:pt x="3823" y="279069"/>
                  <a:pt x="8646" y="279069"/>
                </a:cubicBezTo>
                <a:close/>
                <a:moveTo>
                  <a:pt x="93024" y="209090"/>
                </a:moveTo>
                <a:cubicBezTo>
                  <a:pt x="87246" y="209090"/>
                  <a:pt x="83423" y="213913"/>
                  <a:pt x="83423" y="218693"/>
                </a:cubicBezTo>
                <a:cubicBezTo>
                  <a:pt x="83423" y="223472"/>
                  <a:pt x="88202" y="228295"/>
                  <a:pt x="93024" y="228295"/>
                </a:cubicBezTo>
                <a:cubicBezTo>
                  <a:pt x="97804" y="228295"/>
                  <a:pt x="102583" y="223472"/>
                  <a:pt x="102583" y="218693"/>
                </a:cubicBezTo>
                <a:cubicBezTo>
                  <a:pt x="102583" y="213913"/>
                  <a:pt x="98759" y="209090"/>
                  <a:pt x="93024" y="209090"/>
                </a:cubicBezTo>
                <a:close/>
                <a:moveTo>
                  <a:pt x="93024" y="192797"/>
                </a:moveTo>
                <a:lnTo>
                  <a:pt x="105915" y="198299"/>
                </a:lnTo>
                <a:lnTo>
                  <a:pt x="102573" y="202386"/>
                </a:lnTo>
                <a:cubicBezTo>
                  <a:pt x="99706" y="205255"/>
                  <a:pt x="99706" y="210992"/>
                  <a:pt x="103529" y="213904"/>
                </a:cubicBezTo>
                <a:cubicBezTo>
                  <a:pt x="105484" y="214860"/>
                  <a:pt x="107396" y="215816"/>
                  <a:pt x="109307" y="215816"/>
                </a:cubicBezTo>
                <a:cubicBezTo>
                  <a:pt x="111219" y="215816"/>
                  <a:pt x="114087" y="214860"/>
                  <a:pt x="115042" y="212948"/>
                </a:cubicBezTo>
                <a:lnTo>
                  <a:pt x="116338" y="211362"/>
                </a:lnTo>
                <a:lnTo>
                  <a:pt x="119875" y="219649"/>
                </a:lnTo>
                <a:cubicBezTo>
                  <a:pt x="119875" y="234030"/>
                  <a:pt x="107405" y="246500"/>
                  <a:pt x="93024" y="246500"/>
                </a:cubicBezTo>
                <a:cubicBezTo>
                  <a:pt x="78643" y="246500"/>
                  <a:pt x="66174" y="234030"/>
                  <a:pt x="66174" y="219649"/>
                </a:cubicBezTo>
                <a:cubicBezTo>
                  <a:pt x="66174" y="205267"/>
                  <a:pt x="78643" y="192797"/>
                  <a:pt x="93024" y="192797"/>
                </a:cubicBezTo>
                <a:close/>
                <a:moveTo>
                  <a:pt x="259862" y="183195"/>
                </a:moveTo>
                <a:cubicBezTo>
                  <a:pt x="254083" y="183195"/>
                  <a:pt x="250260" y="188018"/>
                  <a:pt x="250260" y="192797"/>
                </a:cubicBezTo>
                <a:cubicBezTo>
                  <a:pt x="250260" y="197576"/>
                  <a:pt x="255039" y="202399"/>
                  <a:pt x="259862" y="202399"/>
                </a:cubicBezTo>
                <a:cubicBezTo>
                  <a:pt x="264641" y="202399"/>
                  <a:pt x="269420" y="197576"/>
                  <a:pt x="269420" y="192797"/>
                </a:cubicBezTo>
                <a:lnTo>
                  <a:pt x="269420" y="191841"/>
                </a:lnTo>
                <a:cubicBezTo>
                  <a:pt x="269420" y="191841"/>
                  <a:pt x="269420" y="187062"/>
                  <a:pt x="267508" y="185150"/>
                </a:cubicBezTo>
                <a:cubicBezTo>
                  <a:pt x="266553" y="183195"/>
                  <a:pt x="263685" y="183195"/>
                  <a:pt x="259862" y="183195"/>
                </a:cubicBezTo>
                <a:close/>
                <a:moveTo>
                  <a:pt x="259862" y="165946"/>
                </a:moveTo>
                <a:lnTo>
                  <a:pt x="274588" y="169430"/>
                </a:lnTo>
                <a:lnTo>
                  <a:pt x="272319" y="171702"/>
                </a:lnTo>
                <a:cubicBezTo>
                  <a:pt x="269408" y="174570"/>
                  <a:pt x="269408" y="180307"/>
                  <a:pt x="272319" y="183176"/>
                </a:cubicBezTo>
                <a:cubicBezTo>
                  <a:pt x="274231" y="185132"/>
                  <a:pt x="276142" y="186088"/>
                  <a:pt x="278054" y="186088"/>
                </a:cubicBezTo>
                <a:cubicBezTo>
                  <a:pt x="280922" y="186088"/>
                  <a:pt x="282833" y="185132"/>
                  <a:pt x="283789" y="183176"/>
                </a:cubicBezTo>
                <a:lnTo>
                  <a:pt x="284459" y="182506"/>
                </a:lnTo>
                <a:lnTo>
                  <a:pt x="286712" y="190885"/>
                </a:lnTo>
                <a:lnTo>
                  <a:pt x="286712" y="191841"/>
                </a:lnTo>
                <a:cubicBezTo>
                  <a:pt x="286712" y="207179"/>
                  <a:pt x="275199" y="219649"/>
                  <a:pt x="259862" y="219649"/>
                </a:cubicBezTo>
                <a:cubicBezTo>
                  <a:pt x="245481" y="219649"/>
                  <a:pt x="233011" y="207179"/>
                  <a:pt x="233011" y="192797"/>
                </a:cubicBezTo>
                <a:lnTo>
                  <a:pt x="235014" y="188105"/>
                </a:lnTo>
                <a:lnTo>
                  <a:pt x="239691" y="190869"/>
                </a:lnTo>
                <a:cubicBezTo>
                  <a:pt x="240647" y="191825"/>
                  <a:pt x="242558" y="191825"/>
                  <a:pt x="243514" y="191825"/>
                </a:cubicBezTo>
                <a:cubicBezTo>
                  <a:pt x="246425" y="191825"/>
                  <a:pt x="249292" y="190869"/>
                  <a:pt x="251204" y="188000"/>
                </a:cubicBezTo>
                <a:cubicBezTo>
                  <a:pt x="254072" y="184132"/>
                  <a:pt x="252160" y="178395"/>
                  <a:pt x="248337" y="176483"/>
                </a:cubicBezTo>
                <a:lnTo>
                  <a:pt x="242817" y="173221"/>
                </a:lnTo>
                <a:close/>
                <a:moveTo>
                  <a:pt x="144187" y="151493"/>
                </a:moveTo>
                <a:lnTo>
                  <a:pt x="146112" y="156001"/>
                </a:lnTo>
                <a:lnTo>
                  <a:pt x="157597" y="160904"/>
                </a:lnTo>
                <a:lnTo>
                  <a:pt x="116338" y="211362"/>
                </a:lnTo>
                <a:lnTo>
                  <a:pt x="111842" y="200830"/>
                </a:lnTo>
                <a:lnTo>
                  <a:pt x="105915" y="198299"/>
                </a:lnTo>
                <a:close/>
                <a:moveTo>
                  <a:pt x="190858" y="142522"/>
                </a:moveTo>
                <a:lnTo>
                  <a:pt x="242817" y="173221"/>
                </a:lnTo>
                <a:lnTo>
                  <a:pt x="241044" y="173978"/>
                </a:lnTo>
                <a:lnTo>
                  <a:pt x="235014" y="188105"/>
                </a:lnTo>
                <a:lnTo>
                  <a:pt x="183474" y="157653"/>
                </a:lnTo>
                <a:lnTo>
                  <a:pt x="187913" y="153476"/>
                </a:lnTo>
                <a:close/>
                <a:moveTo>
                  <a:pt x="164930" y="127580"/>
                </a:moveTo>
                <a:cubicBezTo>
                  <a:pt x="159151" y="127580"/>
                  <a:pt x="155328" y="132403"/>
                  <a:pt x="155328" y="137182"/>
                </a:cubicBezTo>
                <a:cubicBezTo>
                  <a:pt x="155328" y="141962"/>
                  <a:pt x="160107" y="146785"/>
                  <a:pt x="164930" y="146785"/>
                </a:cubicBezTo>
                <a:cubicBezTo>
                  <a:pt x="168753" y="146785"/>
                  <a:pt x="171620" y="145829"/>
                  <a:pt x="172576" y="143917"/>
                </a:cubicBezTo>
                <a:cubicBezTo>
                  <a:pt x="174531" y="141962"/>
                  <a:pt x="174531" y="138138"/>
                  <a:pt x="174531" y="137182"/>
                </a:cubicBezTo>
                <a:lnTo>
                  <a:pt x="174531" y="136226"/>
                </a:lnTo>
                <a:cubicBezTo>
                  <a:pt x="175487" y="131447"/>
                  <a:pt x="170665" y="127580"/>
                  <a:pt x="164930" y="127580"/>
                </a:cubicBezTo>
                <a:close/>
                <a:moveTo>
                  <a:pt x="317141" y="126823"/>
                </a:moveTo>
                <a:lnTo>
                  <a:pt x="320596" y="134907"/>
                </a:lnTo>
                <a:lnTo>
                  <a:pt x="328653" y="138337"/>
                </a:lnTo>
                <a:lnTo>
                  <a:pt x="284459" y="182506"/>
                </a:lnTo>
                <a:lnTo>
                  <a:pt x="282845" y="176504"/>
                </a:lnTo>
                <a:cubicBezTo>
                  <a:pt x="280934" y="174114"/>
                  <a:pt x="278305" y="171474"/>
                  <a:pt x="274596" y="169432"/>
                </a:cubicBezTo>
                <a:lnTo>
                  <a:pt x="274588" y="169430"/>
                </a:lnTo>
                <a:close/>
                <a:moveTo>
                  <a:pt x="164930" y="110331"/>
                </a:moveTo>
                <a:cubicBezTo>
                  <a:pt x="179311" y="110331"/>
                  <a:pt x="191780" y="121845"/>
                  <a:pt x="191780" y="137182"/>
                </a:cubicBezTo>
                <a:lnTo>
                  <a:pt x="191780" y="139094"/>
                </a:lnTo>
                <a:lnTo>
                  <a:pt x="190858" y="142522"/>
                </a:lnTo>
                <a:lnTo>
                  <a:pt x="189857" y="141930"/>
                </a:lnTo>
                <a:cubicBezTo>
                  <a:pt x="185991" y="139062"/>
                  <a:pt x="180256" y="140974"/>
                  <a:pt x="178344" y="144842"/>
                </a:cubicBezTo>
                <a:cubicBezTo>
                  <a:pt x="175477" y="148667"/>
                  <a:pt x="177388" y="154404"/>
                  <a:pt x="181212" y="156316"/>
                </a:cubicBezTo>
                <a:lnTo>
                  <a:pt x="183474" y="157653"/>
                </a:lnTo>
                <a:lnTo>
                  <a:pt x="180381" y="160563"/>
                </a:lnTo>
                <a:cubicBezTo>
                  <a:pt x="176672" y="162600"/>
                  <a:pt x="171643" y="164034"/>
                  <a:pt x="164930" y="164034"/>
                </a:cubicBezTo>
                <a:lnTo>
                  <a:pt x="157597" y="160904"/>
                </a:lnTo>
                <a:lnTo>
                  <a:pt x="158185" y="160184"/>
                </a:lnTo>
                <a:cubicBezTo>
                  <a:pt x="161096" y="157316"/>
                  <a:pt x="160097" y="151535"/>
                  <a:pt x="157229" y="148667"/>
                </a:cubicBezTo>
                <a:cubicBezTo>
                  <a:pt x="154362" y="145798"/>
                  <a:pt x="148627" y="145798"/>
                  <a:pt x="145716" y="149623"/>
                </a:cubicBezTo>
                <a:lnTo>
                  <a:pt x="144187" y="151493"/>
                </a:lnTo>
                <a:lnTo>
                  <a:pt x="138079" y="137182"/>
                </a:lnTo>
                <a:cubicBezTo>
                  <a:pt x="138079" y="122801"/>
                  <a:pt x="150549" y="110331"/>
                  <a:pt x="164930" y="110331"/>
                </a:cubicBezTo>
                <a:close/>
                <a:moveTo>
                  <a:pt x="339414" y="105551"/>
                </a:moveTo>
                <a:cubicBezTo>
                  <a:pt x="333679" y="105551"/>
                  <a:pt x="329855" y="110331"/>
                  <a:pt x="329855" y="115110"/>
                </a:cubicBezTo>
                <a:cubicBezTo>
                  <a:pt x="329855" y="119933"/>
                  <a:pt x="334634" y="124712"/>
                  <a:pt x="339414" y="124712"/>
                </a:cubicBezTo>
                <a:cubicBezTo>
                  <a:pt x="344236" y="124712"/>
                  <a:pt x="349015" y="119933"/>
                  <a:pt x="349015" y="115110"/>
                </a:cubicBezTo>
                <a:cubicBezTo>
                  <a:pt x="349015" y="110331"/>
                  <a:pt x="344236" y="105551"/>
                  <a:pt x="339414" y="105551"/>
                </a:cubicBezTo>
                <a:close/>
                <a:moveTo>
                  <a:pt x="339414" y="89258"/>
                </a:moveTo>
                <a:cubicBezTo>
                  <a:pt x="353795" y="89258"/>
                  <a:pt x="366264" y="101728"/>
                  <a:pt x="366264" y="116110"/>
                </a:cubicBezTo>
                <a:cubicBezTo>
                  <a:pt x="366264" y="130491"/>
                  <a:pt x="353795" y="142918"/>
                  <a:pt x="339414" y="142918"/>
                </a:cubicBezTo>
                <a:lnTo>
                  <a:pt x="328653" y="138337"/>
                </a:lnTo>
                <a:lnTo>
                  <a:pt x="331754" y="135237"/>
                </a:lnTo>
                <a:cubicBezTo>
                  <a:pt x="334622" y="132369"/>
                  <a:pt x="334622" y="126588"/>
                  <a:pt x="331754" y="123720"/>
                </a:cubicBezTo>
                <a:cubicBezTo>
                  <a:pt x="328887" y="120851"/>
                  <a:pt x="323108" y="120851"/>
                  <a:pt x="320241" y="123720"/>
                </a:cubicBezTo>
                <a:lnTo>
                  <a:pt x="317141" y="126823"/>
                </a:lnTo>
                <a:lnTo>
                  <a:pt x="312563" y="116110"/>
                </a:lnTo>
                <a:cubicBezTo>
                  <a:pt x="312563" y="101728"/>
                  <a:pt x="325033" y="89258"/>
                  <a:pt x="339414" y="89258"/>
                </a:cubicBezTo>
                <a:close/>
                <a:moveTo>
                  <a:pt x="32592" y="26886"/>
                </a:moveTo>
                <a:lnTo>
                  <a:pt x="207116" y="26886"/>
                </a:lnTo>
                <a:lnTo>
                  <a:pt x="207116" y="35503"/>
                </a:lnTo>
                <a:cubicBezTo>
                  <a:pt x="207116" y="40283"/>
                  <a:pt x="210940" y="44107"/>
                  <a:pt x="215719" y="44107"/>
                </a:cubicBezTo>
                <a:cubicBezTo>
                  <a:pt x="220542" y="44107"/>
                  <a:pt x="224365" y="40283"/>
                  <a:pt x="224365" y="35503"/>
                </a:cubicBezTo>
                <a:lnTo>
                  <a:pt x="224365" y="26886"/>
                </a:lnTo>
                <a:lnTo>
                  <a:pt x="394098" y="26886"/>
                </a:lnTo>
                <a:cubicBezTo>
                  <a:pt x="398921" y="26886"/>
                  <a:pt x="402745" y="30710"/>
                  <a:pt x="402745" y="35534"/>
                </a:cubicBezTo>
                <a:lnTo>
                  <a:pt x="402745" y="279069"/>
                </a:lnTo>
                <a:lnTo>
                  <a:pt x="385495" y="279069"/>
                </a:lnTo>
                <a:lnTo>
                  <a:pt x="385495" y="44139"/>
                </a:lnTo>
                <a:lnTo>
                  <a:pt x="41239" y="44139"/>
                </a:lnTo>
                <a:lnTo>
                  <a:pt x="41239" y="279069"/>
                </a:lnTo>
                <a:lnTo>
                  <a:pt x="23989" y="279069"/>
                </a:lnTo>
                <a:lnTo>
                  <a:pt x="23989" y="35534"/>
                </a:lnTo>
                <a:cubicBezTo>
                  <a:pt x="23989" y="30710"/>
                  <a:pt x="27813" y="26886"/>
                  <a:pt x="32592" y="26886"/>
                </a:cubicBezTo>
                <a:close/>
                <a:moveTo>
                  <a:pt x="215719" y="0"/>
                </a:moveTo>
                <a:cubicBezTo>
                  <a:pt x="220542" y="0"/>
                  <a:pt x="224365" y="3824"/>
                  <a:pt x="224365" y="8648"/>
                </a:cubicBezTo>
                <a:lnTo>
                  <a:pt x="224365" y="26886"/>
                </a:lnTo>
                <a:lnTo>
                  <a:pt x="207116" y="26886"/>
                </a:lnTo>
                <a:lnTo>
                  <a:pt x="207116" y="8648"/>
                </a:lnTo>
                <a:cubicBezTo>
                  <a:pt x="207116" y="3824"/>
                  <a:pt x="210940" y="0"/>
                  <a:pt x="21571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17" name="矩形: 圆角 216"/>
          <p:cNvSpPr/>
          <p:nvPr>
            <p:custDataLst>
              <p:tags r:id="rId10"/>
            </p:custDataLst>
          </p:nvPr>
        </p:nvSpPr>
        <p:spPr>
          <a:xfrm>
            <a:off x="10171046" y="2955471"/>
            <a:ext cx="645242" cy="645242"/>
          </a:xfrm>
          <a:prstGeom prst="roundRect">
            <a:avLst>
              <a:gd name="adj" fmla="val 902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8" name="文本框 217"/>
          <p:cNvSpPr txBox="1"/>
          <p:nvPr>
            <p:custDataLst>
              <p:tags r:id="rId11"/>
            </p:custDataLst>
          </p:nvPr>
        </p:nvSpPr>
        <p:spPr>
          <a:xfrm>
            <a:off x="9477784" y="4065672"/>
            <a:ext cx="2143985"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rgbClr val="000000"/>
                </a:solidFill>
                <a:latin typeface="+mj-ea"/>
                <a:ea typeface="+mj-ea"/>
              </a:rPr>
              <a:t>实验</a:t>
            </a:r>
            <a:r>
              <a:rPr lang="en-US" altLang="zh-CN" sz="2200" b="1" dirty="0">
                <a:solidFill>
                  <a:srgbClr val="000000"/>
                </a:solidFill>
                <a:latin typeface="+mj-ea"/>
                <a:ea typeface="+mj-ea"/>
              </a:rPr>
              <a:t>/</a:t>
            </a:r>
            <a:r>
              <a:rPr lang="zh-CN" altLang="en-US" sz="2200" b="1" dirty="0">
                <a:solidFill>
                  <a:srgbClr val="000000"/>
                </a:solidFill>
                <a:latin typeface="+mj-ea"/>
                <a:ea typeface="+mj-ea"/>
              </a:rPr>
              <a:t>复现</a:t>
            </a:r>
            <a:endParaRPr lang="en-US" altLang="zh-CN" sz="2200" b="1" dirty="0">
              <a:solidFill>
                <a:srgbClr val="000000"/>
              </a:solidFill>
              <a:latin typeface="+mj-ea"/>
              <a:ea typeface="+mj-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solidFill>
                  <a:srgbClr val="000000"/>
                </a:solidFill>
                <a:latin typeface="+mj-ea"/>
                <a:ea typeface="+mj-ea"/>
              </a:rPr>
              <a:t>结论</a:t>
            </a:r>
            <a:endParaRPr kumimoji="0" lang="en-US" altLang="zh-CN" sz="2200" b="1" i="0" u="none" strike="noStrike" kern="1200" cap="none" spc="0" normalizeH="0" baseline="0" noProof="0" dirty="0">
              <a:ln>
                <a:noFill/>
              </a:ln>
              <a:solidFill>
                <a:srgbClr val="000000"/>
              </a:solidFill>
              <a:effectLst/>
              <a:uLnTx/>
              <a:uFillTx/>
              <a:latin typeface="+mj-ea"/>
              <a:ea typeface="+mj-ea"/>
              <a:cs typeface="+mn-cs"/>
            </a:endParaRPr>
          </a:p>
        </p:txBody>
      </p:sp>
      <p:sp>
        <p:nvSpPr>
          <p:cNvPr id="224" name="research_106198"/>
          <p:cNvSpPr/>
          <p:nvPr>
            <p:custDataLst>
              <p:tags r:id="rId12"/>
            </p:custDataLst>
          </p:nvPr>
        </p:nvSpPr>
        <p:spPr>
          <a:xfrm>
            <a:off x="10262091" y="3046471"/>
            <a:ext cx="463153" cy="463239"/>
          </a:xfrm>
          <a:custGeom>
            <a:avLst/>
            <a:gdLst>
              <a:gd name="T0" fmla="*/ 5596 w 11192"/>
              <a:gd name="T1" fmla="*/ 0 h 11193"/>
              <a:gd name="T2" fmla="*/ 0 w 11192"/>
              <a:gd name="T3" fmla="*/ 5596 h 11193"/>
              <a:gd name="T4" fmla="*/ 5596 w 11192"/>
              <a:gd name="T5" fmla="*/ 11193 h 11193"/>
              <a:gd name="T6" fmla="*/ 11192 w 11192"/>
              <a:gd name="T7" fmla="*/ 5596 h 11193"/>
              <a:gd name="T8" fmla="*/ 5596 w 11192"/>
              <a:gd name="T9" fmla="*/ 0 h 11193"/>
              <a:gd name="T10" fmla="*/ 5596 w 11192"/>
              <a:gd name="T11" fmla="*/ 10949 h 11193"/>
              <a:gd name="T12" fmla="*/ 243 w 11192"/>
              <a:gd name="T13" fmla="*/ 5596 h 11193"/>
              <a:gd name="T14" fmla="*/ 5596 w 11192"/>
              <a:gd name="T15" fmla="*/ 243 h 11193"/>
              <a:gd name="T16" fmla="*/ 10949 w 11192"/>
              <a:gd name="T17" fmla="*/ 5596 h 11193"/>
              <a:gd name="T18" fmla="*/ 5596 w 11192"/>
              <a:gd name="T19" fmla="*/ 10949 h 11193"/>
              <a:gd name="T20" fmla="*/ 7362 w 11192"/>
              <a:gd name="T21" fmla="*/ 7175 h 11193"/>
              <a:gd name="T22" fmla="*/ 5243 w 11192"/>
              <a:gd name="T23" fmla="*/ 7175 h 11193"/>
              <a:gd name="T24" fmla="*/ 4010 w 11192"/>
              <a:gd name="T25" fmla="*/ 5948 h 11193"/>
              <a:gd name="T26" fmla="*/ 5243 w 11192"/>
              <a:gd name="T27" fmla="*/ 4721 h 11193"/>
              <a:gd name="T28" fmla="*/ 6857 w 11192"/>
              <a:gd name="T29" fmla="*/ 4721 h 11193"/>
              <a:gd name="T30" fmla="*/ 6458 w 11192"/>
              <a:gd name="T31" fmla="*/ 5118 h 11193"/>
              <a:gd name="T32" fmla="*/ 6458 w 11192"/>
              <a:gd name="T33" fmla="*/ 5372 h 11193"/>
              <a:gd name="T34" fmla="*/ 6585 w 11192"/>
              <a:gd name="T35" fmla="*/ 5424 h 11193"/>
              <a:gd name="T36" fmla="*/ 6712 w 11192"/>
              <a:gd name="T37" fmla="*/ 5372 h 11193"/>
              <a:gd name="T38" fmla="*/ 7419 w 11192"/>
              <a:gd name="T39" fmla="*/ 4668 h 11193"/>
              <a:gd name="T40" fmla="*/ 7419 w 11192"/>
              <a:gd name="T41" fmla="*/ 4415 h 11193"/>
              <a:gd name="T42" fmla="*/ 6712 w 11192"/>
              <a:gd name="T43" fmla="*/ 3711 h 11193"/>
              <a:gd name="T44" fmla="*/ 6458 w 11192"/>
              <a:gd name="T45" fmla="*/ 3711 h 11193"/>
              <a:gd name="T46" fmla="*/ 6458 w 11192"/>
              <a:gd name="T47" fmla="*/ 3965 h 11193"/>
              <a:gd name="T48" fmla="*/ 6857 w 11192"/>
              <a:gd name="T49" fmla="*/ 4362 h 11193"/>
              <a:gd name="T50" fmla="*/ 5243 w 11192"/>
              <a:gd name="T51" fmla="*/ 4362 h 11193"/>
              <a:gd name="T52" fmla="*/ 3649 w 11192"/>
              <a:gd name="T53" fmla="*/ 5948 h 11193"/>
              <a:gd name="T54" fmla="*/ 5243 w 11192"/>
              <a:gd name="T55" fmla="*/ 7534 h 11193"/>
              <a:gd name="T56" fmla="*/ 7362 w 11192"/>
              <a:gd name="T57" fmla="*/ 7534 h 11193"/>
              <a:gd name="T58" fmla="*/ 7542 w 11192"/>
              <a:gd name="T59" fmla="*/ 7355 h 11193"/>
              <a:gd name="T60" fmla="*/ 7362 w 11192"/>
              <a:gd name="T61" fmla="*/ 7175 h 1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92" h="11193">
                <a:moveTo>
                  <a:pt x="5596" y="0"/>
                </a:moveTo>
                <a:cubicBezTo>
                  <a:pt x="2510" y="0"/>
                  <a:pt x="0" y="2511"/>
                  <a:pt x="0" y="5596"/>
                </a:cubicBezTo>
                <a:cubicBezTo>
                  <a:pt x="0" y="8682"/>
                  <a:pt x="2510" y="11193"/>
                  <a:pt x="5596" y="11193"/>
                </a:cubicBezTo>
                <a:cubicBezTo>
                  <a:pt x="8682" y="11193"/>
                  <a:pt x="11192" y="8682"/>
                  <a:pt x="11192" y="5596"/>
                </a:cubicBezTo>
                <a:cubicBezTo>
                  <a:pt x="11192" y="2511"/>
                  <a:pt x="8682" y="0"/>
                  <a:pt x="5596" y="0"/>
                </a:cubicBezTo>
                <a:close/>
                <a:moveTo>
                  <a:pt x="5596" y="10949"/>
                </a:moveTo>
                <a:cubicBezTo>
                  <a:pt x="2644" y="10949"/>
                  <a:pt x="243" y="8548"/>
                  <a:pt x="243" y="5596"/>
                </a:cubicBezTo>
                <a:cubicBezTo>
                  <a:pt x="243" y="2645"/>
                  <a:pt x="2644" y="243"/>
                  <a:pt x="5596" y="243"/>
                </a:cubicBezTo>
                <a:cubicBezTo>
                  <a:pt x="8547" y="243"/>
                  <a:pt x="10949" y="2645"/>
                  <a:pt x="10949" y="5596"/>
                </a:cubicBezTo>
                <a:cubicBezTo>
                  <a:pt x="10949" y="8548"/>
                  <a:pt x="8547" y="10949"/>
                  <a:pt x="5596" y="10949"/>
                </a:cubicBezTo>
                <a:close/>
                <a:moveTo>
                  <a:pt x="7362" y="7175"/>
                </a:moveTo>
                <a:lnTo>
                  <a:pt x="5243" y="7175"/>
                </a:lnTo>
                <a:cubicBezTo>
                  <a:pt x="4563" y="7175"/>
                  <a:pt x="4010" y="6625"/>
                  <a:pt x="4010" y="5948"/>
                </a:cubicBezTo>
                <a:cubicBezTo>
                  <a:pt x="4010" y="5271"/>
                  <a:pt x="4563" y="4721"/>
                  <a:pt x="5243" y="4721"/>
                </a:cubicBezTo>
                <a:lnTo>
                  <a:pt x="6857" y="4721"/>
                </a:lnTo>
                <a:lnTo>
                  <a:pt x="6458" y="5118"/>
                </a:lnTo>
                <a:cubicBezTo>
                  <a:pt x="6387" y="5188"/>
                  <a:pt x="6387" y="5301"/>
                  <a:pt x="6458" y="5372"/>
                </a:cubicBezTo>
                <a:cubicBezTo>
                  <a:pt x="6493" y="5406"/>
                  <a:pt x="6539" y="5424"/>
                  <a:pt x="6585" y="5424"/>
                </a:cubicBezTo>
                <a:cubicBezTo>
                  <a:pt x="6631" y="5424"/>
                  <a:pt x="6677" y="5406"/>
                  <a:pt x="6712" y="5372"/>
                </a:cubicBezTo>
                <a:lnTo>
                  <a:pt x="7419" y="4668"/>
                </a:lnTo>
                <a:cubicBezTo>
                  <a:pt x="7489" y="4598"/>
                  <a:pt x="7489" y="4485"/>
                  <a:pt x="7419" y="4415"/>
                </a:cubicBezTo>
                <a:lnTo>
                  <a:pt x="6712" y="3711"/>
                </a:lnTo>
                <a:cubicBezTo>
                  <a:pt x="6642" y="3641"/>
                  <a:pt x="6528" y="3641"/>
                  <a:pt x="6458" y="3711"/>
                </a:cubicBezTo>
                <a:cubicBezTo>
                  <a:pt x="6387" y="3781"/>
                  <a:pt x="6387" y="3895"/>
                  <a:pt x="6458" y="3965"/>
                </a:cubicBezTo>
                <a:lnTo>
                  <a:pt x="6857" y="4362"/>
                </a:lnTo>
                <a:lnTo>
                  <a:pt x="5243" y="4362"/>
                </a:lnTo>
                <a:cubicBezTo>
                  <a:pt x="4364" y="4362"/>
                  <a:pt x="3649" y="5074"/>
                  <a:pt x="3649" y="5948"/>
                </a:cubicBezTo>
                <a:cubicBezTo>
                  <a:pt x="3649" y="6823"/>
                  <a:pt x="4364" y="7534"/>
                  <a:pt x="5243" y="7534"/>
                </a:cubicBezTo>
                <a:lnTo>
                  <a:pt x="7362" y="7534"/>
                </a:lnTo>
                <a:cubicBezTo>
                  <a:pt x="7462" y="7534"/>
                  <a:pt x="7542" y="7454"/>
                  <a:pt x="7542" y="7355"/>
                </a:cubicBezTo>
                <a:cubicBezTo>
                  <a:pt x="7542" y="7256"/>
                  <a:pt x="7462" y="7175"/>
                  <a:pt x="7362" y="71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36" name="直接连接符 235"/>
          <p:cNvCxnSpPr/>
          <p:nvPr>
            <p:custDataLst>
              <p:tags r:id="rId13"/>
            </p:custDataLst>
          </p:nvPr>
        </p:nvCxnSpPr>
        <p:spPr>
          <a:xfrm>
            <a:off x="2931065" y="280125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custDataLst>
              <p:tags r:id="rId14"/>
            </p:custDataLst>
          </p:nvPr>
        </p:nvCxnSpPr>
        <p:spPr>
          <a:xfrm>
            <a:off x="6096000" y="280125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custDataLst>
              <p:tags r:id="rId15"/>
            </p:custDataLst>
          </p:nvPr>
        </p:nvCxnSpPr>
        <p:spPr>
          <a:xfrm>
            <a:off x="9254743" y="2793996"/>
            <a:ext cx="0" cy="3132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4" name="文本框 263"/>
          <p:cNvSpPr txBox="1"/>
          <p:nvPr>
            <p:custDataLst>
              <p:tags r:id="rId16"/>
            </p:custDataLst>
          </p:nvPr>
        </p:nvSpPr>
        <p:spPr>
          <a:xfrm>
            <a:off x="819443" y="4816461"/>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01</a:t>
            </a:r>
            <a:endParaRPr lang="zh-CN" altLang="en-US" sz="6600" b="1" dirty="0">
              <a:solidFill>
                <a:schemeClr val="accent1">
                  <a:alpha val="20000"/>
                </a:schemeClr>
              </a:solidFill>
              <a:latin typeface="+mj-ea"/>
              <a:ea typeface="+mj-ea"/>
            </a:endParaRPr>
          </a:p>
        </p:txBody>
      </p:sp>
      <p:sp>
        <p:nvSpPr>
          <p:cNvPr id="265" name="文本框 264"/>
          <p:cNvSpPr txBox="1"/>
          <p:nvPr>
            <p:custDataLst>
              <p:tags r:id="rId17"/>
            </p:custDataLst>
          </p:nvPr>
        </p:nvSpPr>
        <p:spPr>
          <a:xfrm>
            <a:off x="3937217" y="4823884"/>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02</a:t>
            </a:r>
            <a:endParaRPr lang="zh-CN" altLang="en-US" sz="6600" b="1" dirty="0">
              <a:solidFill>
                <a:schemeClr val="accent1">
                  <a:alpha val="20000"/>
                </a:schemeClr>
              </a:solidFill>
              <a:latin typeface="+mj-ea"/>
              <a:ea typeface="+mj-ea"/>
            </a:endParaRPr>
          </a:p>
        </p:txBody>
      </p:sp>
      <p:sp>
        <p:nvSpPr>
          <p:cNvPr id="266" name="文本框 265"/>
          <p:cNvSpPr txBox="1"/>
          <p:nvPr>
            <p:custDataLst>
              <p:tags r:id="rId18"/>
            </p:custDataLst>
          </p:nvPr>
        </p:nvSpPr>
        <p:spPr>
          <a:xfrm>
            <a:off x="7045647" y="4825260"/>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03</a:t>
            </a:r>
            <a:endParaRPr lang="zh-CN" altLang="en-US" sz="6600" b="1" dirty="0">
              <a:solidFill>
                <a:schemeClr val="accent1">
                  <a:alpha val="20000"/>
                </a:schemeClr>
              </a:solidFill>
              <a:latin typeface="+mj-ea"/>
              <a:ea typeface="+mj-ea"/>
            </a:endParaRPr>
          </a:p>
        </p:txBody>
      </p:sp>
      <p:sp>
        <p:nvSpPr>
          <p:cNvPr id="268" name="文本框 267"/>
          <p:cNvSpPr txBox="1"/>
          <p:nvPr>
            <p:custDataLst>
              <p:tags r:id="rId19"/>
            </p:custDataLst>
          </p:nvPr>
        </p:nvSpPr>
        <p:spPr>
          <a:xfrm>
            <a:off x="9934865" y="4823884"/>
            <a:ext cx="1229825" cy="1107996"/>
          </a:xfrm>
          <a:prstGeom prst="rect">
            <a:avLst/>
          </a:prstGeom>
          <a:noFill/>
        </p:spPr>
        <p:txBody>
          <a:bodyPr wrap="none" rtlCol="0">
            <a:spAutoFit/>
          </a:bodyPr>
          <a:lstStyle/>
          <a:p>
            <a:pPr algn="ctr"/>
            <a:r>
              <a:rPr lang="en-US" altLang="zh-CN" sz="6600" b="1" dirty="0">
                <a:solidFill>
                  <a:schemeClr val="accent1">
                    <a:alpha val="20000"/>
                  </a:schemeClr>
                </a:solidFill>
                <a:latin typeface="+mj-ea"/>
                <a:ea typeface="+mj-ea"/>
              </a:rPr>
              <a:t>04</a:t>
            </a:r>
            <a:endParaRPr lang="zh-CN" altLang="en-US" sz="6600" b="1" dirty="0">
              <a:solidFill>
                <a:schemeClr val="accent1">
                  <a:alpha val="20000"/>
                </a:schemeClr>
              </a:solidFill>
              <a:latin typeface="+mj-ea"/>
              <a:ea typeface="+mj-ea"/>
            </a:endParaRPr>
          </a:p>
        </p:txBody>
      </p:sp>
      <p:sp>
        <p:nvSpPr>
          <p:cNvPr id="270" name="文本框 269"/>
          <p:cNvSpPr txBox="1"/>
          <p:nvPr/>
        </p:nvSpPr>
        <p:spPr>
          <a:xfrm>
            <a:off x="435358" y="254000"/>
            <a:ext cx="2031325" cy="1107996"/>
          </a:xfrm>
          <a:prstGeom prst="rect">
            <a:avLst/>
          </a:prstGeom>
          <a:noFill/>
        </p:spPr>
        <p:txBody>
          <a:bodyPr wrap="none" rtlCol="0">
            <a:spAutoFit/>
          </a:bodyPr>
          <a:lstStyle/>
          <a:p>
            <a:pPr algn="ctr"/>
            <a:r>
              <a:rPr lang="zh-CN" altLang="en-US" sz="6600" b="1" spc="600" dirty="0">
                <a:solidFill>
                  <a:schemeClr val="bg1"/>
                </a:solidFill>
                <a:latin typeface="+mj-ea"/>
                <a:ea typeface="+mj-ea"/>
              </a:rPr>
              <a:t>目录</a:t>
            </a:r>
          </a:p>
        </p:txBody>
      </p:sp>
      <p:sp>
        <p:nvSpPr>
          <p:cNvPr id="271" name="文本框 270"/>
          <p:cNvSpPr txBox="1"/>
          <p:nvPr/>
        </p:nvSpPr>
        <p:spPr>
          <a:xfrm>
            <a:off x="518524" y="1496200"/>
            <a:ext cx="1864998" cy="338554"/>
          </a:xfrm>
          <a:prstGeom prst="rect">
            <a:avLst/>
          </a:prstGeom>
          <a:noFill/>
        </p:spPr>
        <p:txBody>
          <a:bodyPr wrap="none" rtlCol="0">
            <a:spAutoFit/>
          </a:bodyPr>
          <a:lstStyle/>
          <a:p>
            <a:pPr algn="ctr"/>
            <a:r>
              <a:rPr lang="en-US" altLang="zh-CN" sz="1600" spc="600" dirty="0">
                <a:solidFill>
                  <a:schemeClr val="bg1"/>
                </a:solidFill>
                <a:latin typeface="+mn-ea"/>
              </a:rPr>
              <a:t>CONTENTS</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01</a:t>
            </a:r>
            <a:endParaRPr lang="zh-CN" altLang="en-US" sz="9600" b="1" spc="600" dirty="0">
              <a:solidFill>
                <a:schemeClr val="bg1"/>
              </a:solidFill>
              <a:latin typeface="+mj-ea"/>
              <a:ea typeface="+mj-ea"/>
            </a:endParaRPr>
          </a:p>
        </p:txBody>
      </p:sp>
      <p:sp>
        <p:nvSpPr>
          <p:cNvPr id="172" name="文本框 171"/>
          <p:cNvSpPr txBox="1"/>
          <p:nvPr/>
        </p:nvSpPr>
        <p:spPr>
          <a:xfrm>
            <a:off x="3288327" y="3533317"/>
            <a:ext cx="5745606" cy="14465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000000"/>
                </a:solidFill>
                <a:effectLst/>
                <a:uLnTx/>
                <a:uFillTx/>
                <a:latin typeface="+mj-ea"/>
                <a:ea typeface="+mj-ea"/>
                <a:cs typeface="+mn-cs"/>
              </a:rPr>
              <a:t>01 摘要</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00000"/>
                </a:solidFill>
                <a:latin typeface="+mj-ea"/>
                <a:ea typeface="+mj-ea"/>
              </a:rPr>
              <a:t>介绍</a:t>
            </a:r>
            <a:r>
              <a:rPr lang="en-US" altLang="zh-CN" sz="4400" b="1" dirty="0">
                <a:solidFill>
                  <a:srgbClr val="000000"/>
                </a:solidFill>
                <a:latin typeface="+mj-ea"/>
                <a:ea typeface="+mj-ea"/>
              </a:rPr>
              <a:t>/</a:t>
            </a:r>
            <a:r>
              <a:rPr lang="zh-CN" altLang="en-US" sz="4400" b="1" dirty="0">
                <a:solidFill>
                  <a:srgbClr val="000000"/>
                </a:solidFill>
                <a:latin typeface="+mj-ea"/>
                <a:ea typeface="+mj-ea"/>
              </a:rPr>
              <a:t>引言</a:t>
            </a:r>
            <a:endParaRPr kumimoji="0" lang="zh-CN" altLang="en-US"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566965" y="1496200"/>
            <a:ext cx="1768113" cy="338554"/>
          </a:xfrm>
          <a:prstGeom prst="rect">
            <a:avLst/>
          </a:prstGeom>
          <a:noFill/>
        </p:spPr>
        <p:txBody>
          <a:bodyPr wrap="none" rtlCol="0">
            <a:spAutoFit/>
          </a:bodyPr>
          <a:lstStyle/>
          <a:p>
            <a:pPr algn="ctr"/>
            <a:r>
              <a:rPr lang="en-US" altLang="zh-CN" sz="1600" spc="600" dirty="0">
                <a:solidFill>
                  <a:schemeClr val="bg1"/>
                </a:solidFill>
                <a:latin typeface="+mn-ea"/>
              </a:rPr>
              <a:t>PART ONE</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7552" y="1850324"/>
            <a:ext cx="1407421"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摘要</a:t>
            </a:r>
            <a:endParaRPr kumimoji="0" lang="en-US" altLang="zh-CN" sz="2000" b="1" i="0" u="none" strike="noStrike" kern="1200" cap="none" spc="0" normalizeH="0" baseline="0" noProof="0" dirty="0">
              <a:ln>
                <a:noFill/>
              </a:ln>
              <a:solidFill>
                <a:schemeClr val="bg1"/>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介绍</a:t>
            </a:r>
            <a:r>
              <a:rPr kumimoji="0" lang="en-US" altLang="zh-CN" sz="2000" b="1" i="0" u="none" strike="noStrike" kern="1200" cap="none" spc="0" normalizeH="0" baseline="0" noProof="0" dirty="0">
                <a:ln>
                  <a:noFill/>
                </a:ln>
                <a:solidFill>
                  <a:schemeClr val="bg1"/>
                </a:solidFill>
                <a:effectLst/>
                <a:uLnTx/>
                <a:uFillTx/>
                <a:latin typeface="+mj-ea"/>
                <a:ea typeface="+mj-ea"/>
                <a:cs typeface="+mn-cs"/>
              </a:rPr>
              <a:t>/</a:t>
            </a:r>
            <a:r>
              <a:rPr kumimoji="0" lang="zh-CN" altLang="en-US" sz="2000" b="1" i="0" u="none" strike="noStrike" kern="1200" cap="none" spc="0" normalizeH="0" baseline="0" noProof="0" dirty="0">
                <a:ln>
                  <a:noFill/>
                </a:ln>
                <a:solidFill>
                  <a:schemeClr val="bg1"/>
                </a:solidFill>
                <a:effectLst/>
                <a:uLnTx/>
                <a:uFillTx/>
                <a:latin typeface="+mj-ea"/>
                <a:ea typeface="+mj-ea"/>
                <a:cs typeface="+mn-cs"/>
              </a:rPr>
              <a:t>引言</a:t>
            </a:r>
            <a:endParaRPr kumimoji="0" lang="en-US" altLang="zh-CN" sz="2000" b="1" i="0" u="none" strike="noStrike" kern="1200" cap="none" spc="0" normalizeH="0" baseline="0" noProof="0" dirty="0">
              <a:ln>
                <a:noFill/>
              </a:ln>
              <a:solidFill>
                <a:schemeClr val="bg1"/>
              </a:solidFill>
              <a:effectLst/>
              <a:uLnTx/>
              <a:uFillTx/>
              <a:latin typeface="+mj-ea"/>
              <a:ea typeface="+mj-ea"/>
              <a:cs typeface="+mn-cs"/>
            </a:endParaRPr>
          </a:p>
        </p:txBody>
      </p:sp>
      <p:sp>
        <p:nvSpPr>
          <p:cNvPr id="4" name="文本框 3">
            <a:hlinkClick r:id="rId3" action="ppaction://hlinksldjump"/>
          </p:cNvPr>
          <p:cNvSpPr txBox="1"/>
          <p:nvPr/>
        </p:nvSpPr>
        <p:spPr>
          <a:xfrm>
            <a:off x="114602" y="3296374"/>
            <a:ext cx="15733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相关工作</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5" name="文本框 4">
            <a:hlinkClick r:id="rId4" action="ppaction://hlinksldjump"/>
          </p:cNvPr>
          <p:cNvSpPr txBox="1"/>
          <p:nvPr/>
        </p:nvSpPr>
        <p:spPr>
          <a:xfrm>
            <a:off x="114602" y="4309877"/>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p:cNvPr>
          <p:cNvSpPr txBox="1"/>
          <p:nvPr/>
        </p:nvSpPr>
        <p:spPr>
          <a:xfrm>
            <a:off x="114602" y="5417248"/>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cxnSp>
        <p:nvCxnSpPr>
          <p:cNvPr id="33" name="直接连接符 32"/>
          <p:cNvCxnSpPr/>
          <p:nvPr/>
        </p:nvCxnSpPr>
        <p:spPr>
          <a:xfrm flipV="1">
            <a:off x="387713" y="2522217"/>
            <a:ext cx="1142365" cy="5715"/>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等腰三角形 34"/>
          <p:cNvSpPr/>
          <p:nvPr/>
        </p:nvSpPr>
        <p:spPr>
          <a:xfrm rot="16200000">
            <a:off x="1630362" y="2136923"/>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3E75C6D3-133E-4A51-8F1C-F484242B8F05}" type="slidenum">
              <a:rPr lang="zh-CN" altLang="en-US" smtClean="0"/>
              <a:t>4</a:t>
            </a:fld>
            <a:endParaRPr lang="zh-CN" altLang="en-US"/>
          </a:p>
        </p:txBody>
      </p:sp>
      <p:sp>
        <p:nvSpPr>
          <p:cNvPr id="14" name="文本框 13"/>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摘要</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B2AE7585-B128-EC71-CBCB-F73ACBD18E15}"/>
              </a:ext>
            </a:extLst>
          </p:cNvPr>
          <p:cNvSpPr txBox="1"/>
          <p:nvPr/>
        </p:nvSpPr>
        <p:spPr>
          <a:xfrm>
            <a:off x="2033905" y="1064895"/>
            <a:ext cx="9603105" cy="5128895"/>
          </a:xfrm>
          <a:prstGeom prst="rect">
            <a:avLst/>
          </a:prstGeom>
        </p:spPr>
        <p:txBody>
          <a:bodyPr>
            <a:noAutofit/>
          </a:bodyPr>
          <a:lstStyle/>
          <a:p>
            <a:pPr marL="0" indent="0">
              <a:spcBef>
                <a:spcPts val="900"/>
              </a:spcBef>
              <a:spcAft>
                <a:spcPts val="900"/>
              </a:spcAft>
            </a:pPr>
            <a:r>
              <a:rPr lang="zh-CN" altLang="en-US" sz="1800" b="1" i="0" dirty="0">
                <a:latin typeface="+mj-ea"/>
                <a:ea typeface="+mj-ea"/>
              </a:rPr>
              <a:t>研究问题：</a:t>
            </a:r>
            <a:endParaRPr lang="en-US" altLang="zh-CN" sz="1800" b="1" i="0" dirty="0">
              <a:latin typeface="+mj-ea"/>
              <a:ea typeface="+mj-ea"/>
            </a:endParaRPr>
          </a:p>
          <a:p>
            <a:pPr marL="0" indent="0">
              <a:spcBef>
                <a:spcPts val="900"/>
              </a:spcBef>
              <a:spcAft>
                <a:spcPts val="900"/>
              </a:spcAft>
            </a:pPr>
            <a:r>
              <a:rPr lang="zh-CN" altLang="en-US" sz="1800" b="0" i="0" dirty="0">
                <a:latin typeface="+mn-ea"/>
              </a:rPr>
              <a:t>癌症基因的准确识别对于治疗和理解癌症发病机制至关重要。现有方法通常单独使用蛋白质-蛋白质相互作用（PPI）网络或基因功能关联数据，忽略了这两类数据之间可能存在的、能提供更准确基因关联信息的共享邻域结构信息。</a:t>
            </a:r>
            <a:endParaRPr lang="en-US" altLang="zh-CN" sz="1800" b="0" i="0" dirty="0">
              <a:latin typeface="+mn-ea"/>
            </a:endParaRPr>
          </a:p>
          <a:p>
            <a:pPr marL="0" indent="0">
              <a:spcBef>
                <a:spcPts val="900"/>
              </a:spcBef>
              <a:spcAft>
                <a:spcPts val="900"/>
              </a:spcAft>
            </a:pPr>
            <a:r>
              <a:rPr lang="zh-CN" altLang="en-US" b="1" dirty="0">
                <a:latin typeface="+mj-ea"/>
                <a:ea typeface="+mj-ea"/>
              </a:rPr>
              <a:t>方法创新：</a:t>
            </a:r>
            <a:endParaRPr lang="zh-CN" altLang="en-US" sz="1800" b="1" i="0" dirty="0">
              <a:latin typeface="+mj-ea"/>
              <a:ea typeface="+mj-ea"/>
            </a:endParaRPr>
          </a:p>
          <a:p>
            <a:pPr marL="0" indent="0">
              <a:spcBef>
                <a:spcPts val="900"/>
              </a:spcBef>
              <a:spcAft>
                <a:spcPts val="900"/>
              </a:spcAft>
            </a:pPr>
            <a:r>
              <a:rPr lang="zh-CN" altLang="en-US" sz="1800" b="0" i="0" dirty="0">
                <a:latin typeface="+mn-ea"/>
              </a:rPr>
              <a:t>本文提出了一种名为 DISFusion 的新方法。该方法整合了多组学癌症数据、PPI网络和基因功能关联来识别癌症基因。其关键创新是一个跨视图解相关损失函数，通过增强PPI网络与基因功能关联之间的共同信息，从而提高预测准确性。</a:t>
            </a:r>
          </a:p>
          <a:p>
            <a:pPr marL="0" algn="l">
              <a:lnSpc>
                <a:spcPct val="110000"/>
              </a:lnSpc>
              <a:spcBef>
                <a:spcPts val="0"/>
              </a:spcBef>
              <a:spcAft>
                <a:spcPts val="0"/>
              </a:spcAft>
              <a:buClrTx/>
              <a:buSzTx/>
              <a:buFontTx/>
              <a:defRPr/>
            </a:pPr>
            <a:r>
              <a:rPr lang="zh-CN" altLang="en-US" b="1" i="0" noProof="0" dirty="0">
                <a:ln>
                  <a:noFill/>
                </a:ln>
                <a:solidFill>
                  <a:srgbClr val="000000"/>
                </a:solidFill>
                <a:effectLst/>
                <a:uLnTx/>
                <a:uFillTx/>
                <a:latin typeface="+mj-ea"/>
                <a:ea typeface="+mj-ea"/>
              </a:rPr>
              <a:t>主要结果：</a:t>
            </a:r>
          </a:p>
          <a:p>
            <a:pPr marL="0" indent="0">
              <a:spcBef>
                <a:spcPct val="0"/>
              </a:spcBef>
              <a:spcAft>
                <a:spcPct val="0"/>
              </a:spcAft>
              <a:buFont typeface="Arial" panose="020B0604020202020204"/>
              <a:buChar char="•"/>
            </a:pPr>
            <a:r>
              <a:rPr lang="zh-CN" altLang="en-US" sz="1800" b="0" i="0" dirty="0">
                <a:latin typeface="+mn-ea"/>
              </a:rPr>
              <a:t>性能优越： 广泛的实验表明，DISFusion 在泛癌基因数据和多个独立测试集上均优于现有的最先进方法，并表现出更强的泛化能力。</a:t>
            </a:r>
          </a:p>
          <a:p>
            <a:pPr marL="0" indent="0">
              <a:spcBef>
                <a:spcPct val="0"/>
              </a:spcBef>
              <a:spcAft>
                <a:spcPct val="0"/>
              </a:spcAft>
              <a:buFont typeface="Arial" panose="020B0604020202020204"/>
              <a:buChar char="•"/>
            </a:pPr>
            <a:r>
              <a:rPr lang="zh-CN" altLang="en-US" sz="1800" b="0" i="0" dirty="0">
                <a:latin typeface="+mn-ea"/>
              </a:rPr>
              <a:t>真实世界验证： 对CPTAC泛癌蛋白质组数据的分析显示，DISFusion 预测的30个新型癌症基因与多种癌症类型之间存在显著关联，证明了其实用价值。</a:t>
            </a:r>
          </a:p>
          <a:p>
            <a:pPr marL="0" indent="0">
              <a:spcBef>
                <a:spcPts val="900"/>
              </a:spcBef>
              <a:spcAft>
                <a:spcPts val="900"/>
              </a:spcAft>
            </a:pPr>
            <a:r>
              <a:rPr lang="zh-CN" altLang="en-US" b="1" i="0" noProof="0" dirty="0">
                <a:ln>
                  <a:noFill/>
                </a:ln>
                <a:solidFill>
                  <a:srgbClr val="000000"/>
                </a:solidFill>
                <a:effectLst/>
                <a:uLnTx/>
                <a:uFillTx/>
                <a:latin typeface="+mj-ea"/>
                <a:ea typeface="+mj-ea"/>
              </a:rPr>
              <a:t>结论：</a:t>
            </a:r>
          </a:p>
          <a:p>
            <a:pPr marL="0" indent="0">
              <a:spcBef>
                <a:spcPts val="900"/>
              </a:spcBef>
              <a:spcAft>
                <a:spcPts val="900"/>
              </a:spcAft>
            </a:pPr>
            <a:r>
              <a:rPr lang="zh-CN" altLang="en-US" sz="1800" b="0" i="0" dirty="0">
                <a:latin typeface="+mn-ea"/>
              </a:rPr>
              <a:t>本研究证实了增强PPI网络与基因功能关联之间共同信息的有效性，并为癌症基因的识别提供了新的见解。</a:t>
            </a:r>
          </a:p>
          <a:p>
            <a:pPr marL="0" indent="0">
              <a:spcBef>
                <a:spcPts val="900"/>
              </a:spcBef>
              <a:spcAft>
                <a:spcPts val="900"/>
              </a:spcAft>
            </a:pPr>
            <a:endParaRPr lang="en-US" altLang="zh-CN" sz="1600" b="0" i="0" dirty="0">
              <a:solidFill>
                <a:srgbClr val="F9FAFB"/>
              </a:solidFill>
              <a:latin typeface="quote-cjk-patch"/>
              <a:ea typeface="quote-cjk-patch"/>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7916F-D000-09B9-A2EC-4456C1E36EF8}"/>
            </a:ext>
          </a:extLst>
        </p:cNvPr>
        <p:cNvGrpSpPr/>
        <p:nvPr/>
      </p:nvGrpSpPr>
      <p:grpSpPr>
        <a:xfrm>
          <a:off x="0" y="0"/>
          <a:ext cx="0" cy="0"/>
          <a:chOff x="0" y="0"/>
          <a:chExt cx="0" cy="0"/>
        </a:xfrm>
      </p:grpSpPr>
      <p:sp>
        <p:nvSpPr>
          <p:cNvPr id="68" name="灯片编号占位符 67">
            <a:extLst>
              <a:ext uri="{FF2B5EF4-FFF2-40B4-BE49-F238E27FC236}">
                <a16:creationId xmlns:a16="http://schemas.microsoft.com/office/drawing/2014/main" id="{7705E345-EF3F-C017-82F6-AE3201650EA6}"/>
              </a:ext>
            </a:extLst>
          </p:cNvPr>
          <p:cNvSpPr>
            <a:spLocks noGrp="1"/>
          </p:cNvSpPr>
          <p:nvPr>
            <p:ph type="sldNum" sz="quarter" idx="12"/>
          </p:nvPr>
        </p:nvSpPr>
        <p:spPr/>
        <p:txBody>
          <a:bodyPr/>
          <a:lstStyle/>
          <a:p>
            <a:fld id="{3E75C6D3-133E-4A51-8F1C-F484242B8F05}" type="slidenum">
              <a:rPr lang="zh-CN" altLang="en-US" smtClean="0"/>
              <a:t>5</a:t>
            </a:fld>
            <a:endParaRPr lang="zh-CN" altLang="en-US" dirty="0"/>
          </a:p>
        </p:txBody>
      </p:sp>
      <p:sp>
        <p:nvSpPr>
          <p:cNvPr id="14" name="文本框 13">
            <a:extLst>
              <a:ext uri="{FF2B5EF4-FFF2-40B4-BE49-F238E27FC236}">
                <a16:creationId xmlns:a16="http://schemas.microsoft.com/office/drawing/2014/main" id="{DFDDCBA3-E149-AD3D-99D6-ED9D56265E37}"/>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介绍</a:t>
            </a:r>
            <a:r>
              <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a:t>
            </a: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引言</a:t>
            </a:r>
          </a:p>
        </p:txBody>
      </p:sp>
      <p:cxnSp>
        <p:nvCxnSpPr>
          <p:cNvPr id="8" name="直接连接符 7">
            <a:extLst>
              <a:ext uri="{FF2B5EF4-FFF2-40B4-BE49-F238E27FC236}">
                <a16:creationId xmlns:a16="http://schemas.microsoft.com/office/drawing/2014/main" id="{CA82D4F1-4509-397E-02A4-B53E596DA759}"/>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EDEAB890-2CAD-8E20-34EA-A47D85E21896}"/>
              </a:ext>
            </a:extLst>
          </p:cNvPr>
          <p:cNvSpPr txBox="1"/>
          <p:nvPr/>
        </p:nvSpPr>
        <p:spPr>
          <a:xfrm>
            <a:off x="1753870" y="586740"/>
            <a:ext cx="10438130" cy="6271260"/>
          </a:xfrm>
          <a:prstGeom prst="rect">
            <a:avLst/>
          </a:prstGeom>
        </p:spPr>
        <p:txBody>
          <a:bodyPr>
            <a:noAutofit/>
          </a:bodyPr>
          <a:lstStyle/>
          <a:p>
            <a:pPr marL="0" indent="0">
              <a:spcBef>
                <a:spcPts val="900"/>
              </a:spcBef>
              <a:spcAft>
                <a:spcPts val="900"/>
              </a:spcAft>
            </a:pPr>
            <a:endParaRPr lang="zh-CN" altLang="en-US" sz="1800" b="0" i="0" dirty="0">
              <a:latin typeface="+mn-ea"/>
            </a:endParaRPr>
          </a:p>
          <a:p>
            <a:pPr marL="0" indent="0">
              <a:spcBef>
                <a:spcPct val="0"/>
              </a:spcBef>
              <a:spcAft>
                <a:spcPct val="0"/>
              </a:spcAft>
              <a:buFont typeface="Arial" panose="020B0604020202020204"/>
              <a:buChar char="•"/>
            </a:pPr>
            <a:r>
              <a:rPr lang="zh-CN" altLang="en-US" sz="1800" b="0" i="0" dirty="0">
                <a:latin typeface="+mn-ea"/>
              </a:rPr>
              <a:t>癌症源于关键基因的突变积累，因此识别驱动癌症发生和发展的癌症基因是基因组研究的关键目标。</a:t>
            </a:r>
          </a:p>
          <a:p>
            <a:pPr marL="0" indent="0">
              <a:spcBef>
                <a:spcPct val="0"/>
              </a:spcBef>
              <a:spcAft>
                <a:spcPct val="0"/>
              </a:spcAft>
              <a:buFont typeface="Arial" panose="020B0604020202020204"/>
              <a:buChar char="•"/>
            </a:pPr>
            <a:r>
              <a:rPr lang="zh-CN" altLang="en-US" sz="1800" b="0" i="0" dirty="0">
                <a:latin typeface="+mn-ea"/>
              </a:rPr>
              <a:t>尽管已有数据库（如COSMIC）注释了部分癌症基因，但当前已知的癌症基因目录仍不完整，准确识别癌症基因仍是一个重大挑战。</a:t>
            </a:r>
          </a:p>
          <a:p>
            <a:pPr marL="0" indent="0">
              <a:spcBef>
                <a:spcPct val="0"/>
              </a:spcBef>
              <a:spcAft>
                <a:spcPct val="0"/>
              </a:spcAft>
              <a:buAutoNum type="arabicPeriod"/>
            </a:pPr>
            <a:r>
              <a:rPr lang="zh-CN" altLang="en-US" sz="1800" b="0" i="0" dirty="0">
                <a:latin typeface="+mn-ea"/>
              </a:rPr>
              <a:t>基于手工特征的方法（如MutSigCV）：仅利用测序数据的统计结果，忽略了基因间的关联。</a:t>
            </a:r>
          </a:p>
          <a:p>
            <a:pPr marL="0" indent="0">
              <a:spcBef>
                <a:spcPct val="0"/>
              </a:spcBef>
              <a:spcAft>
                <a:spcPct val="0"/>
              </a:spcAft>
              <a:buAutoNum type="arabicPeriod"/>
            </a:pPr>
            <a:r>
              <a:rPr lang="zh-CN" altLang="en-US" sz="1800" b="0" i="0" dirty="0">
                <a:latin typeface="+mn-ea"/>
              </a:rPr>
              <a:t>基于生物网络的方法（如EMOGI）：利用PPI网络等二元基因关联信息。</a:t>
            </a:r>
          </a:p>
          <a:p>
            <a:pPr marL="0" indent="0">
              <a:spcBef>
                <a:spcPct val="0"/>
              </a:spcBef>
              <a:spcAft>
                <a:spcPct val="0"/>
              </a:spcAft>
              <a:buAutoNum type="arabicPeriod"/>
            </a:pPr>
            <a:r>
              <a:rPr lang="zh-CN" altLang="en-US" sz="1800" b="0" i="0" dirty="0">
                <a:latin typeface="+mn-ea"/>
              </a:rPr>
              <a:t>基于功能关联的方法（如DISHyper）：利用基因集（如信号通路）中的高阶功能关联信息。</a:t>
            </a:r>
          </a:p>
          <a:p>
            <a:pPr marL="0" indent="0">
              <a:spcBef>
                <a:spcPct val="0"/>
              </a:spcBef>
              <a:spcAft>
                <a:spcPct val="0"/>
              </a:spcAft>
              <a:buFont typeface="Arial" panose="020B0604020202020204"/>
              <a:buChar char="•"/>
            </a:pPr>
            <a:r>
              <a:rPr lang="zh-CN" altLang="en-US" sz="1800" b="0" i="0" dirty="0">
                <a:latin typeface="+mn-ea"/>
              </a:rPr>
              <a:t>关键局限： 现有方法往往忽略了PPI网络与基因功能关联之间可能存在的共享邻域结构信息（共同信息）。这种共同信息可能包含更准确、更重要的基因关联见解。</a:t>
            </a:r>
          </a:p>
          <a:p>
            <a:pPr marL="0" indent="0">
              <a:spcBef>
                <a:spcPct val="0"/>
              </a:spcBef>
              <a:spcAft>
                <a:spcPct val="0"/>
              </a:spcAft>
              <a:buFont typeface="Arial" panose="020B0604020202020204"/>
              <a:buChar char="•"/>
            </a:pPr>
            <a:r>
              <a:rPr lang="zh-CN" altLang="en-US" sz="1800" b="0" i="0" dirty="0">
                <a:latin typeface="+mn-ea"/>
              </a:rPr>
              <a:t>癌症基因已被证实在特定的生物学过程和信号通路中聚集，这表明整合二元（PPI）和高阶功能（基因集）两种关联信息是可行的。</a:t>
            </a:r>
          </a:p>
          <a:p>
            <a:pPr marL="0" indent="0">
              <a:spcBef>
                <a:spcPct val="0"/>
              </a:spcBef>
              <a:spcAft>
                <a:spcPct val="0"/>
              </a:spcAft>
              <a:buFont typeface="Arial" panose="020B0604020202020204"/>
              <a:buChar char="•"/>
            </a:pPr>
            <a:r>
              <a:rPr lang="zh-CN" altLang="en-US" sz="1800" b="0" i="0" dirty="0">
                <a:latin typeface="+mn-ea"/>
              </a:rPr>
              <a:t>然而，现有整合方法（如MODIG）忽略了两类数据间的信息交互。例如，基因STIM1与TRPC1有PPI但无功能关联，而与GCHFR有功能关联却无直接PPI。同时具备两者的基因（如NOS1与BDKRB2）则代表更强的生物学联系。</a:t>
            </a:r>
          </a:p>
          <a:p>
            <a:pPr marL="0" indent="0">
              <a:spcBef>
                <a:spcPct val="0"/>
              </a:spcBef>
              <a:spcAft>
                <a:spcPct val="0"/>
              </a:spcAft>
              <a:buFont typeface="Arial" panose="020B0604020202020204"/>
              <a:buChar char="•"/>
            </a:pPr>
            <a:r>
              <a:rPr lang="zh-CN" altLang="en-US" sz="1800" b="0" i="0" dirty="0">
                <a:latin typeface="+mn-ea"/>
              </a:rPr>
              <a:t>因此，本研究专注于增强PPI网络与基因功能关联之间的“共同信息”，以更全面准确地刻画基因关联模式。</a:t>
            </a:r>
          </a:p>
          <a:p>
            <a:pPr marL="0" indent="0">
              <a:spcBef>
                <a:spcPct val="0"/>
              </a:spcBef>
              <a:spcAft>
                <a:spcPct val="0"/>
              </a:spcAft>
              <a:buAutoNum type="arabicPeriod"/>
            </a:pPr>
            <a:r>
              <a:rPr lang="zh-CN" altLang="en-US" sz="1800" b="0" i="0" dirty="0">
                <a:latin typeface="+mn-ea"/>
              </a:rPr>
              <a:t>新方法： 提出了 DISFusion，整合多组学特征、PPI网络和基因功能关联来识别癌症基因。</a:t>
            </a:r>
          </a:p>
          <a:p>
            <a:pPr marL="0" indent="0">
              <a:spcBef>
                <a:spcPct val="0"/>
              </a:spcBef>
              <a:spcAft>
                <a:spcPct val="0"/>
              </a:spcAft>
              <a:buAutoNum type="arabicPeriod"/>
            </a:pPr>
            <a:r>
              <a:rPr lang="zh-CN" altLang="en-US" sz="1800" b="0" i="0" dirty="0">
                <a:latin typeface="+mn-ea"/>
              </a:rPr>
              <a:t>技术创新： 设计了跨视图解相关损失，通过增强不同基因关联数据间的共同信息来提高基因表示的质量。</a:t>
            </a:r>
          </a:p>
          <a:p>
            <a:pPr marL="0" indent="0">
              <a:spcBef>
                <a:spcPct val="0"/>
              </a:spcBef>
              <a:spcAft>
                <a:spcPct val="0"/>
              </a:spcAft>
              <a:buAutoNum type="arabicPeriod"/>
            </a:pPr>
            <a:r>
              <a:rPr lang="zh-CN" altLang="en-US" sz="1800" b="0" i="0" dirty="0">
                <a:latin typeface="+mn-ea"/>
              </a:rPr>
              <a:t>性能优越： 在泛癌数据、独立测试集和六个单癌种数据上，DISFusion 均优于所有基线方法。</a:t>
            </a:r>
          </a:p>
          <a:p>
            <a:pPr marL="0" indent="0">
              <a:spcBef>
                <a:spcPct val="0"/>
              </a:spcBef>
              <a:spcAft>
                <a:spcPct val="0"/>
              </a:spcAft>
              <a:buAutoNum type="arabicPeriod"/>
            </a:pPr>
            <a:r>
              <a:rPr lang="zh-CN" altLang="en-US" sz="1800" b="0" i="0" dirty="0">
                <a:latin typeface="+mn-ea"/>
              </a:rPr>
              <a:t>实际应用价值： 预测的30个新型癌症基因在蛋白质组数据中与多种癌症显著关联，验证了其实用性。</a:t>
            </a:r>
          </a:p>
        </p:txBody>
      </p:sp>
      <p:sp>
        <p:nvSpPr>
          <p:cNvPr id="11" name="文本框 10">
            <a:extLst>
              <a:ext uri="{FF2B5EF4-FFF2-40B4-BE49-F238E27FC236}">
                <a16:creationId xmlns:a16="http://schemas.microsoft.com/office/drawing/2014/main" id="{62FCDE0C-DE37-60B2-4C05-8955DDC0681E}"/>
              </a:ext>
            </a:extLst>
          </p:cNvPr>
          <p:cNvSpPr txBox="1"/>
          <p:nvPr/>
        </p:nvSpPr>
        <p:spPr>
          <a:xfrm>
            <a:off x="-111125" y="1327785"/>
            <a:ext cx="2010410" cy="532765"/>
          </a:xfrm>
          <a:prstGeom prst="rect">
            <a:avLst/>
          </a:prstGeom>
          <a:noFill/>
        </p:spPr>
        <p:txBody>
          <a:bodyPr wrap="square" rtlCol="0" anchor="t">
            <a:noAutofit/>
          </a:bodyPr>
          <a:lstStyle/>
          <a:p>
            <a:r>
              <a:rPr lang="zh-CN" altLang="en-US" sz="2000" b="1" noProof="0" dirty="0">
                <a:ln>
                  <a:noFill/>
                </a:ln>
                <a:solidFill>
                  <a:schemeClr val="bg1"/>
                </a:solidFill>
                <a:effectLst/>
                <a:uLnTx/>
                <a:uFillTx/>
                <a:latin typeface="+mj-ea"/>
                <a:ea typeface="+mj-ea"/>
                <a:sym typeface="+mn-ea"/>
              </a:rPr>
              <a:t>研究背景与挑战</a:t>
            </a:r>
          </a:p>
        </p:txBody>
      </p:sp>
      <p:sp>
        <p:nvSpPr>
          <p:cNvPr id="12" name="文本框 11">
            <a:extLst>
              <a:ext uri="{FF2B5EF4-FFF2-40B4-BE49-F238E27FC236}">
                <a16:creationId xmlns:a16="http://schemas.microsoft.com/office/drawing/2014/main" id="{CD4DE31C-9067-FC91-E880-E05A17EC114E}"/>
              </a:ext>
            </a:extLst>
          </p:cNvPr>
          <p:cNvSpPr txBox="1"/>
          <p:nvPr/>
        </p:nvSpPr>
        <p:spPr>
          <a:xfrm>
            <a:off x="95250" y="3252470"/>
            <a:ext cx="1659255" cy="1375410"/>
          </a:xfrm>
          <a:prstGeom prst="rect">
            <a:avLst/>
          </a:prstGeom>
          <a:noFill/>
        </p:spPr>
        <p:txBody>
          <a:bodyPr wrap="square" rtlCol="0" anchor="t">
            <a:noAutofit/>
          </a:bodyPr>
          <a:lstStyle/>
          <a:p>
            <a:r>
              <a:rPr lang="zh-CN" altLang="en-US" sz="2000" b="1" noProof="0" dirty="0">
                <a:ln>
                  <a:noFill/>
                </a:ln>
                <a:solidFill>
                  <a:schemeClr val="bg1"/>
                </a:solidFill>
                <a:effectLst/>
                <a:uLnTx/>
                <a:uFillTx/>
                <a:latin typeface="+mj-ea"/>
                <a:ea typeface="+mj-ea"/>
                <a:sym typeface="+mn-ea"/>
              </a:rPr>
              <a:t>研究动机与核心思想</a:t>
            </a:r>
          </a:p>
        </p:txBody>
      </p:sp>
      <p:sp>
        <p:nvSpPr>
          <p:cNvPr id="13" name="文本框 12">
            <a:extLst>
              <a:ext uri="{FF2B5EF4-FFF2-40B4-BE49-F238E27FC236}">
                <a16:creationId xmlns:a16="http://schemas.microsoft.com/office/drawing/2014/main" id="{8CE15AEA-2448-F1A8-94B6-E6D65A697265}"/>
              </a:ext>
            </a:extLst>
          </p:cNvPr>
          <p:cNvSpPr txBox="1"/>
          <p:nvPr/>
        </p:nvSpPr>
        <p:spPr>
          <a:xfrm>
            <a:off x="-110490" y="1860550"/>
            <a:ext cx="2009775" cy="1165860"/>
          </a:xfrm>
          <a:prstGeom prst="rect">
            <a:avLst/>
          </a:prstGeom>
          <a:noFill/>
        </p:spPr>
        <p:txBody>
          <a:bodyPr wrap="square" rtlCol="0" anchor="t">
            <a:noAutofit/>
          </a:bodyPr>
          <a:lstStyle/>
          <a:p>
            <a:r>
              <a:rPr lang="zh-CN" altLang="en-US" sz="2000" b="1" noProof="0" dirty="0">
                <a:ln>
                  <a:noFill/>
                </a:ln>
                <a:solidFill>
                  <a:schemeClr val="bg1"/>
                </a:solidFill>
                <a:effectLst/>
                <a:uLnTx/>
                <a:uFillTx/>
                <a:latin typeface="+mj-ea"/>
                <a:ea typeface="+mj-ea"/>
                <a:sym typeface="+mn-ea"/>
              </a:rPr>
              <a:t>现有方法及局限</a:t>
            </a:r>
          </a:p>
        </p:txBody>
      </p:sp>
      <p:sp>
        <p:nvSpPr>
          <p:cNvPr id="15" name="文本框 14">
            <a:extLst>
              <a:ext uri="{FF2B5EF4-FFF2-40B4-BE49-F238E27FC236}">
                <a16:creationId xmlns:a16="http://schemas.microsoft.com/office/drawing/2014/main" id="{33E9D232-25BF-09DE-A90D-6879501BF5B2}"/>
              </a:ext>
            </a:extLst>
          </p:cNvPr>
          <p:cNvSpPr txBox="1"/>
          <p:nvPr/>
        </p:nvSpPr>
        <p:spPr>
          <a:xfrm>
            <a:off x="-635" y="5153025"/>
            <a:ext cx="1754505" cy="1160145"/>
          </a:xfrm>
          <a:prstGeom prst="rect">
            <a:avLst/>
          </a:prstGeom>
          <a:noFill/>
        </p:spPr>
        <p:txBody>
          <a:bodyPr wrap="square" rtlCol="0" anchor="t">
            <a:noAutofit/>
          </a:bodyPr>
          <a:lstStyle/>
          <a:p>
            <a:r>
              <a:rPr lang="zh-CN" altLang="en-US" sz="2000" b="1" noProof="0" dirty="0">
                <a:ln>
                  <a:noFill/>
                </a:ln>
                <a:solidFill>
                  <a:schemeClr val="bg1"/>
                </a:solidFill>
                <a:effectLst/>
                <a:uLnTx/>
                <a:uFillTx/>
                <a:latin typeface="+mj-ea"/>
                <a:ea typeface="+mj-ea"/>
                <a:sym typeface="+mn-ea"/>
              </a:rPr>
              <a:t>本文主要贡献</a:t>
            </a:r>
          </a:p>
        </p:txBody>
      </p:sp>
    </p:spTree>
    <p:extLst>
      <p:ext uri="{BB962C8B-B14F-4D97-AF65-F5344CB8AC3E}">
        <p14:creationId xmlns:p14="http://schemas.microsoft.com/office/powerpoint/2010/main" val="4010168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15BE7-2F5E-17AC-0E5E-FCE9D681711D}"/>
            </a:ext>
          </a:extLst>
        </p:cNvPr>
        <p:cNvGrpSpPr/>
        <p:nvPr/>
      </p:nvGrpSpPr>
      <p:grpSpPr>
        <a:xfrm>
          <a:off x="0" y="0"/>
          <a:ext cx="0" cy="0"/>
          <a:chOff x="0" y="0"/>
          <a:chExt cx="0" cy="0"/>
        </a:xfrm>
      </p:grpSpPr>
      <p:sp>
        <p:nvSpPr>
          <p:cNvPr id="141" name="文本框 140">
            <a:extLst>
              <a:ext uri="{FF2B5EF4-FFF2-40B4-BE49-F238E27FC236}">
                <a16:creationId xmlns:a16="http://schemas.microsoft.com/office/drawing/2014/main" id="{0AB0D9C3-9BAE-EDEE-09A4-4C4B6EF77CB2}"/>
              </a:ext>
            </a:extLst>
          </p:cNvPr>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02</a:t>
            </a:r>
            <a:endParaRPr lang="zh-CN" altLang="en-US" sz="9600" b="1" spc="600" dirty="0">
              <a:solidFill>
                <a:schemeClr val="bg1"/>
              </a:solidFill>
              <a:latin typeface="+mj-ea"/>
              <a:ea typeface="+mj-ea"/>
            </a:endParaRPr>
          </a:p>
        </p:txBody>
      </p:sp>
      <p:sp>
        <p:nvSpPr>
          <p:cNvPr id="172" name="文本框 171">
            <a:extLst>
              <a:ext uri="{FF2B5EF4-FFF2-40B4-BE49-F238E27FC236}">
                <a16:creationId xmlns:a16="http://schemas.microsoft.com/office/drawing/2014/main" id="{50F889AB-F5DD-9771-F94C-B281BD7F5BAA}"/>
              </a:ext>
            </a:extLst>
          </p:cNvPr>
          <p:cNvSpPr txBox="1"/>
          <p:nvPr/>
        </p:nvSpPr>
        <p:spPr>
          <a:xfrm>
            <a:off x="3940491" y="2659559"/>
            <a:ext cx="4007487"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srgbClr val="000000"/>
                </a:solidFill>
                <a:effectLst/>
                <a:uLnTx/>
                <a:uFillTx/>
                <a:latin typeface="+mj-ea"/>
                <a:ea typeface="+mj-ea"/>
                <a:cs typeface="+mn-cs"/>
              </a:rPr>
              <a:t>02 </a:t>
            </a:r>
            <a:r>
              <a:rPr lang="zh-CN" altLang="en-US" sz="4400" b="1" dirty="0">
                <a:solidFill>
                  <a:srgbClr val="000000"/>
                </a:solidFill>
                <a:latin typeface="+mj-ea"/>
                <a:ea typeface="+mj-ea"/>
              </a:rPr>
              <a:t>相关工作</a:t>
            </a:r>
            <a:endParaRPr kumimoji="0" lang="zh-CN" altLang="en-US"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a:extLst>
              <a:ext uri="{FF2B5EF4-FFF2-40B4-BE49-F238E27FC236}">
                <a16:creationId xmlns:a16="http://schemas.microsoft.com/office/drawing/2014/main" id="{15E73903-B92D-752E-EBF4-0066C86336BF}"/>
              </a:ext>
            </a:extLst>
          </p:cNvPr>
          <p:cNvSpPr txBox="1"/>
          <p:nvPr/>
        </p:nvSpPr>
        <p:spPr>
          <a:xfrm>
            <a:off x="541317" y="1496200"/>
            <a:ext cx="1819409" cy="338554"/>
          </a:xfrm>
          <a:prstGeom prst="rect">
            <a:avLst/>
          </a:prstGeom>
          <a:noFill/>
        </p:spPr>
        <p:txBody>
          <a:bodyPr wrap="none" rtlCol="0">
            <a:spAutoFit/>
          </a:bodyPr>
          <a:lstStyle/>
          <a:p>
            <a:pPr algn="ctr"/>
            <a:r>
              <a:rPr lang="en-US" altLang="zh-CN" sz="1600" spc="600" dirty="0">
                <a:solidFill>
                  <a:schemeClr val="bg1"/>
                </a:solidFill>
                <a:latin typeface="+mn-ea"/>
              </a:rPr>
              <a:t>PART TWO</a:t>
            </a:r>
            <a:endParaRPr lang="zh-CN" altLang="en-US" sz="1600" spc="600" dirty="0">
              <a:solidFill>
                <a:schemeClr val="bg1"/>
              </a:solidFill>
              <a:latin typeface="+mn-ea"/>
            </a:endParaRPr>
          </a:p>
        </p:txBody>
      </p:sp>
    </p:spTree>
    <p:extLst>
      <p:ext uri="{BB962C8B-B14F-4D97-AF65-F5344CB8AC3E}">
        <p14:creationId xmlns:p14="http://schemas.microsoft.com/office/powerpoint/2010/main" val="1220488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AE95B-1A70-CDE7-EDC5-FC963EEF6334}"/>
            </a:ext>
          </a:extLst>
        </p:cNvPr>
        <p:cNvGrpSpPr/>
        <p:nvPr/>
      </p:nvGrpSpPr>
      <p:grpSpPr>
        <a:xfrm>
          <a:off x="0" y="0"/>
          <a:ext cx="0" cy="0"/>
          <a:chOff x="0" y="0"/>
          <a:chExt cx="0" cy="0"/>
        </a:xfrm>
      </p:grpSpPr>
      <p:grpSp>
        <p:nvGrpSpPr>
          <p:cNvPr id="62" name="组合 61">
            <a:extLst>
              <a:ext uri="{FF2B5EF4-FFF2-40B4-BE49-F238E27FC236}">
                <a16:creationId xmlns:a16="http://schemas.microsoft.com/office/drawing/2014/main" id="{FD9BB918-C429-A522-B22C-B850AA648AF4}"/>
              </a:ext>
            </a:extLst>
          </p:cNvPr>
          <p:cNvGrpSpPr/>
          <p:nvPr/>
        </p:nvGrpSpPr>
        <p:grpSpPr>
          <a:xfrm>
            <a:off x="55880" y="1894205"/>
            <a:ext cx="1698625" cy="4447540"/>
            <a:chOff x="88" y="2983"/>
            <a:chExt cx="2675" cy="7004"/>
          </a:xfrm>
        </p:grpSpPr>
        <p:sp>
          <p:nvSpPr>
            <p:cNvPr id="3" name="文本框 2">
              <a:hlinkClick r:id="rId2" action="ppaction://hlinksldjump"/>
              <a:extLst>
                <a:ext uri="{FF2B5EF4-FFF2-40B4-BE49-F238E27FC236}">
                  <a16:creationId xmlns:a16="http://schemas.microsoft.com/office/drawing/2014/main" id="{290251F2-2CA4-A5FC-22EC-26F36B5E7071}"/>
                </a:ext>
              </a:extLst>
            </p:cNvPr>
            <p:cNvSpPr txBox="1"/>
            <p:nvPr/>
          </p:nvSpPr>
          <p:spPr>
            <a:xfrm>
              <a:off x="88" y="2983"/>
              <a:ext cx="2478" cy="1115"/>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4" name="文本框 3">
              <a:extLst>
                <a:ext uri="{FF2B5EF4-FFF2-40B4-BE49-F238E27FC236}">
                  <a16:creationId xmlns:a16="http://schemas.microsoft.com/office/drawing/2014/main" id="{48BF2679-04AD-AAC2-6BC7-326A34A86407}"/>
                </a:ext>
              </a:extLst>
            </p:cNvPr>
            <p:cNvSpPr txBox="1"/>
            <p:nvPr/>
          </p:nvSpPr>
          <p:spPr>
            <a:xfrm>
              <a:off x="209" y="4360"/>
              <a:ext cx="2478" cy="63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相关工作</a:t>
              </a:r>
              <a:endParaRPr lang="en-US" altLang="zh-CN" dirty="0"/>
            </a:p>
          </p:txBody>
        </p:sp>
        <p:sp>
          <p:nvSpPr>
            <p:cNvPr id="6" name="文本框 5">
              <a:hlinkClick r:id="" action="ppaction://noaction"/>
              <a:extLst>
                <a:ext uri="{FF2B5EF4-FFF2-40B4-BE49-F238E27FC236}">
                  <a16:creationId xmlns:a16="http://schemas.microsoft.com/office/drawing/2014/main" id="{1366F377-FCD7-9AD1-8F0C-06E758629C54}"/>
                </a:ext>
              </a:extLst>
            </p:cNvPr>
            <p:cNvSpPr txBox="1"/>
            <p:nvPr/>
          </p:nvSpPr>
          <p:spPr>
            <a:xfrm>
              <a:off x="129" y="7416"/>
              <a:ext cx="2478" cy="6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a:extLst>
                <a:ext uri="{FF2B5EF4-FFF2-40B4-BE49-F238E27FC236}">
                  <a16:creationId xmlns:a16="http://schemas.microsoft.com/office/drawing/2014/main" id="{28700E4B-F90C-BDA9-3060-293F7C7567C8}"/>
                </a:ext>
              </a:extLst>
            </p:cNvPr>
            <p:cNvSpPr txBox="1"/>
            <p:nvPr/>
          </p:nvSpPr>
          <p:spPr>
            <a:xfrm>
              <a:off x="129" y="8872"/>
              <a:ext cx="2478" cy="11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9" name="等腰三角形 8">
              <a:extLst>
                <a:ext uri="{FF2B5EF4-FFF2-40B4-BE49-F238E27FC236}">
                  <a16:creationId xmlns:a16="http://schemas.microsoft.com/office/drawing/2014/main" id="{9310418A-9B7B-A7F0-509E-EE0ECC5B7ED3}"/>
                </a:ext>
              </a:extLst>
            </p:cNvPr>
            <p:cNvSpPr/>
            <p:nvPr/>
          </p:nvSpPr>
          <p:spPr>
            <a:xfrm rot="16200000">
              <a:off x="2594" y="4552"/>
              <a:ext cx="181" cy="15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6E054E9F-1B52-8EBE-47DA-2197F05174FD}"/>
                </a:ext>
              </a:extLst>
            </p:cNvPr>
            <p:cNvCxnSpPr/>
            <p:nvPr/>
          </p:nvCxnSpPr>
          <p:spPr>
            <a:xfrm>
              <a:off x="532" y="5026"/>
              <a:ext cx="83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灯片编号占位符 67">
            <a:extLst>
              <a:ext uri="{FF2B5EF4-FFF2-40B4-BE49-F238E27FC236}">
                <a16:creationId xmlns:a16="http://schemas.microsoft.com/office/drawing/2014/main" id="{0112C968-2608-0DD3-C92C-DF9A3A641D82}"/>
              </a:ext>
            </a:extLst>
          </p:cNvPr>
          <p:cNvSpPr>
            <a:spLocks noGrp="1"/>
          </p:cNvSpPr>
          <p:nvPr>
            <p:ph type="sldNum" sz="quarter" idx="12"/>
          </p:nvPr>
        </p:nvSpPr>
        <p:spPr/>
        <p:txBody>
          <a:bodyPr/>
          <a:lstStyle/>
          <a:p>
            <a:fld id="{3E75C6D3-133E-4A51-8F1C-F484242B8F05}" type="slidenum">
              <a:rPr lang="zh-CN" altLang="en-US" smtClean="0"/>
              <a:t>7</a:t>
            </a:fld>
            <a:endParaRPr lang="zh-CN" altLang="en-US" dirty="0"/>
          </a:p>
        </p:txBody>
      </p:sp>
      <p:sp>
        <p:nvSpPr>
          <p:cNvPr id="14" name="文本框 13">
            <a:extLst>
              <a:ext uri="{FF2B5EF4-FFF2-40B4-BE49-F238E27FC236}">
                <a16:creationId xmlns:a16="http://schemas.microsoft.com/office/drawing/2014/main" id="{8A076151-1CF1-916D-FCB7-8B2D21F22837}"/>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dirty="0">
                <a:latin typeface="微软雅黑" panose="020B0503020204020204" charset="-122"/>
                <a:ea typeface="微软雅黑" panose="020B0503020204020204" charset="-122"/>
              </a:rPr>
              <a:t>相关作品</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a:extLst>
              <a:ext uri="{FF2B5EF4-FFF2-40B4-BE49-F238E27FC236}">
                <a16:creationId xmlns:a16="http://schemas.microsoft.com/office/drawing/2014/main" id="{CB8002D8-3853-CD92-CBBF-6A60DE00CE7D}"/>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510EC82-83F4-847E-FD8D-7E52C4F7D2F9}"/>
              </a:ext>
            </a:extLst>
          </p:cNvPr>
          <p:cNvSpPr txBox="1"/>
          <p:nvPr/>
        </p:nvSpPr>
        <p:spPr>
          <a:xfrm>
            <a:off x="1982961" y="1057672"/>
            <a:ext cx="8143066" cy="4093428"/>
          </a:xfrm>
          <a:prstGeom prst="rect">
            <a:avLst/>
          </a:prstGeom>
          <a:noFill/>
        </p:spPr>
        <p:txBody>
          <a:bodyPr wrap="square" rtlCol="0">
            <a:spAutoFit/>
          </a:bodyPr>
          <a:lstStyle/>
          <a:p>
            <a:r>
              <a:rPr lang="zh-CN" altLang="en-US" sz="2000" dirty="0">
                <a:latin typeface="+mj-ea"/>
                <a:ea typeface="+mj-ea"/>
              </a:rPr>
              <a:t>      癌症基因鉴定任务可以看作是一个分类问题，其目的是利用基因多组学数据或基因关联数据筛选出数万个候选基因中的癌症基因。</a:t>
            </a:r>
          </a:p>
          <a:p>
            <a:r>
              <a:rPr lang="zh-CN" altLang="en-US" sz="2000" dirty="0">
                <a:latin typeface="+mj-ea"/>
                <a:ea typeface="+mj-ea"/>
              </a:rPr>
              <a:t>      最近，针对癌症基因鉴定，有多种计算方法。</a:t>
            </a:r>
            <a:r>
              <a:rPr lang="en-US" altLang="zh-CN" sz="2000" dirty="0" err="1">
                <a:latin typeface="+mj-ea"/>
                <a:ea typeface="+mj-ea"/>
              </a:rPr>
              <a:t>MutSigCV</a:t>
            </a:r>
            <a:r>
              <a:rPr lang="zh-CN" altLang="en-US" sz="2000" dirty="0">
                <a:latin typeface="+mj-ea"/>
                <a:ea typeface="+mj-ea"/>
              </a:rPr>
              <a:t>（</a:t>
            </a:r>
            <a:r>
              <a:rPr lang="en-US" altLang="zh-CN" sz="2000" dirty="0">
                <a:latin typeface="+mj-ea"/>
                <a:ea typeface="+mj-ea"/>
              </a:rPr>
              <a:t>Lawrence</a:t>
            </a:r>
            <a:r>
              <a:rPr lang="zh-CN" altLang="en-US" sz="2000" dirty="0">
                <a:latin typeface="+mj-ea"/>
                <a:ea typeface="+mj-ea"/>
              </a:rPr>
              <a:t>）的突变频率分布显著不等的突变基因来鉴定癌症基因。</a:t>
            </a:r>
            <a:r>
              <a:rPr lang="en-US" altLang="zh-CN" sz="2000" dirty="0">
                <a:latin typeface="+mj-ea"/>
                <a:ea typeface="+mj-ea"/>
              </a:rPr>
              <a:t>20/20+</a:t>
            </a:r>
            <a:r>
              <a:rPr lang="zh-CN" altLang="en-US" sz="2000" dirty="0">
                <a:latin typeface="+mj-ea"/>
                <a:ea typeface="+mj-ea"/>
              </a:rPr>
              <a:t>（</a:t>
            </a:r>
            <a:r>
              <a:rPr lang="en-US" altLang="zh-CN" sz="2000" dirty="0">
                <a:latin typeface="+mj-ea"/>
                <a:ea typeface="+mj-ea"/>
              </a:rPr>
              <a:t>Tokheim </a:t>
            </a:r>
            <a:r>
              <a:rPr lang="zh-CN" altLang="en-US" sz="2000" dirty="0">
                <a:latin typeface="+mj-ea"/>
                <a:ea typeface="+mj-ea"/>
              </a:rPr>
              <a:t>等，</a:t>
            </a:r>
            <a:r>
              <a:rPr lang="en-US" altLang="zh-CN" sz="2000" dirty="0">
                <a:latin typeface="+mj-ea"/>
                <a:ea typeface="+mj-ea"/>
              </a:rPr>
              <a:t>2016</a:t>
            </a:r>
            <a:r>
              <a:rPr lang="zh-CN" altLang="en-US" sz="2000" dirty="0">
                <a:latin typeface="+mj-ea"/>
                <a:ea typeface="+mj-ea"/>
              </a:rPr>
              <a:t>）方法寻找与已知癌症基因特征相似，并提出使用机器学习模型来寻找与已知癌症基因特征相似的突变模式的基因。此外，</a:t>
            </a:r>
            <a:r>
              <a:rPr lang="en-US" altLang="zh-CN" sz="2000" dirty="0">
                <a:latin typeface="+mj-ea"/>
                <a:ea typeface="+mj-ea"/>
              </a:rPr>
              <a:t>DORGE </a:t>
            </a:r>
            <a:r>
              <a:rPr lang="zh-CN" altLang="en-US" sz="2000" dirty="0">
                <a:latin typeface="+mj-ea"/>
                <a:ea typeface="+mj-ea"/>
              </a:rPr>
              <a:t>提出了一种基于弹性网络的多特征（如突变和表观遗传学）的癌症基因组学方法，用于鉴定癌基因和抑癌基因（</a:t>
            </a:r>
            <a:r>
              <a:rPr lang="en-US" altLang="zh-CN" sz="2000" dirty="0">
                <a:latin typeface="+mj-ea"/>
                <a:ea typeface="+mj-ea"/>
              </a:rPr>
              <a:t>Lyu </a:t>
            </a:r>
            <a:r>
              <a:rPr lang="zh-CN" altLang="en-US" sz="2000" dirty="0">
                <a:latin typeface="+mj-ea"/>
                <a:ea typeface="+mj-ea"/>
              </a:rPr>
              <a:t>等，</a:t>
            </a:r>
            <a:r>
              <a:rPr lang="en-US" altLang="zh-CN" sz="2000" dirty="0">
                <a:latin typeface="+mj-ea"/>
                <a:ea typeface="+mj-ea"/>
              </a:rPr>
              <a:t>2020 </a:t>
            </a:r>
            <a:r>
              <a:rPr lang="zh-CN" altLang="en-US" sz="2000" dirty="0">
                <a:latin typeface="+mj-ea"/>
                <a:ea typeface="+mj-ea"/>
              </a:rPr>
              <a:t>年）。上述方法通常只考虑基因的特征，而不考虑基因之间的关联。为此许多癌症基因鉴定方法都利用了基因网络或基因功能关联。</a:t>
            </a:r>
            <a:r>
              <a:rPr lang="en-US" altLang="zh-CN" sz="2000" dirty="0">
                <a:latin typeface="+mj-ea"/>
                <a:ea typeface="+mj-ea"/>
              </a:rPr>
              <a:t>Hierarchical Graphlet</a:t>
            </a:r>
            <a:r>
              <a:rPr lang="zh-CN" altLang="en-US" sz="2000" dirty="0">
                <a:latin typeface="+mj-ea"/>
                <a:ea typeface="+mj-ea"/>
              </a:rPr>
              <a:t>（</a:t>
            </a:r>
            <a:r>
              <a:rPr lang="en-US" altLang="zh-CN" sz="2000" dirty="0">
                <a:latin typeface="+mj-ea"/>
                <a:ea typeface="+mj-ea"/>
              </a:rPr>
              <a:t>Reyna, </a:t>
            </a:r>
            <a:r>
              <a:rPr lang="en-US" altLang="zh-CN" sz="2000" dirty="0" err="1">
                <a:latin typeface="+mj-ea"/>
                <a:ea typeface="+mj-ea"/>
              </a:rPr>
              <a:t>Leiferson</a:t>
            </a:r>
            <a:r>
              <a:rPr lang="en-US" altLang="zh-CN" sz="2000" dirty="0">
                <a:latin typeface="+mj-ea"/>
                <a:ea typeface="+mj-ea"/>
              </a:rPr>
              <a:t>, and Raphael 2018</a:t>
            </a:r>
            <a:r>
              <a:rPr lang="zh-CN" altLang="en-US" sz="2000" dirty="0">
                <a:latin typeface="+mj-ea"/>
                <a:ea typeface="+mj-ea"/>
              </a:rPr>
              <a:t>）和 </a:t>
            </a:r>
            <a:r>
              <a:rPr lang="en-US" altLang="zh-CN" sz="2000" dirty="0" err="1">
                <a:latin typeface="+mj-ea"/>
                <a:ea typeface="+mj-ea"/>
              </a:rPr>
              <a:t>NetCore</a:t>
            </a:r>
            <a:r>
              <a:rPr lang="zh-CN" altLang="en-US" sz="2000" dirty="0">
                <a:latin typeface="+mj-ea"/>
                <a:ea typeface="+mj-ea"/>
              </a:rPr>
              <a:t>（</a:t>
            </a:r>
            <a:r>
              <a:rPr lang="en-US" altLang="zh-CN" sz="2000" dirty="0">
                <a:latin typeface="+mj-ea"/>
                <a:ea typeface="+mj-ea"/>
              </a:rPr>
              <a:t>Barel and Herwig 2019</a:t>
            </a:r>
            <a:r>
              <a:rPr lang="zh-CN" altLang="en-US" sz="2000" dirty="0">
                <a:latin typeface="+mj-ea"/>
                <a:ea typeface="+mj-ea"/>
              </a:rPr>
              <a:t>）等方法使用 </a:t>
            </a:r>
            <a:r>
              <a:rPr lang="en-US" altLang="zh-CN" sz="2000" dirty="0">
                <a:latin typeface="+mj-ea"/>
                <a:ea typeface="+mj-ea"/>
              </a:rPr>
              <a:t>PPI </a:t>
            </a:r>
            <a:r>
              <a:rPr lang="zh-CN" altLang="en-US" sz="2000" dirty="0">
                <a:latin typeface="+mj-ea"/>
                <a:ea typeface="+mj-ea"/>
              </a:rPr>
              <a:t>网络将具有癌症突变特征的子模块划分出来，并鉴定出癌症候选基因。</a:t>
            </a:r>
            <a:endParaRPr lang="zh-CN" altLang="en-US" sz="2000" dirty="0"/>
          </a:p>
        </p:txBody>
      </p:sp>
    </p:spTree>
    <p:extLst>
      <p:ext uri="{BB962C8B-B14F-4D97-AF65-F5344CB8AC3E}">
        <p14:creationId xmlns:p14="http://schemas.microsoft.com/office/powerpoint/2010/main" val="970226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0FA8-2C14-1843-3203-02397EA4F8A7}"/>
            </a:ext>
          </a:extLst>
        </p:cNvPr>
        <p:cNvGrpSpPr/>
        <p:nvPr/>
      </p:nvGrpSpPr>
      <p:grpSpPr>
        <a:xfrm>
          <a:off x="0" y="0"/>
          <a:ext cx="0" cy="0"/>
          <a:chOff x="0" y="0"/>
          <a:chExt cx="0" cy="0"/>
        </a:xfrm>
      </p:grpSpPr>
      <p:grpSp>
        <p:nvGrpSpPr>
          <p:cNvPr id="62" name="组合 61">
            <a:extLst>
              <a:ext uri="{FF2B5EF4-FFF2-40B4-BE49-F238E27FC236}">
                <a16:creationId xmlns:a16="http://schemas.microsoft.com/office/drawing/2014/main" id="{A959FA9D-0ED2-2401-A8D6-E71335160EA8}"/>
              </a:ext>
            </a:extLst>
          </p:cNvPr>
          <p:cNvGrpSpPr/>
          <p:nvPr/>
        </p:nvGrpSpPr>
        <p:grpSpPr>
          <a:xfrm>
            <a:off x="55880" y="1894205"/>
            <a:ext cx="1698625" cy="4447540"/>
            <a:chOff x="88" y="2983"/>
            <a:chExt cx="2675" cy="7004"/>
          </a:xfrm>
        </p:grpSpPr>
        <p:sp>
          <p:nvSpPr>
            <p:cNvPr id="3" name="文本框 2">
              <a:hlinkClick r:id="rId2" action="ppaction://hlinksldjump"/>
              <a:extLst>
                <a:ext uri="{FF2B5EF4-FFF2-40B4-BE49-F238E27FC236}">
                  <a16:creationId xmlns:a16="http://schemas.microsoft.com/office/drawing/2014/main" id="{6C3ACE1D-142B-9074-3723-C1E87D7B3983}"/>
                </a:ext>
              </a:extLst>
            </p:cNvPr>
            <p:cNvSpPr txBox="1"/>
            <p:nvPr/>
          </p:nvSpPr>
          <p:spPr>
            <a:xfrm>
              <a:off x="88" y="2983"/>
              <a:ext cx="2478" cy="1115"/>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4" name="文本框 3">
              <a:extLst>
                <a:ext uri="{FF2B5EF4-FFF2-40B4-BE49-F238E27FC236}">
                  <a16:creationId xmlns:a16="http://schemas.microsoft.com/office/drawing/2014/main" id="{FA584479-50FC-FEAD-518D-FC836FEE16B2}"/>
                </a:ext>
              </a:extLst>
            </p:cNvPr>
            <p:cNvSpPr txBox="1"/>
            <p:nvPr/>
          </p:nvSpPr>
          <p:spPr>
            <a:xfrm>
              <a:off x="209" y="4360"/>
              <a:ext cx="2478" cy="63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相关工作</a:t>
              </a:r>
              <a:endParaRPr lang="en-US" altLang="zh-CN" dirty="0"/>
            </a:p>
          </p:txBody>
        </p:sp>
        <p:sp>
          <p:nvSpPr>
            <p:cNvPr id="6" name="文本框 5">
              <a:hlinkClick r:id="" action="ppaction://noaction"/>
              <a:extLst>
                <a:ext uri="{FF2B5EF4-FFF2-40B4-BE49-F238E27FC236}">
                  <a16:creationId xmlns:a16="http://schemas.microsoft.com/office/drawing/2014/main" id="{BCB5E120-CEC0-CC67-FA06-41872033E814}"/>
                </a:ext>
              </a:extLst>
            </p:cNvPr>
            <p:cNvSpPr txBox="1"/>
            <p:nvPr/>
          </p:nvSpPr>
          <p:spPr>
            <a:xfrm>
              <a:off x="129" y="7416"/>
              <a:ext cx="2478" cy="6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a:extLst>
                <a:ext uri="{FF2B5EF4-FFF2-40B4-BE49-F238E27FC236}">
                  <a16:creationId xmlns:a16="http://schemas.microsoft.com/office/drawing/2014/main" id="{117EC383-8343-41D5-376A-3BDA2C4B6AA7}"/>
                </a:ext>
              </a:extLst>
            </p:cNvPr>
            <p:cNvSpPr txBox="1"/>
            <p:nvPr/>
          </p:nvSpPr>
          <p:spPr>
            <a:xfrm>
              <a:off x="129" y="8872"/>
              <a:ext cx="2478" cy="11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9" name="等腰三角形 8">
              <a:extLst>
                <a:ext uri="{FF2B5EF4-FFF2-40B4-BE49-F238E27FC236}">
                  <a16:creationId xmlns:a16="http://schemas.microsoft.com/office/drawing/2014/main" id="{2E87605D-01C3-A361-0103-1EF2A5149942}"/>
                </a:ext>
              </a:extLst>
            </p:cNvPr>
            <p:cNvSpPr/>
            <p:nvPr/>
          </p:nvSpPr>
          <p:spPr>
            <a:xfrm rot="16200000">
              <a:off x="2594" y="4552"/>
              <a:ext cx="181" cy="15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E81D7353-3EE0-8A0C-DD7F-7C0B9073B0F6}"/>
                </a:ext>
              </a:extLst>
            </p:cNvPr>
            <p:cNvCxnSpPr/>
            <p:nvPr/>
          </p:nvCxnSpPr>
          <p:spPr>
            <a:xfrm>
              <a:off x="532" y="5026"/>
              <a:ext cx="83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灯片编号占位符 67">
            <a:extLst>
              <a:ext uri="{FF2B5EF4-FFF2-40B4-BE49-F238E27FC236}">
                <a16:creationId xmlns:a16="http://schemas.microsoft.com/office/drawing/2014/main" id="{A5AD4843-1656-722D-D0B0-E908B61B56BF}"/>
              </a:ext>
            </a:extLst>
          </p:cNvPr>
          <p:cNvSpPr>
            <a:spLocks noGrp="1"/>
          </p:cNvSpPr>
          <p:nvPr>
            <p:ph type="sldNum" sz="quarter" idx="12"/>
          </p:nvPr>
        </p:nvSpPr>
        <p:spPr/>
        <p:txBody>
          <a:bodyPr/>
          <a:lstStyle/>
          <a:p>
            <a:fld id="{3E75C6D3-133E-4A51-8F1C-F484242B8F05}" type="slidenum">
              <a:rPr lang="zh-CN" altLang="en-US" smtClean="0"/>
              <a:t>8</a:t>
            </a:fld>
            <a:endParaRPr lang="zh-CN" altLang="en-US" dirty="0"/>
          </a:p>
        </p:txBody>
      </p:sp>
      <p:sp>
        <p:nvSpPr>
          <p:cNvPr id="14" name="文本框 13">
            <a:extLst>
              <a:ext uri="{FF2B5EF4-FFF2-40B4-BE49-F238E27FC236}">
                <a16:creationId xmlns:a16="http://schemas.microsoft.com/office/drawing/2014/main" id="{23B2DDDD-9013-A5BB-FC17-96AADB2CEEE5}"/>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dirty="0">
                <a:latin typeface="微软雅黑" panose="020B0503020204020204" charset="-122"/>
                <a:ea typeface="微软雅黑" panose="020B0503020204020204" charset="-122"/>
              </a:rPr>
              <a:t>相关作品</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a:extLst>
              <a:ext uri="{FF2B5EF4-FFF2-40B4-BE49-F238E27FC236}">
                <a16:creationId xmlns:a16="http://schemas.microsoft.com/office/drawing/2014/main" id="{CEDCD8FD-D420-73CC-3421-79BE32FB7B76}"/>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5C93E670-E2A6-874B-1331-6E922FE25801}"/>
              </a:ext>
            </a:extLst>
          </p:cNvPr>
          <p:cNvSpPr txBox="1"/>
          <p:nvPr/>
        </p:nvSpPr>
        <p:spPr>
          <a:xfrm>
            <a:off x="1982961" y="1403116"/>
            <a:ext cx="8143066" cy="3785652"/>
          </a:xfrm>
          <a:prstGeom prst="rect">
            <a:avLst/>
          </a:prstGeom>
          <a:noFill/>
        </p:spPr>
        <p:txBody>
          <a:bodyPr wrap="square" rtlCol="0">
            <a:spAutoFit/>
          </a:bodyPr>
          <a:lstStyle/>
          <a:p>
            <a:r>
              <a:rPr lang="zh-CN" altLang="en-US" sz="2000" dirty="0">
                <a:latin typeface="+mj-ea"/>
                <a:ea typeface="+mj-ea"/>
              </a:rPr>
              <a:t>  </a:t>
            </a:r>
            <a:r>
              <a:rPr lang="en-US" altLang="zh-CN" sz="2000" dirty="0">
                <a:latin typeface="+mj-ea"/>
                <a:ea typeface="+mj-ea"/>
              </a:rPr>
              <a:t>MTGCN</a:t>
            </a:r>
            <a:r>
              <a:rPr lang="zh-CN" altLang="en-US" sz="2000" dirty="0">
                <a:latin typeface="+mj-ea"/>
                <a:ea typeface="+mj-ea"/>
              </a:rPr>
              <a:t>（</a:t>
            </a:r>
            <a:r>
              <a:rPr lang="en-US" altLang="zh-CN" sz="2000" dirty="0">
                <a:latin typeface="+mj-ea"/>
                <a:ea typeface="+mj-ea"/>
              </a:rPr>
              <a:t>Peng et al. 2022</a:t>
            </a:r>
            <a:r>
              <a:rPr lang="zh-CN" altLang="en-US" sz="2000" dirty="0">
                <a:latin typeface="+mj-ea"/>
                <a:ea typeface="+mj-ea"/>
              </a:rPr>
              <a:t>）在 </a:t>
            </a:r>
            <a:r>
              <a:rPr lang="en-US" altLang="zh-CN" sz="2000" dirty="0">
                <a:latin typeface="+mj-ea"/>
                <a:ea typeface="+mj-ea"/>
              </a:rPr>
              <a:t>EMOGI </a:t>
            </a:r>
            <a:r>
              <a:rPr lang="zh-CN" altLang="en-US" sz="2000" dirty="0">
                <a:latin typeface="+mj-ea"/>
                <a:ea typeface="+mj-ea"/>
              </a:rPr>
              <a:t>中引入了 </a:t>
            </a:r>
            <a:r>
              <a:rPr lang="en-US" altLang="zh-CN" sz="2000" dirty="0">
                <a:latin typeface="+mj-ea"/>
                <a:ea typeface="+mj-ea"/>
              </a:rPr>
              <a:t>PPI </a:t>
            </a:r>
            <a:r>
              <a:rPr lang="zh-CN" altLang="en-US" sz="2000" dirty="0">
                <a:latin typeface="+mj-ea"/>
                <a:ea typeface="+mj-ea"/>
              </a:rPr>
              <a:t>网络的链接预测辅助任务，并通过多任务学习框架增强基因特征学习。</a:t>
            </a:r>
            <a:r>
              <a:rPr lang="en-US" altLang="zh-CN" sz="2000" dirty="0">
                <a:latin typeface="+mj-ea"/>
                <a:ea typeface="+mj-ea"/>
              </a:rPr>
              <a:t>HGDC</a:t>
            </a:r>
            <a:r>
              <a:rPr lang="zh-CN" altLang="en-US" sz="2000" dirty="0">
                <a:latin typeface="+mj-ea"/>
                <a:ea typeface="+mj-ea"/>
              </a:rPr>
              <a:t>（张等，</a:t>
            </a:r>
            <a:r>
              <a:rPr lang="en-US" altLang="zh-CN" sz="2000" dirty="0">
                <a:latin typeface="+mj-ea"/>
                <a:ea typeface="+mj-ea"/>
              </a:rPr>
              <a:t>2023</a:t>
            </a:r>
            <a:r>
              <a:rPr lang="zh-CN" altLang="en-US" sz="2000" dirty="0">
                <a:latin typeface="+mj-ea"/>
                <a:ea typeface="+mj-ea"/>
              </a:rPr>
              <a:t>）引入了扩散散生成辅助网络，并设计了一种改进的消息聚合和传播方案，以适应生物网络的异质性设置。</a:t>
            </a:r>
            <a:r>
              <a:rPr lang="en-US" altLang="zh-CN" sz="2000" dirty="0">
                <a:latin typeface="+mj-ea"/>
                <a:ea typeface="+mj-ea"/>
              </a:rPr>
              <a:t>EMGNN</a:t>
            </a:r>
            <a:r>
              <a:rPr lang="zh-CN" altLang="en-US" sz="2000" dirty="0">
                <a:latin typeface="+mj-ea"/>
                <a:ea typeface="+mj-ea"/>
              </a:rPr>
              <a:t>（</a:t>
            </a:r>
            <a:r>
              <a:rPr lang="en-US" altLang="zh-CN" sz="2000" dirty="0">
                <a:latin typeface="+mj-ea"/>
                <a:ea typeface="+mj-ea"/>
              </a:rPr>
              <a:t>Chatziantoniou, </a:t>
            </a:r>
            <a:r>
              <a:rPr lang="en-US" altLang="zh-CN" sz="2000" dirty="0" err="1">
                <a:latin typeface="+mj-ea"/>
                <a:ea typeface="+mj-ea"/>
              </a:rPr>
              <a:t>Vazirgiannis</a:t>
            </a:r>
            <a:r>
              <a:rPr lang="en-US" altLang="zh-CN" sz="2000" dirty="0">
                <a:latin typeface="+mj-ea"/>
                <a:ea typeface="+mj-ea"/>
              </a:rPr>
              <a:t> and Zhang 2023</a:t>
            </a:r>
            <a:r>
              <a:rPr lang="zh-CN" altLang="en-US" sz="2000" dirty="0">
                <a:latin typeface="+mj-ea"/>
                <a:ea typeface="+mj-ea"/>
              </a:rPr>
              <a:t>）设计了一种可解释的多层图神经网络方法，利用多个基因 </a:t>
            </a:r>
            <a:r>
              <a:rPr lang="en-US" altLang="zh-CN" sz="2000" dirty="0">
                <a:latin typeface="+mj-ea"/>
                <a:ea typeface="+mj-ea"/>
              </a:rPr>
              <a:t>- </a:t>
            </a:r>
            <a:r>
              <a:rPr lang="zh-CN" altLang="en-US" sz="2000" dirty="0">
                <a:latin typeface="+mj-ea"/>
                <a:ea typeface="+mj-ea"/>
              </a:rPr>
              <a:t>基因相互作用网络和癌症多组学数据来预测癌症基因。与此同时，</a:t>
            </a:r>
            <a:r>
              <a:rPr lang="en-US" altLang="zh-CN" sz="2000" dirty="0" err="1">
                <a:latin typeface="+mj-ea"/>
                <a:ea typeface="+mj-ea"/>
              </a:rPr>
              <a:t>predCAN</a:t>
            </a:r>
            <a:r>
              <a:rPr lang="zh-CN" altLang="en-US" sz="2000" dirty="0">
                <a:latin typeface="+mj-ea"/>
                <a:ea typeface="+mj-ea"/>
              </a:rPr>
              <a:t>（</a:t>
            </a:r>
            <a:r>
              <a:rPr lang="en-US" altLang="zh-CN" sz="2000" dirty="0" err="1">
                <a:latin typeface="+mj-ea"/>
                <a:ea typeface="+mj-ea"/>
              </a:rPr>
              <a:t>Althubaiti</a:t>
            </a:r>
            <a:r>
              <a:rPr lang="en-US" altLang="zh-CN" sz="2000" dirty="0">
                <a:latin typeface="+mj-ea"/>
                <a:ea typeface="+mj-ea"/>
              </a:rPr>
              <a:t> </a:t>
            </a:r>
            <a:r>
              <a:rPr lang="zh-CN" altLang="en-US" sz="2000" dirty="0">
                <a:latin typeface="+mj-ea"/>
                <a:ea typeface="+mj-ea"/>
              </a:rPr>
              <a:t>等人，</a:t>
            </a:r>
            <a:r>
              <a:rPr lang="en-US" altLang="zh-CN" sz="2000" dirty="0">
                <a:latin typeface="+mj-ea"/>
                <a:ea typeface="+mj-ea"/>
              </a:rPr>
              <a:t>2019 </a:t>
            </a:r>
            <a:r>
              <a:rPr lang="zh-CN" altLang="en-US" sz="2000" dirty="0">
                <a:latin typeface="+mj-ea"/>
                <a:ea typeface="+mj-ea"/>
              </a:rPr>
              <a:t>年）提出基于功能关联数据（如基因本体（</a:t>
            </a:r>
            <a:r>
              <a:rPr lang="en-US" altLang="zh-CN" sz="2000" dirty="0">
                <a:latin typeface="+mj-ea"/>
                <a:ea typeface="+mj-ea"/>
              </a:rPr>
              <a:t>GO</a:t>
            </a:r>
            <a:r>
              <a:rPr lang="zh-CN" altLang="en-US" sz="2000" dirty="0">
                <a:latin typeface="+mj-ea"/>
                <a:ea typeface="+mj-ea"/>
              </a:rPr>
              <a:t>）和哺乳动物表型本体（</a:t>
            </a:r>
            <a:r>
              <a:rPr lang="en-US" altLang="zh-CN" sz="2000" dirty="0">
                <a:latin typeface="+mj-ea"/>
                <a:ea typeface="+mj-ea"/>
              </a:rPr>
              <a:t>MPO</a:t>
            </a:r>
            <a:r>
              <a:rPr lang="zh-CN" altLang="en-US" sz="2000" dirty="0">
                <a:latin typeface="+mj-ea"/>
                <a:ea typeface="+mj-ea"/>
              </a:rPr>
              <a:t>））来预测癌症基因。</a:t>
            </a:r>
            <a:r>
              <a:rPr lang="en-US" altLang="zh-CN" sz="2000" dirty="0" err="1">
                <a:latin typeface="+mj-ea"/>
                <a:ea typeface="+mj-ea"/>
              </a:rPr>
              <a:t>DISHyper</a:t>
            </a:r>
            <a:r>
              <a:rPr lang="zh-CN" altLang="en-US" sz="2000" dirty="0">
                <a:latin typeface="+mj-ea"/>
                <a:ea typeface="+mj-ea"/>
              </a:rPr>
              <a:t>（</a:t>
            </a:r>
            <a:r>
              <a:rPr lang="en-US" altLang="zh-CN" sz="2000" dirty="0">
                <a:latin typeface="+mj-ea"/>
                <a:ea typeface="+mj-ea"/>
              </a:rPr>
              <a:t>Deng </a:t>
            </a:r>
            <a:r>
              <a:rPr lang="zh-CN" altLang="en-US" sz="2000" dirty="0">
                <a:latin typeface="+mj-ea"/>
                <a:ea typeface="+mj-ea"/>
              </a:rPr>
              <a:t>等人，</a:t>
            </a:r>
            <a:r>
              <a:rPr lang="en-US" altLang="zh-CN" sz="2000" dirty="0">
                <a:latin typeface="+mj-ea"/>
                <a:ea typeface="+mj-ea"/>
              </a:rPr>
              <a:t>2024 </a:t>
            </a:r>
            <a:r>
              <a:rPr lang="zh-CN" altLang="en-US" sz="2000" dirty="0">
                <a:latin typeface="+mj-ea"/>
                <a:ea typeface="+mj-ea"/>
              </a:rPr>
              <a:t>年）提出利用超图神经网络提取不同类型的注释基因集中的基因的更高阶功能关联信息，预测与癌症基因具有相似功能关联模式的基因。此外，</a:t>
            </a:r>
            <a:r>
              <a:rPr lang="en-US" altLang="zh-CN" sz="2000" dirty="0">
                <a:latin typeface="+mj-ea"/>
                <a:ea typeface="+mj-ea"/>
              </a:rPr>
              <a:t>MODIG</a:t>
            </a:r>
            <a:r>
              <a:rPr lang="zh-CN" altLang="en-US" sz="2000" dirty="0">
                <a:latin typeface="+mj-ea"/>
                <a:ea typeface="+mj-ea"/>
              </a:rPr>
              <a:t>（</a:t>
            </a:r>
            <a:r>
              <a:rPr lang="en-US" altLang="zh-CN" sz="2000" dirty="0">
                <a:latin typeface="+mj-ea"/>
                <a:ea typeface="+mj-ea"/>
              </a:rPr>
              <a:t>Zhao </a:t>
            </a:r>
            <a:r>
              <a:rPr lang="zh-CN" altLang="en-US" sz="2000" dirty="0">
                <a:latin typeface="+mj-ea"/>
                <a:ea typeface="+mj-ea"/>
              </a:rPr>
              <a:t>等人，</a:t>
            </a:r>
            <a:r>
              <a:rPr lang="en-US" altLang="zh-CN" sz="2000" dirty="0">
                <a:latin typeface="+mj-ea"/>
                <a:ea typeface="+mj-ea"/>
              </a:rPr>
              <a:t>2022 </a:t>
            </a:r>
            <a:r>
              <a:rPr lang="zh-CN" altLang="en-US" sz="2000" dirty="0">
                <a:latin typeface="+mj-ea"/>
                <a:ea typeface="+mj-ea"/>
              </a:rPr>
              <a:t>年）等方法还尝试整合多种基因关联信息以识别癌症基因。</a:t>
            </a:r>
          </a:p>
        </p:txBody>
      </p:sp>
    </p:spTree>
    <p:extLst>
      <p:ext uri="{BB962C8B-B14F-4D97-AF65-F5344CB8AC3E}">
        <p14:creationId xmlns:p14="http://schemas.microsoft.com/office/powerpoint/2010/main" val="2339254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A5BC-1BFD-9CFF-3FF2-7CB4B96C985B}"/>
            </a:ext>
          </a:extLst>
        </p:cNvPr>
        <p:cNvGrpSpPr/>
        <p:nvPr/>
      </p:nvGrpSpPr>
      <p:grpSpPr>
        <a:xfrm>
          <a:off x="0" y="0"/>
          <a:ext cx="0" cy="0"/>
          <a:chOff x="0" y="0"/>
          <a:chExt cx="0" cy="0"/>
        </a:xfrm>
      </p:grpSpPr>
      <p:grpSp>
        <p:nvGrpSpPr>
          <p:cNvPr id="62" name="组合 61">
            <a:extLst>
              <a:ext uri="{FF2B5EF4-FFF2-40B4-BE49-F238E27FC236}">
                <a16:creationId xmlns:a16="http://schemas.microsoft.com/office/drawing/2014/main" id="{98684039-DE04-E7FD-262A-D71D4F967C0A}"/>
              </a:ext>
            </a:extLst>
          </p:cNvPr>
          <p:cNvGrpSpPr/>
          <p:nvPr/>
        </p:nvGrpSpPr>
        <p:grpSpPr>
          <a:xfrm>
            <a:off x="55880" y="1894205"/>
            <a:ext cx="1698625" cy="4447540"/>
            <a:chOff x="88" y="2983"/>
            <a:chExt cx="2675" cy="7004"/>
          </a:xfrm>
        </p:grpSpPr>
        <p:sp>
          <p:nvSpPr>
            <p:cNvPr id="3" name="文本框 2">
              <a:hlinkClick r:id="rId2" action="ppaction://hlinksldjump"/>
              <a:extLst>
                <a:ext uri="{FF2B5EF4-FFF2-40B4-BE49-F238E27FC236}">
                  <a16:creationId xmlns:a16="http://schemas.microsoft.com/office/drawing/2014/main" id="{F5F92430-6CC0-CF5D-EF6C-FF0E9EE024D6}"/>
                </a:ext>
              </a:extLst>
            </p:cNvPr>
            <p:cNvSpPr txBox="1"/>
            <p:nvPr/>
          </p:nvSpPr>
          <p:spPr>
            <a:xfrm>
              <a:off x="88" y="2983"/>
              <a:ext cx="2478" cy="1115"/>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4" name="文本框 3">
              <a:extLst>
                <a:ext uri="{FF2B5EF4-FFF2-40B4-BE49-F238E27FC236}">
                  <a16:creationId xmlns:a16="http://schemas.microsoft.com/office/drawing/2014/main" id="{1237B1D2-029B-7825-ED3E-11BB65A82CC2}"/>
                </a:ext>
              </a:extLst>
            </p:cNvPr>
            <p:cNvSpPr txBox="1"/>
            <p:nvPr/>
          </p:nvSpPr>
          <p:spPr>
            <a:xfrm>
              <a:off x="209" y="4360"/>
              <a:ext cx="2478" cy="63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相关工作</a:t>
              </a:r>
              <a:endParaRPr lang="en-US" altLang="zh-CN" dirty="0"/>
            </a:p>
          </p:txBody>
        </p:sp>
        <p:sp>
          <p:nvSpPr>
            <p:cNvPr id="6" name="文本框 5">
              <a:hlinkClick r:id="" action="ppaction://noaction"/>
              <a:extLst>
                <a:ext uri="{FF2B5EF4-FFF2-40B4-BE49-F238E27FC236}">
                  <a16:creationId xmlns:a16="http://schemas.microsoft.com/office/drawing/2014/main" id="{C0DB7413-D0B9-087D-5AED-BAC6C268D34C}"/>
                </a:ext>
              </a:extLst>
            </p:cNvPr>
            <p:cNvSpPr txBox="1"/>
            <p:nvPr/>
          </p:nvSpPr>
          <p:spPr>
            <a:xfrm>
              <a:off x="129" y="7416"/>
              <a:ext cx="2478" cy="62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7" name="文本框 6">
              <a:hlinkClick r:id="" action="ppaction://noaction"/>
              <a:extLst>
                <a:ext uri="{FF2B5EF4-FFF2-40B4-BE49-F238E27FC236}">
                  <a16:creationId xmlns:a16="http://schemas.microsoft.com/office/drawing/2014/main" id="{E508823D-FC13-66A9-F8A7-5FE220FBB74F}"/>
                </a:ext>
              </a:extLst>
            </p:cNvPr>
            <p:cNvSpPr txBox="1"/>
            <p:nvPr/>
          </p:nvSpPr>
          <p:spPr>
            <a:xfrm>
              <a:off x="129" y="8872"/>
              <a:ext cx="2478" cy="111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9" name="等腰三角形 8">
              <a:extLst>
                <a:ext uri="{FF2B5EF4-FFF2-40B4-BE49-F238E27FC236}">
                  <a16:creationId xmlns:a16="http://schemas.microsoft.com/office/drawing/2014/main" id="{F94B17BB-9990-87EC-CAC2-9615A0354329}"/>
                </a:ext>
              </a:extLst>
            </p:cNvPr>
            <p:cNvSpPr/>
            <p:nvPr/>
          </p:nvSpPr>
          <p:spPr>
            <a:xfrm rot="16200000">
              <a:off x="2594" y="4552"/>
              <a:ext cx="181" cy="15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7E03118D-7762-B709-A005-D4299FF139EA}"/>
                </a:ext>
              </a:extLst>
            </p:cNvPr>
            <p:cNvCxnSpPr/>
            <p:nvPr/>
          </p:nvCxnSpPr>
          <p:spPr>
            <a:xfrm>
              <a:off x="532" y="5026"/>
              <a:ext cx="83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8" name="灯片编号占位符 67">
            <a:extLst>
              <a:ext uri="{FF2B5EF4-FFF2-40B4-BE49-F238E27FC236}">
                <a16:creationId xmlns:a16="http://schemas.microsoft.com/office/drawing/2014/main" id="{CBD95FD2-4377-F176-BF7E-2A4BE3A7B713}"/>
              </a:ext>
            </a:extLst>
          </p:cNvPr>
          <p:cNvSpPr>
            <a:spLocks noGrp="1"/>
          </p:cNvSpPr>
          <p:nvPr>
            <p:ph type="sldNum" sz="quarter" idx="12"/>
          </p:nvPr>
        </p:nvSpPr>
        <p:spPr/>
        <p:txBody>
          <a:bodyPr/>
          <a:lstStyle/>
          <a:p>
            <a:fld id="{3E75C6D3-133E-4A51-8F1C-F484242B8F05}" type="slidenum">
              <a:rPr lang="zh-CN" altLang="en-US" smtClean="0"/>
              <a:t>9</a:t>
            </a:fld>
            <a:endParaRPr lang="zh-CN" altLang="en-US" dirty="0"/>
          </a:p>
        </p:txBody>
      </p:sp>
      <p:sp>
        <p:nvSpPr>
          <p:cNvPr id="14" name="文本框 13">
            <a:extLst>
              <a:ext uri="{FF2B5EF4-FFF2-40B4-BE49-F238E27FC236}">
                <a16:creationId xmlns:a16="http://schemas.microsoft.com/office/drawing/2014/main" id="{1E8075EA-AB6A-72F3-B193-B19E01DE2269}"/>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dirty="0">
                <a:latin typeface="微软雅黑" panose="020B0503020204020204" charset="-122"/>
                <a:ea typeface="微软雅黑" panose="020B0503020204020204" charset="-122"/>
              </a:rPr>
              <a:t>相关作品</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8" name="直接连接符 7">
            <a:extLst>
              <a:ext uri="{FF2B5EF4-FFF2-40B4-BE49-F238E27FC236}">
                <a16:creationId xmlns:a16="http://schemas.microsoft.com/office/drawing/2014/main" id="{318F19FA-AA7E-9996-A59E-1B9880CF2320}"/>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90CBAD5-1CA3-F857-A342-C1DE0A09EAD4}"/>
              </a:ext>
            </a:extLst>
          </p:cNvPr>
          <p:cNvSpPr txBox="1"/>
          <p:nvPr/>
        </p:nvSpPr>
        <p:spPr>
          <a:xfrm>
            <a:off x="1982961" y="1057672"/>
            <a:ext cx="8143066" cy="4093428"/>
          </a:xfrm>
          <a:prstGeom prst="rect">
            <a:avLst/>
          </a:prstGeom>
          <a:noFill/>
        </p:spPr>
        <p:txBody>
          <a:bodyPr wrap="square" rtlCol="0">
            <a:spAutoFit/>
          </a:bodyPr>
          <a:lstStyle/>
          <a:p>
            <a:r>
              <a:rPr lang="en-US" altLang="zh-CN" sz="2000" dirty="0">
                <a:latin typeface="+mj-ea"/>
                <a:ea typeface="+mj-ea"/>
              </a:rPr>
              <a:t>1.</a:t>
            </a:r>
            <a:r>
              <a:rPr lang="zh-CN" altLang="en-US" sz="2000" dirty="0">
                <a:latin typeface="+mj-ea"/>
                <a:ea typeface="+mj-ea"/>
              </a:rPr>
              <a:t>基于单基因特征的鉴定方法</a:t>
            </a:r>
          </a:p>
          <a:p>
            <a:r>
              <a:rPr lang="en-US" altLang="zh-CN" sz="2000" dirty="0" err="1">
                <a:latin typeface="+mj-ea"/>
                <a:ea typeface="+mj-ea"/>
              </a:rPr>
              <a:t>MutSigCV</a:t>
            </a:r>
            <a:r>
              <a:rPr lang="zh-CN" altLang="en-US" sz="2000" dirty="0">
                <a:latin typeface="+mj-ea"/>
                <a:ea typeface="+mj-ea"/>
              </a:rPr>
              <a:t>、</a:t>
            </a:r>
            <a:r>
              <a:rPr lang="en-US" altLang="zh-CN" sz="2000" dirty="0">
                <a:latin typeface="+mj-ea"/>
                <a:ea typeface="+mj-ea"/>
              </a:rPr>
              <a:t>20/20+</a:t>
            </a:r>
            <a:r>
              <a:rPr lang="zh-CN" altLang="en-US" sz="2000" dirty="0">
                <a:latin typeface="+mj-ea"/>
                <a:ea typeface="+mj-ea"/>
              </a:rPr>
              <a:t>、</a:t>
            </a:r>
            <a:r>
              <a:rPr lang="en-US" altLang="zh-CN" sz="2000" dirty="0">
                <a:latin typeface="+mj-ea"/>
                <a:ea typeface="+mj-ea"/>
              </a:rPr>
              <a:t>DORGE </a:t>
            </a:r>
            <a:r>
              <a:rPr lang="zh-CN" altLang="en-US" sz="2000" dirty="0">
                <a:latin typeface="+mj-ea"/>
                <a:ea typeface="+mj-ea"/>
              </a:rPr>
              <a:t>等方法依托突变、表观遗传等基因自身特征完成癌症基因识别。该类方法仅考虑个体特征，忽略基因间相互关联，存在明显局限。</a:t>
            </a:r>
          </a:p>
          <a:p>
            <a:r>
              <a:rPr lang="en-US" altLang="zh-CN" sz="2000" dirty="0">
                <a:latin typeface="+mj-ea"/>
                <a:ea typeface="+mj-ea"/>
              </a:rPr>
              <a:t>2.</a:t>
            </a:r>
            <a:r>
              <a:rPr lang="zh-CN" altLang="en-US" sz="2000" dirty="0">
                <a:latin typeface="+mj-ea"/>
                <a:ea typeface="+mj-ea"/>
              </a:rPr>
              <a:t>基于基因关联网络的方法</a:t>
            </a:r>
          </a:p>
          <a:p>
            <a:r>
              <a:rPr lang="zh-CN" altLang="en-US" sz="2000" dirty="0">
                <a:latin typeface="+mj-ea"/>
                <a:ea typeface="+mj-ea"/>
              </a:rPr>
              <a:t>依托 </a:t>
            </a:r>
            <a:r>
              <a:rPr lang="en-US" altLang="zh-CN" sz="2000" dirty="0">
                <a:latin typeface="+mj-ea"/>
                <a:ea typeface="+mj-ea"/>
              </a:rPr>
              <a:t>PPI </a:t>
            </a:r>
            <a:r>
              <a:rPr lang="zh-CN" altLang="en-US" sz="2000" dirty="0">
                <a:latin typeface="+mj-ea"/>
                <a:ea typeface="+mj-ea"/>
              </a:rPr>
              <a:t>网络：</a:t>
            </a:r>
            <a:r>
              <a:rPr lang="en-US" altLang="zh-CN" sz="2000" dirty="0">
                <a:latin typeface="+mj-ea"/>
                <a:ea typeface="+mj-ea"/>
              </a:rPr>
              <a:t>Hierarchical Graphlet</a:t>
            </a:r>
            <a:r>
              <a:rPr lang="zh-CN" altLang="en-US" sz="2000" dirty="0">
                <a:latin typeface="+mj-ea"/>
                <a:ea typeface="+mj-ea"/>
              </a:rPr>
              <a:t>、</a:t>
            </a:r>
            <a:r>
              <a:rPr lang="en-US" altLang="zh-CN" sz="2000" dirty="0" err="1">
                <a:latin typeface="+mj-ea"/>
                <a:ea typeface="+mj-ea"/>
              </a:rPr>
              <a:t>NetCore</a:t>
            </a:r>
            <a:r>
              <a:rPr lang="en-US" altLang="zh-CN" sz="2000" dirty="0">
                <a:latin typeface="+mj-ea"/>
                <a:ea typeface="+mj-ea"/>
              </a:rPr>
              <a:t> </a:t>
            </a:r>
            <a:r>
              <a:rPr lang="zh-CN" altLang="en-US" sz="2000" dirty="0">
                <a:latin typeface="+mj-ea"/>
                <a:ea typeface="+mj-ea"/>
              </a:rPr>
              <a:t>划分特征子模块筛选候选基因；</a:t>
            </a:r>
            <a:r>
              <a:rPr lang="en-US" altLang="zh-CN" sz="2000" dirty="0">
                <a:latin typeface="+mj-ea"/>
                <a:ea typeface="+mj-ea"/>
              </a:rPr>
              <a:t>MTGCN</a:t>
            </a:r>
            <a:r>
              <a:rPr lang="zh-CN" altLang="en-US" sz="2000" dirty="0">
                <a:latin typeface="+mj-ea"/>
                <a:ea typeface="+mj-ea"/>
              </a:rPr>
              <a:t>、</a:t>
            </a:r>
            <a:r>
              <a:rPr lang="en-US" altLang="zh-CN" sz="2000" dirty="0">
                <a:latin typeface="+mj-ea"/>
                <a:ea typeface="+mj-ea"/>
              </a:rPr>
              <a:t>HGDC</a:t>
            </a:r>
            <a:r>
              <a:rPr lang="zh-CN" altLang="en-US" sz="2000" dirty="0">
                <a:latin typeface="+mj-ea"/>
                <a:ea typeface="+mj-ea"/>
              </a:rPr>
              <a:t>、</a:t>
            </a:r>
            <a:r>
              <a:rPr lang="en-US" altLang="zh-CN" sz="2000" dirty="0">
                <a:latin typeface="+mj-ea"/>
                <a:ea typeface="+mj-ea"/>
              </a:rPr>
              <a:t>EMGNN </a:t>
            </a:r>
            <a:r>
              <a:rPr lang="zh-CN" altLang="en-US" sz="2000" dirty="0">
                <a:latin typeface="+mj-ea"/>
                <a:ea typeface="+mj-ea"/>
              </a:rPr>
              <a:t>结合图神经网络优化特征提取与信息传播。</a:t>
            </a:r>
          </a:p>
          <a:p>
            <a:r>
              <a:rPr lang="en-US" altLang="zh-CN" sz="2000" dirty="0">
                <a:latin typeface="+mj-ea"/>
                <a:ea typeface="+mj-ea"/>
              </a:rPr>
              <a:t>3.</a:t>
            </a:r>
            <a:r>
              <a:rPr lang="zh-CN" altLang="en-US" sz="2000" dirty="0">
                <a:latin typeface="+mj-ea"/>
                <a:ea typeface="+mj-ea"/>
              </a:rPr>
              <a:t>依托功能关联数据：</a:t>
            </a:r>
            <a:r>
              <a:rPr lang="en-US" altLang="zh-CN" sz="2000" dirty="0" err="1">
                <a:latin typeface="+mj-ea"/>
                <a:ea typeface="+mj-ea"/>
              </a:rPr>
              <a:t>predCAN</a:t>
            </a:r>
            <a:r>
              <a:rPr lang="zh-CN" altLang="en-US" sz="2000" dirty="0">
                <a:latin typeface="+mj-ea"/>
                <a:ea typeface="+mj-ea"/>
              </a:rPr>
              <a:t>、</a:t>
            </a:r>
            <a:r>
              <a:rPr lang="en-US" altLang="zh-CN" sz="2000" dirty="0" err="1">
                <a:latin typeface="+mj-ea"/>
                <a:ea typeface="+mj-ea"/>
              </a:rPr>
              <a:t>DISHyper</a:t>
            </a:r>
            <a:r>
              <a:rPr lang="zh-CN" altLang="en-US" sz="2000" dirty="0">
                <a:latin typeface="+mj-ea"/>
                <a:ea typeface="+mj-ea"/>
              </a:rPr>
              <a:t>、</a:t>
            </a:r>
            <a:r>
              <a:rPr lang="en-US" altLang="zh-CN" sz="2000" dirty="0">
                <a:latin typeface="+mj-ea"/>
                <a:ea typeface="+mj-ea"/>
              </a:rPr>
              <a:t>MODIG </a:t>
            </a:r>
            <a:r>
              <a:rPr lang="zh-CN" altLang="en-US" sz="2000" dirty="0">
                <a:latin typeface="+mj-ea"/>
                <a:ea typeface="+mj-ea"/>
              </a:rPr>
              <a:t>利用 </a:t>
            </a:r>
            <a:r>
              <a:rPr lang="en-US" altLang="zh-CN" sz="2000" dirty="0">
                <a:latin typeface="+mj-ea"/>
                <a:ea typeface="+mj-ea"/>
              </a:rPr>
              <a:t>GO</a:t>
            </a:r>
            <a:r>
              <a:rPr lang="zh-CN" altLang="en-US" sz="2000" dirty="0">
                <a:latin typeface="+mj-ea"/>
                <a:ea typeface="+mj-ea"/>
              </a:rPr>
              <a:t>、</a:t>
            </a:r>
            <a:r>
              <a:rPr lang="en-US" altLang="zh-CN" sz="2000" dirty="0">
                <a:latin typeface="+mj-ea"/>
                <a:ea typeface="+mj-ea"/>
              </a:rPr>
              <a:t>MPO </a:t>
            </a:r>
            <a:r>
              <a:rPr lang="zh-CN" altLang="en-US" sz="2000" dirty="0">
                <a:latin typeface="+mj-ea"/>
                <a:ea typeface="+mj-ea"/>
              </a:rPr>
              <a:t>等数据，结合超图、多源信息融合技术挖掘基因关联。</a:t>
            </a:r>
          </a:p>
          <a:p>
            <a:r>
              <a:rPr lang="en-US" altLang="zh-CN" sz="2000" dirty="0">
                <a:latin typeface="+mj-ea"/>
                <a:ea typeface="+mj-ea"/>
              </a:rPr>
              <a:t>4.</a:t>
            </a:r>
            <a:r>
              <a:rPr lang="zh-CN" altLang="en-US" sz="2000" dirty="0">
                <a:latin typeface="+mj-ea"/>
                <a:ea typeface="+mj-ea"/>
              </a:rPr>
              <a:t>现有方法不足：</a:t>
            </a:r>
          </a:p>
          <a:p>
            <a:r>
              <a:rPr lang="zh-CN" altLang="en-US" sz="2000" dirty="0">
                <a:latin typeface="+mj-ea"/>
                <a:ea typeface="+mj-ea"/>
              </a:rPr>
              <a:t>多数模型仅使用单一类型关联信息，未充分融合多源数据，难以全面表征复杂的基因关联模式。</a:t>
            </a:r>
          </a:p>
        </p:txBody>
      </p:sp>
    </p:spTree>
    <p:extLst>
      <p:ext uri="{BB962C8B-B14F-4D97-AF65-F5344CB8AC3E}">
        <p14:creationId xmlns:p14="http://schemas.microsoft.com/office/powerpoint/2010/main" val="2045708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03</a:t>
            </a:r>
            <a:endParaRPr lang="zh-CN" altLang="en-US" sz="9600" b="1" spc="600" dirty="0">
              <a:solidFill>
                <a:schemeClr val="bg1"/>
              </a:solidFill>
              <a:latin typeface="+mj-ea"/>
              <a:ea typeface="+mj-ea"/>
            </a:endParaRPr>
          </a:p>
        </p:txBody>
      </p:sp>
      <p:sp>
        <p:nvSpPr>
          <p:cNvPr id="172" name="文本框 171"/>
          <p:cNvSpPr txBox="1"/>
          <p:nvPr/>
        </p:nvSpPr>
        <p:spPr>
          <a:xfrm>
            <a:off x="3992048" y="2660650"/>
            <a:ext cx="4007487"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00000"/>
                </a:solidFill>
                <a:latin typeface="+mj-ea"/>
                <a:ea typeface="+mj-ea"/>
              </a:rPr>
              <a:t>方法论</a:t>
            </a:r>
            <a:endParaRPr kumimoji="0" lang="en-US" altLang="zh-CN"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403460" y="1496200"/>
            <a:ext cx="2095125" cy="338554"/>
          </a:xfrm>
          <a:prstGeom prst="rect">
            <a:avLst/>
          </a:prstGeom>
          <a:noFill/>
        </p:spPr>
        <p:txBody>
          <a:bodyPr wrap="none" rtlCol="0">
            <a:spAutoFit/>
          </a:bodyPr>
          <a:lstStyle/>
          <a:p>
            <a:pPr algn="ctr"/>
            <a:r>
              <a:rPr lang="en-US" altLang="zh-CN" sz="1600" spc="600" dirty="0">
                <a:solidFill>
                  <a:schemeClr val="bg1"/>
                </a:solidFill>
                <a:latin typeface="+mn-ea"/>
              </a:rPr>
              <a:t>PART THREE</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2728-0F72-D1BA-2DFB-D0770C8062D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924D10F-8F3A-E4D8-CF48-63B9D3E6996B}"/>
              </a:ext>
            </a:extLst>
          </p:cNvPr>
          <p:cNvSpPr>
            <a:spLocks noGrp="1"/>
          </p:cNvSpPr>
          <p:nvPr>
            <p:ph type="sldNum" sz="quarter" idx="12"/>
          </p:nvPr>
        </p:nvSpPr>
        <p:spPr/>
        <p:txBody>
          <a:bodyPr/>
          <a:lstStyle/>
          <a:p>
            <a:fld id="{3E75C6D3-133E-4A51-8F1C-F484242B8F05}" type="slidenum">
              <a:rPr lang="zh-CN" altLang="en-US" smtClean="0"/>
              <a:t>11</a:t>
            </a:fld>
            <a:endParaRPr lang="zh-CN" altLang="en-US" dirty="0"/>
          </a:p>
        </p:txBody>
      </p:sp>
      <p:sp>
        <p:nvSpPr>
          <p:cNvPr id="28" name="文本框 27">
            <a:hlinkClick r:id="rId8" action="ppaction://hlinksldjump"/>
            <a:extLst>
              <a:ext uri="{FF2B5EF4-FFF2-40B4-BE49-F238E27FC236}">
                <a16:creationId xmlns:a16="http://schemas.microsoft.com/office/drawing/2014/main" id="{7BBFDAE3-8B12-D0C7-CA83-CF5250067E9B}"/>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29" name="文本框 28">
            <a:extLst>
              <a:ext uri="{FF2B5EF4-FFF2-40B4-BE49-F238E27FC236}">
                <a16:creationId xmlns:a16="http://schemas.microsoft.com/office/drawing/2014/main" id="{315DEA93-D3C9-D1A7-29EC-FCF3B0BDF2DF}"/>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E3E5C2B9-2D91-4767-7D01-6C5CEFE7CE69}"/>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835242EA-67FC-EE69-E2BE-F5A6C68E26C5}"/>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4FD1C941-26C7-5335-8854-3081DD6DD098}"/>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47CCF553-7DBA-1A15-D380-6F7425865B0F}"/>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4B899A9-057A-A6F3-CB04-8D6EB03CD942}"/>
              </a:ext>
            </a:extLst>
          </p:cNvPr>
          <p:cNvSpPr txBox="1"/>
          <p:nvPr/>
        </p:nvSpPr>
        <p:spPr>
          <a:xfrm>
            <a:off x="1983105" y="213995"/>
            <a:ext cx="6562090"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基于图模型提取 </a:t>
            </a:r>
            <a:r>
              <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PPI </a:t>
            </a: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网络特征表示</a:t>
            </a:r>
          </a:p>
        </p:txBody>
      </p:sp>
      <p:cxnSp>
        <p:nvCxnSpPr>
          <p:cNvPr id="10" name="直接连接符 9">
            <a:extLst>
              <a:ext uri="{FF2B5EF4-FFF2-40B4-BE49-F238E27FC236}">
                <a16:creationId xmlns:a16="http://schemas.microsoft.com/office/drawing/2014/main" id="{0A3DC070-D612-C384-0A35-531CC6F14ADD}"/>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6C56E1CF-B404-2102-9725-336DB50D4F71}"/>
              </a:ext>
            </a:extLst>
          </p:cNvPr>
          <p:cNvSpPr txBox="1"/>
          <p:nvPr/>
        </p:nvSpPr>
        <p:spPr>
          <a:xfrm>
            <a:off x="2014220" y="1198880"/>
            <a:ext cx="4582795" cy="3692525"/>
          </a:xfrm>
          <a:prstGeom prst="rect">
            <a:avLst/>
          </a:prstGeom>
          <a:noFill/>
        </p:spPr>
        <p:txBody>
          <a:bodyPr wrap="square" rtlCol="0">
            <a:spAutoFit/>
          </a:bodyPr>
          <a:lstStyle/>
          <a:p>
            <a:r>
              <a:rPr lang="en-US" altLang="zh-CN"/>
              <a:t>PPI（</a:t>
            </a:r>
            <a:r>
              <a:rPr lang="zh-CN" altLang="en-US"/>
              <a:t>蛋白质 - 蛋白质相互作用）网络表示基因之间的二元关联关系。为了充分利用 </a:t>
            </a:r>
            <a:r>
              <a:rPr lang="en-US" altLang="zh-CN"/>
              <a:t>PPI </a:t>
            </a:r>
            <a:r>
              <a:rPr lang="zh-CN" altLang="en-US"/>
              <a:t>网络中的二元关联信息，我们使用图 </a:t>
            </a:r>
            <a:r>
              <a:rPr lang="en-US" altLang="zh-CN"/>
              <a:t>G(V, E) </a:t>
            </a:r>
            <a:r>
              <a:rPr lang="zh-CN" altLang="en-US"/>
              <a:t>来表示该网络：其中图中的节点 </a:t>
            </a:r>
            <a:r>
              <a:rPr lang="en-US" altLang="zh-CN"/>
              <a:t>V = {v1, v2, v3, ..., vn </a:t>
            </a:r>
            <a:r>
              <a:rPr lang="zh-CN" altLang="en-US"/>
              <a:t>代表 </a:t>
            </a:r>
            <a:r>
              <a:rPr lang="en-US" altLang="zh-CN"/>
              <a:t>n </a:t>
            </a:r>
            <a:r>
              <a:rPr lang="zh-CN" altLang="en-US"/>
              <a:t>个基因，边 </a:t>
            </a:r>
            <a:r>
              <a:rPr lang="en-US" altLang="zh-CN"/>
              <a:t>E </a:t>
            </a:r>
            <a:r>
              <a:rPr lang="zh-CN" altLang="en-US"/>
              <a:t>代表 </a:t>
            </a:r>
            <a:r>
              <a:rPr lang="en-US" altLang="zh-CN"/>
              <a:t>m </a:t>
            </a:r>
            <a:r>
              <a:rPr lang="zh-CN" altLang="en-US"/>
              <a:t>个蛋白质相互作用。随后，我们将 </a:t>
            </a:r>
            <a:r>
              <a:rPr lang="en-US" altLang="zh-CN"/>
              <a:t>PPI </a:t>
            </a:r>
            <a:r>
              <a:rPr lang="zh-CN" altLang="en-US"/>
              <a:t>网络的邻接矩阵和基因的泛癌特征矩阵作为图神经网络的输入，以提取基因的二元关联信息与多组学特征。</a:t>
            </a:r>
          </a:p>
          <a:p>
            <a:r>
              <a:rPr lang="zh-CN" altLang="en-US"/>
              <a:t>在 </a:t>
            </a:r>
            <a:r>
              <a:rPr lang="en-US" altLang="zh-CN"/>
              <a:t>DISFusion </a:t>
            </a:r>
            <a:r>
              <a:rPr lang="zh-CN" altLang="en-US"/>
              <a:t>模型中，采用切比雪夫图卷积网络</a:t>
            </a:r>
            <a:r>
              <a:rPr lang="en-US" altLang="zh-CN"/>
              <a:t>。</a:t>
            </a:r>
            <a:r>
              <a:rPr lang="zh-CN" altLang="en-US"/>
              <a:t>与传统 </a:t>
            </a:r>
            <a:r>
              <a:rPr lang="en-US" altLang="zh-CN"/>
              <a:t>GCN </a:t>
            </a:r>
            <a:r>
              <a:rPr lang="zh-CN" altLang="en-US"/>
              <a:t>相比，切比雪夫 </a:t>
            </a:r>
            <a:r>
              <a:rPr lang="en-US" altLang="zh-CN"/>
              <a:t>GCN </a:t>
            </a:r>
            <a:r>
              <a:rPr lang="zh-CN" altLang="en-US"/>
              <a:t>在聚合高阶邻居信息时具有更高的灵活性。单层切比雪夫 </a:t>
            </a:r>
            <a:r>
              <a:rPr lang="en-US" altLang="zh-CN"/>
              <a:t>GCN </a:t>
            </a:r>
            <a:r>
              <a:rPr lang="zh-CN" altLang="en-US"/>
              <a:t>的公式如下：</a:t>
            </a:r>
          </a:p>
        </p:txBody>
      </p:sp>
      <p:pic>
        <p:nvPicPr>
          <p:cNvPr id="4" name="图片 3">
            <a:extLst>
              <a:ext uri="{FF2B5EF4-FFF2-40B4-BE49-F238E27FC236}">
                <a16:creationId xmlns:a16="http://schemas.microsoft.com/office/drawing/2014/main" id="{8E06C690-1B23-4EA8-169B-E9F908364AD3}"/>
              </a:ext>
            </a:extLst>
          </p:cNvPr>
          <p:cNvPicPr>
            <a:picLocks noChangeAspect="1"/>
          </p:cNvPicPr>
          <p:nvPr/>
        </p:nvPicPr>
        <p:blipFill>
          <a:blip r:embed="rId9"/>
          <a:srcRect l="28670" r="28581" b="8795"/>
          <a:stretch>
            <a:fillRect/>
          </a:stretch>
        </p:blipFill>
        <p:spPr>
          <a:xfrm>
            <a:off x="2413635" y="5088890"/>
            <a:ext cx="2429510" cy="941705"/>
          </a:xfrm>
          <a:prstGeom prst="rect">
            <a:avLst/>
          </a:prstGeom>
        </p:spPr>
      </p:pic>
      <p:pic>
        <p:nvPicPr>
          <p:cNvPr id="6" name="图片 5">
            <a:extLst>
              <a:ext uri="{FF2B5EF4-FFF2-40B4-BE49-F238E27FC236}">
                <a16:creationId xmlns:a16="http://schemas.microsoft.com/office/drawing/2014/main" id="{C3910EB3-4927-34AD-ED22-AE77D4967CEF}"/>
              </a:ext>
            </a:extLst>
          </p:cNvPr>
          <p:cNvPicPr>
            <a:picLocks noChangeAspect="1"/>
          </p:cNvPicPr>
          <p:nvPr/>
        </p:nvPicPr>
        <p:blipFill>
          <a:blip r:embed="rId10"/>
          <a:stretch>
            <a:fillRect/>
          </a:stretch>
        </p:blipFill>
        <p:spPr>
          <a:xfrm>
            <a:off x="6758940" y="1198880"/>
            <a:ext cx="5231130" cy="3001645"/>
          </a:xfrm>
          <a:prstGeom prst="rect">
            <a:avLst/>
          </a:prstGeom>
        </p:spPr>
      </p:pic>
    </p:spTree>
    <p:extLst>
      <p:ext uri="{BB962C8B-B14F-4D97-AF65-F5344CB8AC3E}">
        <p14:creationId xmlns:p14="http://schemas.microsoft.com/office/powerpoint/2010/main" val="3975118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06A66-A53B-F9B2-A453-38641B83699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AB480F0-66AE-B7A8-B06E-789BB3BFFCAB}"/>
              </a:ext>
            </a:extLst>
          </p:cNvPr>
          <p:cNvSpPr>
            <a:spLocks noGrp="1"/>
          </p:cNvSpPr>
          <p:nvPr>
            <p:ph type="sldNum" sz="quarter" idx="12"/>
          </p:nvPr>
        </p:nvSpPr>
        <p:spPr/>
        <p:txBody>
          <a:bodyPr/>
          <a:lstStyle/>
          <a:p>
            <a:fld id="{3E75C6D3-133E-4A51-8F1C-F484242B8F05}" type="slidenum">
              <a:rPr lang="zh-CN" altLang="en-US" smtClean="0"/>
              <a:t>12</a:t>
            </a:fld>
            <a:endParaRPr lang="zh-CN" altLang="en-US" dirty="0"/>
          </a:p>
        </p:txBody>
      </p:sp>
      <p:sp>
        <p:nvSpPr>
          <p:cNvPr id="28" name="文本框 27">
            <a:hlinkClick r:id="rId8" action="ppaction://hlinksldjump"/>
            <a:extLst>
              <a:ext uri="{FF2B5EF4-FFF2-40B4-BE49-F238E27FC236}">
                <a16:creationId xmlns:a16="http://schemas.microsoft.com/office/drawing/2014/main" id="{229AADDB-6E36-64EE-C641-A4DE156864EF}"/>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29" name="文本框 28">
            <a:extLst>
              <a:ext uri="{FF2B5EF4-FFF2-40B4-BE49-F238E27FC236}">
                <a16:creationId xmlns:a16="http://schemas.microsoft.com/office/drawing/2014/main" id="{0717B77D-424C-80B4-7FAC-47F78BD579A1}"/>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51A35388-8748-101C-25B7-7EA1341E2D94}"/>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2D359CDA-7BE6-F9CD-AAE6-50C2C6687174}"/>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EDF208C6-E979-C77B-23C3-A219E57605EC}"/>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03F3D7B3-ACA2-82B2-6D9E-64CBF416C560}"/>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8FFF8EDC-F790-E7C3-3FE1-53856E5D2CCC}"/>
              </a:ext>
            </a:extLst>
          </p:cNvPr>
          <p:cNvSpPr txBox="1"/>
          <p:nvPr/>
        </p:nvSpPr>
        <p:spPr>
          <a:xfrm>
            <a:off x="1983105" y="213995"/>
            <a:ext cx="6562090" cy="535531"/>
          </a:xfrm>
          <a:prstGeom prst="rect">
            <a:avLst/>
          </a:prstGeom>
          <a:noFill/>
        </p:spPr>
        <p:txBody>
          <a:bodyPr wrap="square" rtlCol="0">
            <a:spAutoFit/>
          </a:bodyPr>
          <a:lstStyle/>
          <a:p>
            <a:pPr lvl="0">
              <a:lnSpc>
                <a:spcPct val="110000"/>
              </a:lnSpc>
              <a:defRPr/>
            </a:pPr>
            <a:r>
              <a:rPr lang="zh-CN" altLang="en-US" sz="2800" dirty="0">
                <a:ln/>
                <a:effectLst>
                  <a:outerShdw blurRad="38100" dist="19050" dir="2700000" algn="tl" rotWithShape="0">
                    <a:schemeClr val="dk1">
                      <a:alpha val="40000"/>
                    </a:schemeClr>
                  </a:outerShdw>
                </a:effectLst>
                <a:sym typeface="+mn-ea"/>
              </a:rPr>
              <a:t>切比雪夫图卷积网络</a:t>
            </a:r>
            <a:endParaRPr lang="zh-CN" altLang="en-US" sz="2800" dirty="0">
              <a:ln/>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mn-ea"/>
            </a:endParaRPr>
          </a:p>
        </p:txBody>
      </p:sp>
      <p:cxnSp>
        <p:nvCxnSpPr>
          <p:cNvPr id="10" name="直接连接符 9">
            <a:extLst>
              <a:ext uri="{FF2B5EF4-FFF2-40B4-BE49-F238E27FC236}">
                <a16:creationId xmlns:a16="http://schemas.microsoft.com/office/drawing/2014/main" id="{834B4844-5039-CE38-D116-CE434CB05B1A}"/>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32EF740-940E-36F2-8A7C-63DE2967C6AA}"/>
              </a:ext>
            </a:extLst>
          </p:cNvPr>
          <p:cNvSpPr txBox="1"/>
          <p:nvPr/>
        </p:nvSpPr>
        <p:spPr>
          <a:xfrm>
            <a:off x="7895590" y="1161415"/>
            <a:ext cx="3518535" cy="3969385"/>
          </a:xfrm>
          <a:prstGeom prst="rect">
            <a:avLst/>
          </a:prstGeom>
          <a:noFill/>
        </p:spPr>
        <p:txBody>
          <a:bodyPr wrap="square" rtlCol="0">
            <a:spAutoFit/>
          </a:bodyPr>
          <a:lstStyle/>
          <a:p>
            <a:r>
              <a:rPr lang="zh-CN" altLang="en-US" dirty="0"/>
              <a:t>为什么 </a:t>
            </a:r>
            <a:r>
              <a:rPr lang="en-US" altLang="zh-CN" dirty="0"/>
              <a:t>PPI </a:t>
            </a:r>
            <a:r>
              <a:rPr lang="zh-CN" altLang="en-US" dirty="0"/>
              <a:t>网络适合用 </a:t>
            </a:r>
            <a:r>
              <a:rPr lang="en-US" altLang="zh-CN" dirty="0"/>
              <a:t>Chebyshev GCN？</a:t>
            </a:r>
          </a:p>
          <a:p>
            <a:endParaRPr lang="en-US" altLang="zh-CN" dirty="0"/>
          </a:p>
          <a:p>
            <a:r>
              <a:rPr lang="en-US" altLang="zh-CN" dirty="0"/>
              <a:t>PPI </a:t>
            </a:r>
            <a:r>
              <a:rPr lang="zh-CN" altLang="en-US" dirty="0"/>
              <a:t>网络中，基因之间的相互作用往往不是直接的（比如两个基因通过多个中间蛋白间接关联），传统一阶 </a:t>
            </a:r>
            <a:r>
              <a:rPr lang="en-US" altLang="zh-CN" dirty="0"/>
              <a:t>GCN </a:t>
            </a:r>
            <a:r>
              <a:rPr lang="zh-CN" altLang="en-US" dirty="0"/>
              <a:t>只能捕捉直接相互作用，会丢失大量高阶关联信息。而 </a:t>
            </a:r>
            <a:r>
              <a:rPr lang="en-US" altLang="zh-CN" dirty="0"/>
              <a:t>Chebyshev GCN </a:t>
            </a:r>
            <a:r>
              <a:rPr lang="zh-CN" altLang="en-US" dirty="0"/>
              <a:t>通过调整 </a:t>
            </a:r>
            <a:r>
              <a:rPr lang="en-US" altLang="zh-CN" dirty="0"/>
              <a:t>K，</a:t>
            </a:r>
            <a:r>
              <a:rPr lang="zh-CN" altLang="en-US" dirty="0"/>
              <a:t>可以灵活聚合多阶邻居信息，更充分地挖掘 </a:t>
            </a:r>
            <a:r>
              <a:rPr lang="en-US" altLang="zh-CN" dirty="0"/>
              <a:t>PPI </a:t>
            </a:r>
            <a:r>
              <a:rPr lang="zh-CN" altLang="en-US" dirty="0"/>
              <a:t>网络的结构特征，提升后续任务（比如癌症生存预测、基因功能预测）的效果。</a:t>
            </a:r>
          </a:p>
        </p:txBody>
      </p:sp>
      <p:sp>
        <p:nvSpPr>
          <p:cNvPr id="8" name="文本框 7">
            <a:extLst>
              <a:ext uri="{FF2B5EF4-FFF2-40B4-BE49-F238E27FC236}">
                <a16:creationId xmlns:a16="http://schemas.microsoft.com/office/drawing/2014/main" id="{5F3C64C9-F35C-6724-60C9-185E2FF1FA25}"/>
              </a:ext>
            </a:extLst>
          </p:cNvPr>
          <p:cNvSpPr txBox="1"/>
          <p:nvPr/>
        </p:nvSpPr>
        <p:spPr>
          <a:xfrm>
            <a:off x="2066290" y="1161415"/>
            <a:ext cx="5087620" cy="645160"/>
          </a:xfrm>
          <a:prstGeom prst="rect">
            <a:avLst/>
          </a:prstGeom>
          <a:noFill/>
        </p:spPr>
        <p:txBody>
          <a:bodyPr wrap="square" rtlCol="0">
            <a:spAutoFit/>
          </a:bodyPr>
          <a:lstStyle/>
          <a:p>
            <a:r>
              <a:rPr lang="zh-CN" altLang="en-US" dirty="0"/>
              <a:t>1. 切比雪夫多项式的定义</a:t>
            </a:r>
          </a:p>
          <a:p>
            <a:r>
              <a:rPr lang="zh-CN" altLang="en-US" dirty="0"/>
              <a:t>切比雪夫多项式是一组正交多项式，递推公式为：</a:t>
            </a:r>
          </a:p>
        </p:txBody>
      </p:sp>
      <p:pic>
        <p:nvPicPr>
          <p:cNvPr id="9" name="图片 8">
            <a:extLst>
              <a:ext uri="{FF2B5EF4-FFF2-40B4-BE49-F238E27FC236}">
                <a16:creationId xmlns:a16="http://schemas.microsoft.com/office/drawing/2014/main" id="{6E653F99-50AD-BE2D-1C61-5D2918DB1C38}"/>
              </a:ext>
            </a:extLst>
          </p:cNvPr>
          <p:cNvPicPr>
            <a:picLocks noChangeAspect="1"/>
          </p:cNvPicPr>
          <p:nvPr/>
        </p:nvPicPr>
        <p:blipFill>
          <a:blip r:embed="rId9"/>
          <a:stretch>
            <a:fillRect/>
          </a:stretch>
        </p:blipFill>
        <p:spPr>
          <a:xfrm>
            <a:off x="2066290" y="1849120"/>
            <a:ext cx="4895850" cy="477520"/>
          </a:xfrm>
          <a:prstGeom prst="rect">
            <a:avLst/>
          </a:prstGeom>
        </p:spPr>
      </p:pic>
      <p:sp>
        <p:nvSpPr>
          <p:cNvPr id="11" name="文本框 10">
            <a:extLst>
              <a:ext uri="{FF2B5EF4-FFF2-40B4-BE49-F238E27FC236}">
                <a16:creationId xmlns:a16="http://schemas.microsoft.com/office/drawing/2014/main" id="{2A1A46DD-0C13-BA7E-9401-5D3DD850F3A8}"/>
              </a:ext>
            </a:extLst>
          </p:cNvPr>
          <p:cNvSpPr txBox="1"/>
          <p:nvPr/>
        </p:nvSpPr>
        <p:spPr>
          <a:xfrm>
            <a:off x="2066290" y="2435860"/>
            <a:ext cx="4896485" cy="922020"/>
          </a:xfrm>
          <a:prstGeom prst="rect">
            <a:avLst/>
          </a:prstGeom>
          <a:noFill/>
        </p:spPr>
        <p:txBody>
          <a:bodyPr wrap="square" rtlCol="0">
            <a:spAutoFit/>
          </a:bodyPr>
          <a:lstStyle/>
          <a:p>
            <a:r>
              <a:rPr lang="en-US" altLang="zh-CN" dirty="0"/>
              <a:t>2.</a:t>
            </a:r>
            <a:r>
              <a:rPr lang="zh-CN" altLang="en-US" dirty="0"/>
              <a:t>切比雪夫图卷积公式</a:t>
            </a:r>
          </a:p>
          <a:p>
            <a:r>
              <a:rPr lang="zh-CN" altLang="en-US" dirty="0"/>
              <a:t>用 </a:t>
            </a:r>
            <a:r>
              <a:rPr lang="en-US" altLang="zh-CN" dirty="0"/>
              <a:t>K </a:t>
            </a:r>
            <a:r>
              <a:rPr lang="zh-CN" altLang="en-US" dirty="0"/>
              <a:t>阶切比雪夫多项式近似滤波函数后，图卷积的形式为：</a:t>
            </a:r>
          </a:p>
        </p:txBody>
      </p:sp>
      <p:pic>
        <p:nvPicPr>
          <p:cNvPr id="12" name="图片 11">
            <a:extLst>
              <a:ext uri="{FF2B5EF4-FFF2-40B4-BE49-F238E27FC236}">
                <a16:creationId xmlns:a16="http://schemas.microsoft.com/office/drawing/2014/main" id="{058C1D52-1B37-5539-A129-F1F86F5F22A4}"/>
              </a:ext>
            </a:extLst>
          </p:cNvPr>
          <p:cNvPicPr>
            <a:picLocks noChangeAspect="1"/>
          </p:cNvPicPr>
          <p:nvPr/>
        </p:nvPicPr>
        <p:blipFill>
          <a:blip r:embed="rId10"/>
          <a:stretch>
            <a:fillRect/>
          </a:stretch>
        </p:blipFill>
        <p:spPr>
          <a:xfrm>
            <a:off x="2066290" y="3467100"/>
            <a:ext cx="4808855" cy="2620645"/>
          </a:xfrm>
          <a:prstGeom prst="rect">
            <a:avLst/>
          </a:prstGeom>
        </p:spPr>
      </p:pic>
    </p:spTree>
    <p:extLst>
      <p:ext uri="{BB962C8B-B14F-4D97-AF65-F5344CB8AC3E}">
        <p14:creationId xmlns:p14="http://schemas.microsoft.com/office/powerpoint/2010/main" val="1146406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35986-318C-23E8-B256-32EE5D3E62A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4CADADF-2EAC-24BB-3FCA-B7028A50FD61}"/>
              </a:ext>
            </a:extLst>
          </p:cNvPr>
          <p:cNvSpPr>
            <a:spLocks noGrp="1"/>
          </p:cNvSpPr>
          <p:nvPr>
            <p:ph type="sldNum" sz="quarter" idx="12"/>
          </p:nvPr>
        </p:nvSpPr>
        <p:spPr/>
        <p:txBody>
          <a:bodyPr/>
          <a:lstStyle/>
          <a:p>
            <a:fld id="{3E75C6D3-133E-4A51-8F1C-F484242B8F05}" type="slidenum">
              <a:rPr lang="zh-CN" altLang="en-US" smtClean="0"/>
              <a:t>13</a:t>
            </a:fld>
            <a:endParaRPr lang="zh-CN" altLang="en-US" dirty="0"/>
          </a:p>
        </p:txBody>
      </p:sp>
      <p:sp>
        <p:nvSpPr>
          <p:cNvPr id="28" name="文本框 27">
            <a:hlinkClick r:id="rId8" action="ppaction://hlinksldjump"/>
            <a:extLst>
              <a:ext uri="{FF2B5EF4-FFF2-40B4-BE49-F238E27FC236}">
                <a16:creationId xmlns:a16="http://schemas.microsoft.com/office/drawing/2014/main" id="{7DC8417C-56BB-4CAB-510B-AA767D02C573}"/>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29" name="文本框 28">
            <a:extLst>
              <a:ext uri="{FF2B5EF4-FFF2-40B4-BE49-F238E27FC236}">
                <a16:creationId xmlns:a16="http://schemas.microsoft.com/office/drawing/2014/main" id="{DBDAB417-4403-7566-18C6-4CC3DABFFD26}"/>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E26C5B65-8DE4-DC34-24E7-D2408B450D5F}"/>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C6A4EAF9-534C-748F-8140-36F91D013220}"/>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04234596-DB1E-A74E-70E2-8919681B1FBD}"/>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8EB18088-07D2-456B-EFE5-C07C1F148AD6}"/>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3FCB37E9-2B36-A3BB-A5B4-D65E5A0AFD51}"/>
              </a:ext>
            </a:extLst>
          </p:cNvPr>
          <p:cNvSpPr txBox="1"/>
          <p:nvPr/>
        </p:nvSpPr>
        <p:spPr>
          <a:xfrm>
            <a:off x="1983105" y="213995"/>
            <a:ext cx="6562090" cy="533288"/>
          </a:xfrm>
          <a:prstGeom prst="rect">
            <a:avLst/>
          </a:prstGeom>
          <a:noFill/>
        </p:spPr>
        <p:txBody>
          <a:bodyPr wrap="square" rtlCol="0">
            <a:spAutoFit/>
          </a:bodyPr>
          <a:lstStyle/>
          <a:p>
            <a:pPr lvl="0">
              <a:lnSpc>
                <a:spcPct val="110000"/>
              </a:lnSpc>
              <a:defRPr/>
            </a:pPr>
            <a:r>
              <a:rPr lang="zh-CN" altLang="en-US" sz="2800" b="1" dirty="0">
                <a:latin typeface="微软雅黑" panose="020B0503020204020204" charset="-122"/>
                <a:ea typeface="微软雅黑" panose="020B0503020204020204" charset="-122"/>
              </a:rPr>
              <a:t>基于超图模型的特征表示提取功能关联</a:t>
            </a:r>
          </a:p>
        </p:txBody>
      </p:sp>
      <p:cxnSp>
        <p:nvCxnSpPr>
          <p:cNvPr id="10" name="直接连接符 9">
            <a:extLst>
              <a:ext uri="{FF2B5EF4-FFF2-40B4-BE49-F238E27FC236}">
                <a16:creationId xmlns:a16="http://schemas.microsoft.com/office/drawing/2014/main" id="{A47298E4-5492-86C4-D3BC-42CEF39127B6}"/>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134D65AA-5841-CF01-B547-756EED320EAC}"/>
              </a:ext>
            </a:extLst>
          </p:cNvPr>
          <p:cNvPicPr>
            <a:picLocks noChangeAspect="1"/>
          </p:cNvPicPr>
          <p:nvPr/>
        </p:nvPicPr>
        <p:blipFill>
          <a:blip r:embed="rId9"/>
          <a:stretch>
            <a:fillRect/>
          </a:stretch>
        </p:blipFill>
        <p:spPr>
          <a:xfrm>
            <a:off x="2034540" y="1125220"/>
            <a:ext cx="8298815" cy="3806190"/>
          </a:xfrm>
          <a:prstGeom prst="rect">
            <a:avLst/>
          </a:prstGeom>
        </p:spPr>
      </p:pic>
    </p:spTree>
    <p:extLst>
      <p:ext uri="{BB962C8B-B14F-4D97-AF65-F5344CB8AC3E}">
        <p14:creationId xmlns:p14="http://schemas.microsoft.com/office/powerpoint/2010/main" val="280195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44B6F-523D-32C9-52F6-E0A50AE349D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1C5AA52-3A7E-51B6-A59E-20A5D87C07DF}"/>
              </a:ext>
            </a:extLst>
          </p:cNvPr>
          <p:cNvSpPr>
            <a:spLocks noGrp="1"/>
          </p:cNvSpPr>
          <p:nvPr>
            <p:ph type="sldNum" sz="quarter" idx="12"/>
          </p:nvPr>
        </p:nvSpPr>
        <p:spPr/>
        <p:txBody>
          <a:bodyPr/>
          <a:lstStyle/>
          <a:p>
            <a:fld id="{3E75C6D3-133E-4A51-8F1C-F484242B8F05}" type="slidenum">
              <a:rPr lang="zh-CN" altLang="en-US" smtClean="0"/>
              <a:t>14</a:t>
            </a:fld>
            <a:endParaRPr lang="zh-CN" altLang="en-US" dirty="0"/>
          </a:p>
        </p:txBody>
      </p:sp>
      <p:sp>
        <p:nvSpPr>
          <p:cNvPr id="28" name="文本框 27">
            <a:hlinkClick r:id="rId8" action="ppaction://hlinksldjump"/>
            <a:extLst>
              <a:ext uri="{FF2B5EF4-FFF2-40B4-BE49-F238E27FC236}">
                <a16:creationId xmlns:a16="http://schemas.microsoft.com/office/drawing/2014/main" id="{CF80F04E-1DA9-E07B-634B-D288D7FC88CC}"/>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29" name="文本框 28">
            <a:extLst>
              <a:ext uri="{FF2B5EF4-FFF2-40B4-BE49-F238E27FC236}">
                <a16:creationId xmlns:a16="http://schemas.microsoft.com/office/drawing/2014/main" id="{E09BA7E3-8598-D7BB-BE71-85B6946598E0}"/>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183FF55F-93AA-D9C3-3422-36D7579C8B7E}"/>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D6C83AF7-5FE1-8775-1CCF-C2193DD0FB34}"/>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B9825337-145C-9D6B-C7DF-C125C46EA4AA}"/>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62D5181B-AD64-C00D-7F1A-924D50C8056A}"/>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511E0EF-4810-B7C3-3890-464A461966A7}"/>
              </a:ext>
            </a:extLst>
          </p:cNvPr>
          <p:cNvSpPr txBox="1"/>
          <p:nvPr/>
        </p:nvSpPr>
        <p:spPr>
          <a:xfrm>
            <a:off x="1983105" y="213995"/>
            <a:ext cx="6562090" cy="533288"/>
          </a:xfrm>
          <a:prstGeom prst="rect">
            <a:avLst/>
          </a:prstGeom>
          <a:noFill/>
        </p:spPr>
        <p:txBody>
          <a:bodyPr wrap="square" rtlCol="0">
            <a:spAutoFit/>
          </a:bodyPr>
          <a:lstStyle/>
          <a:p>
            <a:pPr lvl="0">
              <a:lnSpc>
                <a:spcPct val="110000"/>
              </a:lnSpc>
              <a:defRPr/>
            </a:pPr>
            <a:r>
              <a:rPr lang="zh-CN" altLang="en-US" sz="2800" b="1" dirty="0">
                <a:latin typeface="微软雅黑" panose="020B0503020204020204" charset="-122"/>
                <a:ea typeface="微软雅黑" panose="020B0503020204020204" charset="-122"/>
              </a:rPr>
              <a:t>基于超图模型的特征表示提取功能关联</a:t>
            </a:r>
          </a:p>
        </p:txBody>
      </p:sp>
      <p:cxnSp>
        <p:nvCxnSpPr>
          <p:cNvPr id="10" name="直接连接符 9">
            <a:extLst>
              <a:ext uri="{FF2B5EF4-FFF2-40B4-BE49-F238E27FC236}">
                <a16:creationId xmlns:a16="http://schemas.microsoft.com/office/drawing/2014/main" id="{D92CC97F-E6C8-91E6-E154-D0894D5C8274}"/>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76BC3896-BB06-09C9-142D-917D9C856A8D}"/>
              </a:ext>
            </a:extLst>
          </p:cNvPr>
          <p:cNvPicPr>
            <a:picLocks noChangeAspect="1"/>
          </p:cNvPicPr>
          <p:nvPr/>
        </p:nvPicPr>
        <p:blipFill>
          <a:blip r:embed="rId9"/>
          <a:stretch>
            <a:fillRect/>
          </a:stretch>
        </p:blipFill>
        <p:spPr>
          <a:xfrm>
            <a:off x="2034438" y="1097093"/>
            <a:ext cx="5728970" cy="5448300"/>
          </a:xfrm>
          <a:prstGeom prst="rect">
            <a:avLst/>
          </a:prstGeom>
        </p:spPr>
      </p:pic>
    </p:spTree>
    <p:extLst>
      <p:ext uri="{BB962C8B-B14F-4D97-AF65-F5344CB8AC3E}">
        <p14:creationId xmlns:p14="http://schemas.microsoft.com/office/powerpoint/2010/main" val="829107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28382-9E2A-DBAB-49FB-B584C9B2700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A376C44-56F0-3B98-831A-828B1DDE4D2F}"/>
              </a:ext>
            </a:extLst>
          </p:cNvPr>
          <p:cNvSpPr>
            <a:spLocks noGrp="1"/>
          </p:cNvSpPr>
          <p:nvPr>
            <p:ph type="sldNum" sz="quarter" idx="12"/>
          </p:nvPr>
        </p:nvSpPr>
        <p:spPr/>
        <p:txBody>
          <a:bodyPr/>
          <a:lstStyle/>
          <a:p>
            <a:fld id="{3E75C6D3-133E-4A51-8F1C-F484242B8F05}" type="slidenum">
              <a:rPr lang="zh-CN" altLang="en-US" smtClean="0"/>
              <a:t>15</a:t>
            </a:fld>
            <a:endParaRPr lang="zh-CN" altLang="en-US"/>
          </a:p>
        </p:txBody>
      </p:sp>
      <p:sp>
        <p:nvSpPr>
          <p:cNvPr id="11" name="文本框 10">
            <a:hlinkClick r:id="rId2" action="ppaction://hlinksldjump"/>
            <a:extLst>
              <a:ext uri="{FF2B5EF4-FFF2-40B4-BE49-F238E27FC236}">
                <a16:creationId xmlns:a16="http://schemas.microsoft.com/office/drawing/2014/main" id="{C59BA379-750A-7761-9A58-84C944143E94}"/>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12" name="文本框 11">
            <a:extLst>
              <a:ext uri="{FF2B5EF4-FFF2-40B4-BE49-F238E27FC236}">
                <a16:creationId xmlns:a16="http://schemas.microsoft.com/office/drawing/2014/main" id="{F7E605C6-3D18-BC83-43DD-D72C7BD597EE}"/>
              </a:ext>
            </a:extLst>
          </p:cNvPr>
          <p:cNvSpPr txBox="1"/>
          <p:nvPr/>
        </p:nvSpPr>
        <p:spPr>
          <a:xfrm>
            <a:off x="82112" y="3225120"/>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en-US" altLang="zh-CN" dirty="0"/>
              <a:t>***</a:t>
            </a:r>
          </a:p>
        </p:txBody>
      </p:sp>
      <p:sp>
        <p:nvSpPr>
          <p:cNvPr id="13" name="文本框 12">
            <a:hlinkClick r:id="rId2" action="ppaction://hlinksldjump"/>
            <a:extLst>
              <a:ext uri="{FF2B5EF4-FFF2-40B4-BE49-F238E27FC236}">
                <a16:creationId xmlns:a16="http://schemas.microsoft.com/office/drawing/2014/main" id="{C10E5733-9173-023F-B727-23738EE14DDD}"/>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schemeClr val="bg1">
                    <a:lumMod val="65000"/>
                  </a:schemeClr>
                </a:solidFill>
                <a:effectLst/>
                <a:uLnTx/>
                <a:uFillTx/>
                <a:latin typeface="+mn-ea"/>
                <a:cs typeface="+mn-cs"/>
              </a:rPr>
              <a:t>***</a:t>
            </a:r>
          </a:p>
        </p:txBody>
      </p:sp>
      <p:sp>
        <p:nvSpPr>
          <p:cNvPr id="14" name="文本框 13">
            <a:hlinkClick r:id="" action="ppaction://noaction"/>
            <a:extLst>
              <a:ext uri="{FF2B5EF4-FFF2-40B4-BE49-F238E27FC236}">
                <a16:creationId xmlns:a16="http://schemas.microsoft.com/office/drawing/2014/main" id="{5F756BE9-777E-0925-A004-AF761989E094}"/>
              </a:ext>
            </a:extLst>
          </p:cNvPr>
          <p:cNvSpPr txBox="1"/>
          <p:nvPr/>
        </p:nvSpPr>
        <p:spPr>
          <a:xfrm>
            <a:off x="82112" y="5450360"/>
            <a:ext cx="1573322" cy="39878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方法论</a:t>
            </a:r>
          </a:p>
        </p:txBody>
      </p:sp>
      <p:sp>
        <p:nvSpPr>
          <p:cNvPr id="15" name="等腰三角形 14">
            <a:extLst>
              <a:ext uri="{FF2B5EF4-FFF2-40B4-BE49-F238E27FC236}">
                <a16:creationId xmlns:a16="http://schemas.microsoft.com/office/drawing/2014/main" id="{71938E70-AB84-13BB-5857-AFEDC76AF5AD}"/>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D7A2B662-9CBF-C81F-B51A-F7574121ECF5}"/>
              </a:ext>
            </a:extLst>
          </p:cNvPr>
          <p:cNvCxnSpPr/>
          <p:nvPr/>
        </p:nvCxnSpPr>
        <p:spPr>
          <a:xfrm>
            <a:off x="348124" y="585047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00A0162A-7DE3-9CC7-B1CD-5A832BBD4E03}"/>
              </a:ext>
            </a:extLst>
          </p:cNvPr>
          <p:cNvSpPr txBox="1"/>
          <p:nvPr/>
        </p:nvSpPr>
        <p:spPr>
          <a:xfrm>
            <a:off x="1983105" y="213995"/>
            <a:ext cx="6946900" cy="565150"/>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noProof="0" dirty="0">
                <a:ln>
                  <a:noFill/>
                </a:ln>
                <a:effectLst/>
                <a:uLnTx/>
                <a:uFillTx/>
                <a:latin typeface="微软雅黑" panose="020B0503020204020204" charset="-122"/>
                <a:ea typeface="微软雅黑" panose="020B0503020204020204" charset="-122"/>
                <a:sym typeface="+mn-ea"/>
              </a:rPr>
              <a:t>基于超图模型的特征表示提取功能关联</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8E1E21B7-52B9-0571-45FB-A52F5F8ADA0E}"/>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032C6ECB-5D3E-D81C-7FDD-B7485B53E85E}"/>
              </a:ext>
            </a:extLst>
          </p:cNvPr>
          <p:cNvPicPr>
            <a:picLocks noChangeAspect="1"/>
          </p:cNvPicPr>
          <p:nvPr/>
        </p:nvPicPr>
        <p:blipFill>
          <a:blip r:embed="rId3"/>
          <a:stretch>
            <a:fillRect/>
          </a:stretch>
        </p:blipFill>
        <p:spPr>
          <a:xfrm>
            <a:off x="2034438" y="1097093"/>
            <a:ext cx="5728970" cy="5448300"/>
          </a:xfrm>
          <a:prstGeom prst="rect">
            <a:avLst/>
          </a:prstGeom>
        </p:spPr>
      </p:pic>
    </p:spTree>
    <p:extLst>
      <p:ext uri="{BB962C8B-B14F-4D97-AF65-F5344CB8AC3E}">
        <p14:creationId xmlns:p14="http://schemas.microsoft.com/office/powerpoint/2010/main" val="116555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4133-4D57-A54B-3AB2-F520D557C95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6F3B532-8DA1-70C1-7CC1-04E673937CA1}"/>
              </a:ext>
            </a:extLst>
          </p:cNvPr>
          <p:cNvSpPr>
            <a:spLocks noGrp="1"/>
          </p:cNvSpPr>
          <p:nvPr>
            <p:ph type="sldNum" sz="quarter" idx="12"/>
          </p:nvPr>
        </p:nvSpPr>
        <p:spPr/>
        <p:txBody>
          <a:bodyPr/>
          <a:lstStyle/>
          <a:p>
            <a:fld id="{3E75C6D3-133E-4A51-8F1C-F484242B8F05}" type="slidenum">
              <a:rPr lang="zh-CN" altLang="en-US" smtClean="0"/>
              <a:t>16</a:t>
            </a:fld>
            <a:endParaRPr lang="zh-CN" altLang="en-US" dirty="0"/>
          </a:p>
        </p:txBody>
      </p:sp>
      <p:sp>
        <p:nvSpPr>
          <p:cNvPr id="28" name="文本框 27">
            <a:hlinkClick r:id="rId8" action="ppaction://hlinksldjump"/>
            <a:extLst>
              <a:ext uri="{FF2B5EF4-FFF2-40B4-BE49-F238E27FC236}">
                <a16:creationId xmlns:a16="http://schemas.microsoft.com/office/drawing/2014/main" id="{B7731417-821C-8F81-A119-4D4BAF79E76F}"/>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29" name="文本框 28">
            <a:extLst>
              <a:ext uri="{FF2B5EF4-FFF2-40B4-BE49-F238E27FC236}">
                <a16:creationId xmlns:a16="http://schemas.microsoft.com/office/drawing/2014/main" id="{CD730317-A25B-AE4D-883D-A049D73683F5}"/>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FC252A91-5E2A-98FF-E81A-262B3E4EA860}"/>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23DE312D-197F-F2C9-4925-C1D1F8108515}"/>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2DD9A5B3-5901-3DA5-C92E-0309EAC0CBE7}"/>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DEF87DB4-B45F-26A3-5EC0-7D73A3346BAE}"/>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2320CB82-351D-F891-8532-31CAF0C5DA9E}"/>
              </a:ext>
            </a:extLst>
          </p:cNvPr>
          <p:cNvSpPr txBox="1"/>
          <p:nvPr/>
        </p:nvSpPr>
        <p:spPr>
          <a:xfrm>
            <a:off x="1949238" y="362880"/>
            <a:ext cx="6562090" cy="1395062"/>
          </a:xfrm>
          <a:prstGeom prst="rect">
            <a:avLst/>
          </a:prstGeom>
          <a:noFill/>
        </p:spPr>
        <p:txBody>
          <a:bodyPr wrap="square" rtlCol="0">
            <a:spAutoFit/>
          </a:bodyPr>
          <a:lstStyle/>
          <a:p>
            <a:r>
              <a:rPr lang="zh-CN" altLang="zh-CN" sz="2800" b="1" dirty="0">
                <a:latin typeface="+mj-ea"/>
                <a:ea typeface="+mj-ea"/>
              </a:rPr>
              <a:t>基于跨视图相关性损失的公共信息增强</a:t>
            </a:r>
            <a:endParaRPr lang="zh-CN" altLang="en-US" sz="2800" b="1" dirty="0">
              <a:latin typeface="+mj-ea"/>
              <a:ea typeface="+mj-ea"/>
            </a:endParaRPr>
          </a:p>
          <a:p>
            <a:r>
              <a:rPr lang="zh-CN" altLang="en-US" sz="2800" dirty="0"/>
              <a:t> </a:t>
            </a:r>
          </a:p>
          <a:p>
            <a:pPr marL="0" marR="0" lvl="0" indent="0" defTabSz="914400" rtl="0" eaLnBrk="1" fontAlgn="auto" latinLnBrk="0" hangingPunct="1">
              <a:lnSpc>
                <a:spcPct val="110000"/>
              </a:lnSpc>
              <a:spcBef>
                <a:spcPts val="0"/>
              </a:spcBef>
              <a:spcAft>
                <a:spcPts val="0"/>
              </a:spcAft>
              <a:buClrTx/>
              <a:buSzTx/>
              <a:buFontTx/>
              <a:buNone/>
              <a:defRPr/>
            </a:pPr>
            <a:endPar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F1A33421-6C6B-0AC2-3242-9574CF2E5359}"/>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745BBB2-AB6B-E808-268E-7390DAA625A9}"/>
              </a:ext>
            </a:extLst>
          </p:cNvPr>
          <p:cNvSpPr txBox="1"/>
          <p:nvPr/>
        </p:nvSpPr>
        <p:spPr>
          <a:xfrm>
            <a:off x="2034438" y="1198880"/>
            <a:ext cx="4266817" cy="4708981"/>
          </a:xfrm>
          <a:prstGeom prst="rect">
            <a:avLst/>
          </a:prstGeom>
          <a:noFill/>
        </p:spPr>
        <p:txBody>
          <a:bodyPr wrap="square">
            <a:spAutoFit/>
          </a:bodyPr>
          <a:lstStyle/>
          <a:p>
            <a:endParaRPr lang="zh-CN" altLang="en-US" dirty="0"/>
          </a:p>
          <a:p>
            <a:r>
              <a:rPr lang="zh-CN" altLang="zh-CN" sz="2400" b="1" dirty="0">
                <a:latin typeface="+mj-lt"/>
              </a:rPr>
              <a:t>研究背景与动机</a:t>
            </a:r>
            <a:endParaRPr lang="en-US" altLang="zh-CN" sz="2400" b="1" dirty="0">
              <a:latin typeface="+mj-lt"/>
            </a:endParaRPr>
          </a:p>
          <a:p>
            <a:endParaRPr lang="en-US" altLang="zh-CN" sz="2400" b="1" dirty="0">
              <a:latin typeface="+mj-lt"/>
            </a:endParaRPr>
          </a:p>
          <a:p>
            <a:r>
              <a:rPr lang="zh-CN" altLang="zh-CN" b="1" dirty="0"/>
              <a:t>1. 数据互补性 </a:t>
            </a:r>
            <a:endParaRPr lang="en-US" altLang="zh-CN" b="1" dirty="0"/>
          </a:p>
          <a:p>
            <a:r>
              <a:rPr lang="zh-CN" altLang="zh-CN" b="1" dirty="0"/>
              <a:t>PPI网络与超图功能关联数据，可提供不同维度的基因关联信息，二者存在互补价值。部分基因仅在一类数据中存在关联，单一视图易丢失有效信息。 </a:t>
            </a:r>
            <a:endParaRPr lang="en-US" altLang="zh-CN" b="1" dirty="0"/>
          </a:p>
          <a:p>
            <a:r>
              <a:rPr lang="zh-CN" altLang="zh-CN" b="1" dirty="0"/>
              <a:t>2. 现存问题 </a:t>
            </a:r>
            <a:endParaRPr lang="en-US" altLang="zh-CN" b="1" dirty="0"/>
          </a:p>
          <a:p>
            <a:r>
              <a:rPr lang="zh-CN" altLang="zh-CN" b="1" dirty="0"/>
              <a:t>直接拼接多视图特征易引入冗余信息，难以挖掘视图间共享的关键关联模式，基因嵌入质量受限。 </a:t>
            </a:r>
            <a:endParaRPr lang="en-US" altLang="zh-CN" b="1" dirty="0"/>
          </a:p>
          <a:p>
            <a:r>
              <a:rPr lang="zh-CN" altLang="zh-CN" b="1" dirty="0"/>
              <a:t>3. 解决方案 </a:t>
            </a:r>
            <a:endParaRPr lang="en-US" altLang="zh-CN" b="1" dirty="0"/>
          </a:p>
          <a:p>
            <a:r>
              <a:rPr lang="zh-CN" altLang="zh-CN" b="1" dirty="0"/>
              <a:t>引入跨视图相关性损失，挖掘基因嵌入与超图嵌入之间的公共关联信息，增强特征一致性，降低特征冗余。</a:t>
            </a:r>
            <a:endParaRPr lang="zh-CN" altLang="en-US" b="1" dirty="0"/>
          </a:p>
        </p:txBody>
      </p:sp>
      <p:sp>
        <p:nvSpPr>
          <p:cNvPr id="9" name="文本框 8">
            <a:extLst>
              <a:ext uri="{FF2B5EF4-FFF2-40B4-BE49-F238E27FC236}">
                <a16:creationId xmlns:a16="http://schemas.microsoft.com/office/drawing/2014/main" id="{90ED9DD7-4E0E-3E3B-0E14-FC91E9432252}"/>
              </a:ext>
            </a:extLst>
          </p:cNvPr>
          <p:cNvSpPr txBox="1"/>
          <p:nvPr/>
        </p:nvSpPr>
        <p:spPr>
          <a:xfrm>
            <a:off x="6680259" y="1485517"/>
            <a:ext cx="4366397" cy="3877985"/>
          </a:xfrm>
          <a:prstGeom prst="rect">
            <a:avLst/>
          </a:prstGeom>
          <a:noFill/>
        </p:spPr>
        <p:txBody>
          <a:bodyPr wrap="square">
            <a:spAutoFit/>
          </a:bodyPr>
          <a:lstStyle/>
          <a:p>
            <a:r>
              <a:rPr lang="zh-CN" altLang="zh-CN" sz="2400" b="1" i="0" dirty="0">
                <a:solidFill>
                  <a:schemeClr val="tx1">
                    <a:lumMod val="95000"/>
                    <a:lumOff val="5000"/>
                  </a:schemeClr>
                </a:solidFill>
                <a:effectLst/>
              </a:rPr>
              <a:t>核心原理</a:t>
            </a:r>
            <a:endParaRPr lang="en-US" altLang="zh-CN" sz="2400" b="1" i="0" dirty="0">
              <a:solidFill>
                <a:schemeClr val="tx1">
                  <a:lumMod val="95000"/>
                  <a:lumOff val="5000"/>
                </a:schemeClr>
              </a:solidFill>
              <a:effectLst/>
            </a:endParaRPr>
          </a:p>
          <a:p>
            <a:endParaRPr lang="en-US" altLang="zh-CN" sz="2400" b="1" i="0" dirty="0">
              <a:solidFill>
                <a:schemeClr val="tx1">
                  <a:lumMod val="95000"/>
                  <a:lumOff val="5000"/>
                </a:schemeClr>
              </a:solidFill>
              <a:effectLst/>
            </a:endParaRPr>
          </a:p>
          <a:p>
            <a:r>
              <a:rPr lang="zh-CN" altLang="zh-CN" b="0" i="0" dirty="0">
                <a:solidFill>
                  <a:schemeClr val="tx1">
                    <a:lumMod val="95000"/>
                    <a:lumOff val="5000"/>
                  </a:schemeClr>
                </a:solidFill>
                <a:effectLst/>
                <a:latin typeface="Color Emoji"/>
              </a:rPr>
              <a:t> </a:t>
            </a:r>
            <a:r>
              <a:rPr lang="zh-CN" altLang="zh-CN" b="1" i="0" dirty="0">
                <a:solidFill>
                  <a:schemeClr val="tx1">
                    <a:lumMod val="95000"/>
                    <a:lumOff val="5000"/>
                  </a:schemeClr>
                </a:solidFill>
                <a:effectLst/>
              </a:rPr>
              <a:t>DISFusion模型通过约束两种视图的特征表示，强化基因嵌入（Z）与超图嵌入（Z^α）之间的关联一致性，实现公共信息挖掘：</a:t>
            </a:r>
            <a:endParaRPr lang="en-US" altLang="zh-CN" b="1" i="0" dirty="0">
              <a:solidFill>
                <a:schemeClr val="tx1">
                  <a:lumMod val="95000"/>
                  <a:lumOff val="5000"/>
                </a:schemeClr>
              </a:solidFill>
              <a:effectLst/>
            </a:endParaRPr>
          </a:p>
          <a:p>
            <a:endParaRPr lang="en-US" altLang="zh-CN" b="1" dirty="0">
              <a:solidFill>
                <a:schemeClr val="tx1">
                  <a:lumMod val="95000"/>
                  <a:lumOff val="5000"/>
                </a:schemeClr>
              </a:solidFill>
            </a:endParaRPr>
          </a:p>
          <a:p>
            <a:r>
              <a:rPr lang="zh-CN" altLang="zh-CN" b="1" i="0" dirty="0">
                <a:solidFill>
                  <a:schemeClr val="tx1">
                    <a:lumMod val="95000"/>
                    <a:lumOff val="5000"/>
                  </a:schemeClr>
                </a:solidFill>
                <a:effectLst/>
              </a:rPr>
              <a:t>1. 生成跨视图相关性矩阵K，量化两组嵌入特征之间的关联程度； </a:t>
            </a:r>
            <a:endParaRPr lang="en-US" altLang="zh-CN" b="1" i="0" dirty="0">
              <a:solidFill>
                <a:schemeClr val="tx1">
                  <a:lumMod val="95000"/>
                  <a:lumOff val="5000"/>
                </a:schemeClr>
              </a:solidFill>
              <a:effectLst/>
            </a:endParaRPr>
          </a:p>
          <a:p>
            <a:r>
              <a:rPr lang="zh-CN" altLang="zh-CN" b="1" i="0" dirty="0">
                <a:solidFill>
                  <a:schemeClr val="tx1">
                    <a:lumMod val="95000"/>
                    <a:lumOff val="5000"/>
                  </a:schemeClr>
                </a:solidFill>
                <a:effectLst/>
              </a:rPr>
              <a:t>2. 构造损失函数，强制相关性矩阵逼近单位矩阵，保证视图间特征对应关系； </a:t>
            </a:r>
            <a:endParaRPr lang="en-US" altLang="zh-CN" b="1" i="0" dirty="0">
              <a:solidFill>
                <a:schemeClr val="tx1">
                  <a:lumMod val="95000"/>
                  <a:lumOff val="5000"/>
                </a:schemeClr>
              </a:solidFill>
              <a:effectLst/>
            </a:endParaRPr>
          </a:p>
          <a:p>
            <a:r>
              <a:rPr lang="zh-CN" altLang="zh-CN" b="1" i="0" dirty="0">
                <a:solidFill>
                  <a:schemeClr val="tx1">
                    <a:lumMod val="95000"/>
                    <a:lumOff val="5000"/>
                  </a:schemeClr>
                </a:solidFill>
                <a:effectLst/>
              </a:rPr>
              <a:t>3. 引入正则项消除特征冗余，提升特征嵌入的稳定性与表达能力。</a:t>
            </a:r>
            <a:endParaRPr lang="zh-CN" altLang="en-US" b="1" dirty="0">
              <a:solidFill>
                <a:schemeClr val="tx1">
                  <a:lumMod val="95000"/>
                  <a:lumOff val="5000"/>
                </a:schemeClr>
              </a:solidFill>
            </a:endParaRPr>
          </a:p>
        </p:txBody>
      </p:sp>
    </p:spTree>
    <p:extLst>
      <p:ext uri="{BB962C8B-B14F-4D97-AF65-F5344CB8AC3E}">
        <p14:creationId xmlns:p14="http://schemas.microsoft.com/office/powerpoint/2010/main" val="2859992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370B3-7728-3595-F7E9-76E26450EEF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729C8A9-4925-34F6-CDBC-13A92AEBE0F7}"/>
              </a:ext>
            </a:extLst>
          </p:cNvPr>
          <p:cNvSpPr>
            <a:spLocks noGrp="1"/>
          </p:cNvSpPr>
          <p:nvPr>
            <p:ph type="sldNum" sz="quarter" idx="12"/>
          </p:nvPr>
        </p:nvSpPr>
        <p:spPr/>
        <p:txBody>
          <a:bodyPr/>
          <a:lstStyle/>
          <a:p>
            <a:fld id="{3E75C6D3-133E-4A51-8F1C-F484242B8F05}" type="slidenum">
              <a:rPr lang="zh-CN" altLang="en-US" smtClean="0"/>
              <a:t>17</a:t>
            </a:fld>
            <a:endParaRPr lang="zh-CN" altLang="en-US" dirty="0"/>
          </a:p>
        </p:txBody>
      </p:sp>
      <p:sp>
        <p:nvSpPr>
          <p:cNvPr id="28" name="文本框 27">
            <a:hlinkClick r:id="rId8" action="ppaction://hlinksldjump"/>
            <a:extLst>
              <a:ext uri="{FF2B5EF4-FFF2-40B4-BE49-F238E27FC236}">
                <a16:creationId xmlns:a16="http://schemas.microsoft.com/office/drawing/2014/main" id="{C7657FA8-6D76-EF0E-9B77-AFAB5626CDDE}"/>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29" name="文本框 28">
            <a:extLst>
              <a:ext uri="{FF2B5EF4-FFF2-40B4-BE49-F238E27FC236}">
                <a16:creationId xmlns:a16="http://schemas.microsoft.com/office/drawing/2014/main" id="{902D74C3-4DA5-6DD5-2AE3-F4847BC5D55F}"/>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40461EEC-C2F8-DD54-C093-EB5041436304}"/>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54548455-3D17-BB8F-22D6-ED4C61AC6771}"/>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1D275D6B-9389-647A-41BA-064E2B3421EC}"/>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6C9FEE14-097B-BA99-A7CA-D89B19879C2B}"/>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857013B5-B3BD-508D-CC18-110FF26E92EE}"/>
              </a:ext>
            </a:extLst>
          </p:cNvPr>
          <p:cNvSpPr txBox="1"/>
          <p:nvPr/>
        </p:nvSpPr>
        <p:spPr>
          <a:xfrm>
            <a:off x="1949238" y="362880"/>
            <a:ext cx="6562090" cy="1395062"/>
          </a:xfrm>
          <a:prstGeom prst="rect">
            <a:avLst/>
          </a:prstGeom>
          <a:noFill/>
        </p:spPr>
        <p:txBody>
          <a:bodyPr wrap="square" rtlCol="0">
            <a:spAutoFit/>
          </a:bodyPr>
          <a:lstStyle/>
          <a:p>
            <a:r>
              <a:rPr lang="zh-CN" altLang="zh-CN" sz="2800" b="1" dirty="0"/>
              <a:t>关键公式推导</a:t>
            </a:r>
            <a:endParaRPr lang="zh-CN" altLang="en-US" sz="2800" b="1" dirty="0"/>
          </a:p>
          <a:p>
            <a:r>
              <a:rPr lang="zh-CN" altLang="en-US" sz="2800" dirty="0"/>
              <a:t> </a:t>
            </a:r>
          </a:p>
          <a:p>
            <a:pPr marL="0" marR="0" lvl="0" indent="0" defTabSz="914400" rtl="0" eaLnBrk="1" fontAlgn="auto" latinLnBrk="0" hangingPunct="1">
              <a:lnSpc>
                <a:spcPct val="110000"/>
              </a:lnSpc>
              <a:spcBef>
                <a:spcPts val="0"/>
              </a:spcBef>
              <a:spcAft>
                <a:spcPts val="0"/>
              </a:spcAft>
              <a:buClrTx/>
              <a:buSzTx/>
              <a:buFontTx/>
              <a:buNone/>
              <a:defRPr/>
            </a:pPr>
            <a:endPar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F248E88A-DF2D-DA41-07AF-9A490011417C}"/>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95CE6047-DBFA-A65B-7CCA-68E516B23850}"/>
              </a:ext>
            </a:extLst>
          </p:cNvPr>
          <p:cNvPicPr>
            <a:picLocks noChangeAspect="1"/>
          </p:cNvPicPr>
          <p:nvPr/>
        </p:nvPicPr>
        <p:blipFill>
          <a:blip r:embed="rId9"/>
          <a:stretch>
            <a:fillRect/>
          </a:stretch>
        </p:blipFill>
        <p:spPr>
          <a:xfrm>
            <a:off x="2312452" y="1459023"/>
            <a:ext cx="2908449" cy="1339919"/>
          </a:xfrm>
          <a:prstGeom prst="rect">
            <a:avLst/>
          </a:prstGeom>
        </p:spPr>
      </p:pic>
      <p:pic>
        <p:nvPicPr>
          <p:cNvPr id="4" name="图片 3">
            <a:extLst>
              <a:ext uri="{FF2B5EF4-FFF2-40B4-BE49-F238E27FC236}">
                <a16:creationId xmlns:a16="http://schemas.microsoft.com/office/drawing/2014/main" id="{005B7718-7C10-7807-AF75-5DC64CC5E2ED}"/>
              </a:ext>
            </a:extLst>
          </p:cNvPr>
          <p:cNvPicPr>
            <a:picLocks noChangeAspect="1"/>
          </p:cNvPicPr>
          <p:nvPr/>
        </p:nvPicPr>
        <p:blipFill>
          <a:blip r:embed="rId10"/>
          <a:stretch>
            <a:fillRect/>
          </a:stretch>
        </p:blipFill>
        <p:spPr>
          <a:xfrm>
            <a:off x="2312452" y="3429000"/>
            <a:ext cx="3054507" cy="2267067"/>
          </a:xfrm>
          <a:prstGeom prst="rect">
            <a:avLst/>
          </a:prstGeom>
        </p:spPr>
      </p:pic>
      <p:sp>
        <p:nvSpPr>
          <p:cNvPr id="6" name="文本框 5">
            <a:extLst>
              <a:ext uri="{FF2B5EF4-FFF2-40B4-BE49-F238E27FC236}">
                <a16:creationId xmlns:a16="http://schemas.microsoft.com/office/drawing/2014/main" id="{11015DD4-CBC5-314B-F983-797049864DF0}"/>
              </a:ext>
            </a:extLst>
          </p:cNvPr>
          <p:cNvSpPr txBox="1"/>
          <p:nvPr/>
        </p:nvSpPr>
        <p:spPr>
          <a:xfrm>
            <a:off x="5795805" y="1586021"/>
            <a:ext cx="5511846" cy="923330"/>
          </a:xfrm>
          <a:prstGeom prst="rect">
            <a:avLst/>
          </a:prstGeom>
          <a:noFill/>
        </p:spPr>
        <p:txBody>
          <a:bodyPr wrap="square">
            <a:spAutoFit/>
          </a:bodyPr>
          <a:lstStyle/>
          <a:p>
            <a:r>
              <a:rPr lang="en-US" altLang="zh-CN" b="1" dirty="0"/>
              <a:t>       </a:t>
            </a:r>
            <a:r>
              <a:rPr lang="zh-CN" altLang="zh-CN" b="1" dirty="0"/>
              <a:t>公式通过分别计算两组特征内部的特征协方差，再进行几何平均，得到跨视图的关联度量结果，直观反映同一基因在不同视图下特征的匹配程度。</a:t>
            </a:r>
            <a:endParaRPr lang="zh-CN" altLang="en-US" b="1" dirty="0">
              <a:latin typeface="+mj-lt"/>
            </a:endParaRPr>
          </a:p>
        </p:txBody>
      </p:sp>
      <p:sp>
        <p:nvSpPr>
          <p:cNvPr id="7" name="文本框 6">
            <a:extLst>
              <a:ext uri="{FF2B5EF4-FFF2-40B4-BE49-F238E27FC236}">
                <a16:creationId xmlns:a16="http://schemas.microsoft.com/office/drawing/2014/main" id="{314A9F76-425F-0DA1-84E9-B86E70028D1F}"/>
              </a:ext>
            </a:extLst>
          </p:cNvPr>
          <p:cNvSpPr txBox="1"/>
          <p:nvPr/>
        </p:nvSpPr>
        <p:spPr>
          <a:xfrm>
            <a:off x="5893695" y="3131372"/>
            <a:ext cx="6094926" cy="2585323"/>
          </a:xfrm>
          <a:prstGeom prst="rect">
            <a:avLst/>
          </a:prstGeom>
          <a:noFill/>
        </p:spPr>
        <p:txBody>
          <a:bodyPr wrap="square">
            <a:spAutoFit/>
          </a:bodyPr>
          <a:lstStyle/>
          <a:p>
            <a:r>
              <a:rPr lang="zh-CN" altLang="zh-CN" b="1" i="0" dirty="0">
                <a:solidFill>
                  <a:schemeClr val="tx1">
                    <a:lumMod val="95000"/>
                    <a:lumOff val="5000"/>
                  </a:schemeClr>
                </a:solidFill>
                <a:effectLst/>
                <a:latin typeface="Color Emoji"/>
              </a:rPr>
              <a:t>1. 第一项 约束相关性矩阵K尽可能逼近单位矩阵，使不同视图中同一基因的特征表示尽可能对齐，强化跨视图之间的公共关联信息，保证两组嵌入学习到一致的基因关联模式。 ​</a:t>
            </a:r>
            <a:endParaRPr lang="en-US" altLang="zh-CN" b="1" i="0" dirty="0">
              <a:solidFill>
                <a:schemeClr val="tx1">
                  <a:lumMod val="95000"/>
                  <a:lumOff val="5000"/>
                </a:schemeClr>
              </a:solidFill>
              <a:effectLst/>
              <a:latin typeface="Color Emoji"/>
            </a:endParaRPr>
          </a:p>
          <a:p>
            <a:r>
              <a:rPr lang="zh-CN" altLang="zh-CN" b="1" i="0" dirty="0">
                <a:solidFill>
                  <a:schemeClr val="tx1">
                    <a:lumMod val="95000"/>
                    <a:lumOff val="5000"/>
                  </a:schemeClr>
                </a:solidFill>
                <a:effectLst/>
                <a:latin typeface="Color Emoji"/>
              </a:rPr>
              <a:t>2. 第二项 正则化冗余约束项，用于消除两组视图之间的特征冗余，避免特征信息重复叠加，提升基因特征的区分度与表达质量。 ​ </a:t>
            </a:r>
            <a:endParaRPr lang="en-US" altLang="zh-CN" b="1" i="0" dirty="0">
              <a:solidFill>
                <a:schemeClr val="tx1">
                  <a:lumMod val="95000"/>
                  <a:lumOff val="5000"/>
                </a:schemeClr>
              </a:solidFill>
              <a:effectLst/>
              <a:latin typeface="Color Emoji"/>
            </a:endParaRPr>
          </a:p>
          <a:p>
            <a:r>
              <a:rPr lang="zh-CN" altLang="zh-CN" b="1" i="0" dirty="0">
                <a:solidFill>
                  <a:schemeClr val="tx1">
                    <a:lumMod val="95000"/>
                    <a:lumOff val="5000"/>
                  </a:schemeClr>
                </a:solidFill>
                <a:effectLst/>
                <a:latin typeface="Color Emoji"/>
              </a:rPr>
              <a:t>3. 超参数平衡两项约束的权重，可通过调参控制一致性约束与冗余约束的强度，适配不同数据集的特征分布。</a:t>
            </a:r>
            <a:endParaRPr lang="zh-CN" altLang="en-US" b="1" dirty="0">
              <a:solidFill>
                <a:schemeClr val="tx1">
                  <a:lumMod val="95000"/>
                  <a:lumOff val="5000"/>
                </a:schemeClr>
              </a:solidFill>
            </a:endParaRPr>
          </a:p>
        </p:txBody>
      </p:sp>
    </p:spTree>
    <p:extLst>
      <p:ext uri="{BB962C8B-B14F-4D97-AF65-F5344CB8AC3E}">
        <p14:creationId xmlns:p14="http://schemas.microsoft.com/office/powerpoint/2010/main" val="1217302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15211-4844-44C3-60B5-C01CB04BC5E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9BAB0BB-0991-B278-C186-F52DDF837F8A}"/>
              </a:ext>
            </a:extLst>
          </p:cNvPr>
          <p:cNvSpPr>
            <a:spLocks noGrp="1"/>
          </p:cNvSpPr>
          <p:nvPr>
            <p:ph type="sldNum" sz="quarter" idx="12"/>
          </p:nvPr>
        </p:nvSpPr>
        <p:spPr/>
        <p:txBody>
          <a:bodyPr/>
          <a:lstStyle/>
          <a:p>
            <a:fld id="{3E75C6D3-133E-4A51-8F1C-F484242B8F05}" type="slidenum">
              <a:rPr lang="zh-CN" altLang="en-US" smtClean="0"/>
              <a:t>18</a:t>
            </a:fld>
            <a:endParaRPr lang="zh-CN" altLang="en-US" dirty="0"/>
          </a:p>
        </p:txBody>
      </p:sp>
      <p:sp>
        <p:nvSpPr>
          <p:cNvPr id="28" name="文本框 27">
            <a:hlinkClick r:id="rId8" action="ppaction://hlinksldjump"/>
            <a:extLst>
              <a:ext uri="{FF2B5EF4-FFF2-40B4-BE49-F238E27FC236}">
                <a16:creationId xmlns:a16="http://schemas.microsoft.com/office/drawing/2014/main" id="{5B9C270E-D35F-F560-736C-2617E6D68AD3}"/>
              </a:ext>
            </a:extLst>
          </p:cNvPr>
          <p:cNvSpPr txBox="1"/>
          <p:nvPr>
            <p:custDataLst>
              <p:tags r:id="rId1"/>
            </p:custDataLst>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altLang="zh-CN" dirty="0"/>
          </a:p>
        </p:txBody>
      </p:sp>
      <p:sp>
        <p:nvSpPr>
          <p:cNvPr id="29" name="文本框 28">
            <a:extLst>
              <a:ext uri="{FF2B5EF4-FFF2-40B4-BE49-F238E27FC236}">
                <a16:creationId xmlns:a16="http://schemas.microsoft.com/office/drawing/2014/main" id="{305EEE06-1092-4F1A-5BC8-61F62B6F72C5}"/>
              </a:ext>
            </a:extLst>
          </p:cNvPr>
          <p:cNvSpPr txBox="1"/>
          <p:nvPr>
            <p:custDataLst>
              <p:tags r:id="rId2"/>
            </p:custDataLst>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30" name="文本框 29">
            <a:hlinkClick r:id="rId8" action="ppaction://hlinksldjump"/>
            <a:extLst>
              <a:ext uri="{FF2B5EF4-FFF2-40B4-BE49-F238E27FC236}">
                <a16:creationId xmlns:a16="http://schemas.microsoft.com/office/drawing/2014/main" id="{C4506313-0C18-4D77-51DB-2292FAC135EF}"/>
              </a:ext>
            </a:extLst>
          </p:cNvPr>
          <p:cNvSpPr txBox="1"/>
          <p:nvPr>
            <p:custDataLst>
              <p:tags r:id="rId3"/>
            </p:custDataLst>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1"/>
                </a:solidFill>
                <a:effectLst/>
                <a:uLnTx/>
                <a:uFillTx/>
                <a:latin typeface="+mj-ea"/>
                <a:ea typeface="+mj-ea"/>
                <a:cs typeface="+mn-cs"/>
              </a:rPr>
              <a:t>方法论</a:t>
            </a:r>
          </a:p>
        </p:txBody>
      </p:sp>
      <p:sp>
        <p:nvSpPr>
          <p:cNvPr id="31" name="文本框 30">
            <a:hlinkClick r:id="" action="ppaction://noaction"/>
            <a:extLst>
              <a:ext uri="{FF2B5EF4-FFF2-40B4-BE49-F238E27FC236}">
                <a16:creationId xmlns:a16="http://schemas.microsoft.com/office/drawing/2014/main" id="{CDBF3089-E427-8629-83E8-7C2E5BFCE7D2}"/>
              </a:ext>
            </a:extLst>
          </p:cNvPr>
          <p:cNvSpPr txBox="1"/>
          <p:nvPr/>
        </p:nvSpPr>
        <p:spPr>
          <a:xfrm>
            <a:off x="82112" y="5446444"/>
            <a:ext cx="1573322"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实验</a:t>
            </a:r>
            <a:r>
              <a:rPr lang="en-US" altLang="zh-CN" sz="2000" dirty="0">
                <a:solidFill>
                  <a:schemeClr val="bg1">
                    <a:lumMod val="65000"/>
                  </a:schemeClr>
                </a:solidFill>
                <a:latin typeface="+mn-ea"/>
              </a:rPr>
              <a:t>/</a:t>
            </a:r>
            <a:r>
              <a:rPr lang="zh-CN" altLang="en-US" sz="2000" dirty="0">
                <a:solidFill>
                  <a:schemeClr val="bg1">
                    <a:lumMod val="65000"/>
                  </a:schemeClr>
                </a:solidFill>
                <a:latin typeface="+mn-ea"/>
              </a:rPr>
              <a:t>复现</a:t>
            </a:r>
            <a:endParaRPr lang="en-US" altLang="zh-CN" sz="2000" dirty="0">
              <a:solidFill>
                <a:schemeClr val="bg1">
                  <a:lumMod val="65000"/>
                </a:schemeClr>
              </a:solidFill>
              <a:latin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i="0" u="none" strike="noStrike" kern="1200" cap="none" spc="0" normalizeH="0" baseline="0" noProof="0" dirty="0">
                <a:ln>
                  <a:noFill/>
                </a:ln>
                <a:solidFill>
                  <a:schemeClr val="bg1">
                    <a:lumMod val="65000"/>
                  </a:schemeClr>
                </a:solidFill>
                <a:effectLst/>
                <a:uLnTx/>
                <a:uFillTx/>
                <a:latin typeface="+mn-ea"/>
                <a:cs typeface="+mn-cs"/>
              </a:rPr>
              <a:t>结论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32" name="等腰三角形 31">
            <a:extLst>
              <a:ext uri="{FF2B5EF4-FFF2-40B4-BE49-F238E27FC236}">
                <a16:creationId xmlns:a16="http://schemas.microsoft.com/office/drawing/2014/main" id="{4B6132E7-1A9D-0AEE-58EF-9D29C505ABC9}"/>
              </a:ext>
            </a:extLst>
          </p:cNvPr>
          <p:cNvSpPr/>
          <p:nvPr>
            <p:custDataLst>
              <p:tags r:id="rId4"/>
            </p:custDataLst>
          </p:nvPr>
        </p:nvSpPr>
        <p:spPr>
          <a:xfrm rot="16200000">
            <a:off x="1630169" y="4586241"/>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123F0295-9AB8-CE8B-0D25-668B892EAA30}"/>
              </a:ext>
            </a:extLst>
          </p:cNvPr>
          <p:cNvCxnSpPr/>
          <p:nvPr>
            <p:custDataLst>
              <p:tags r:id="rId5"/>
            </p:custDataLst>
          </p:nvPr>
        </p:nvCxnSpPr>
        <p:spPr>
          <a:xfrm>
            <a:off x="337762" y="48458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8B1FF290-63C2-D7AD-EA8C-B77695EDC4BF}"/>
              </a:ext>
            </a:extLst>
          </p:cNvPr>
          <p:cNvSpPr txBox="1"/>
          <p:nvPr/>
        </p:nvSpPr>
        <p:spPr>
          <a:xfrm>
            <a:off x="1949238" y="362880"/>
            <a:ext cx="6562090" cy="1395062"/>
          </a:xfrm>
          <a:prstGeom prst="rect">
            <a:avLst/>
          </a:prstGeom>
          <a:noFill/>
        </p:spPr>
        <p:txBody>
          <a:bodyPr wrap="square" rtlCol="0">
            <a:spAutoFit/>
          </a:bodyPr>
          <a:lstStyle/>
          <a:p>
            <a:r>
              <a:rPr lang="zh-CN" altLang="zh-CN" sz="2800" b="1" dirty="0"/>
              <a:t>模块作用</a:t>
            </a:r>
            <a:r>
              <a:rPr lang="zh-CN" altLang="en-US" sz="2800" b="1" dirty="0"/>
              <a:t>以及与整体的衔接</a:t>
            </a:r>
            <a:endParaRPr lang="en-US" altLang="zh-CN" sz="2800" b="1" dirty="0"/>
          </a:p>
          <a:p>
            <a:r>
              <a:rPr lang="zh-CN" altLang="en-US" sz="2800" dirty="0"/>
              <a:t> </a:t>
            </a:r>
          </a:p>
          <a:p>
            <a:pPr marL="0" marR="0" lvl="0" indent="0" defTabSz="914400" rtl="0" eaLnBrk="1" fontAlgn="auto" latinLnBrk="0" hangingPunct="1">
              <a:lnSpc>
                <a:spcPct val="110000"/>
              </a:lnSpc>
              <a:spcBef>
                <a:spcPts val="0"/>
              </a:spcBef>
              <a:spcAft>
                <a:spcPts val="0"/>
              </a:spcAft>
              <a:buClrTx/>
              <a:buSzTx/>
              <a:buFontTx/>
              <a:buNone/>
              <a:defRPr/>
            </a:pPr>
            <a:endPar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9C58F738-28CF-4F16-A8FB-522F4F244F56}"/>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D7320354-E532-AF53-CBDD-534A434FD1D1}"/>
              </a:ext>
            </a:extLst>
          </p:cNvPr>
          <p:cNvSpPr txBox="1"/>
          <p:nvPr/>
        </p:nvSpPr>
        <p:spPr>
          <a:xfrm>
            <a:off x="2391092" y="1122898"/>
            <a:ext cx="4282225" cy="3785652"/>
          </a:xfrm>
          <a:prstGeom prst="rect">
            <a:avLst/>
          </a:prstGeom>
          <a:noFill/>
        </p:spPr>
        <p:txBody>
          <a:bodyPr wrap="square">
            <a:spAutoFit/>
          </a:bodyPr>
          <a:lstStyle/>
          <a:p>
            <a:r>
              <a:rPr lang="zh-CN" altLang="en-US" dirty="0"/>
              <a:t> </a:t>
            </a:r>
          </a:p>
          <a:p>
            <a:r>
              <a:rPr lang="zh-CN" altLang="en-US" sz="2400" b="1" dirty="0">
                <a:latin typeface="+mj-lt"/>
              </a:rPr>
              <a:t>模块作用</a:t>
            </a:r>
            <a:endParaRPr lang="en-US" altLang="zh-CN" sz="2400" b="1" dirty="0">
              <a:latin typeface="+mj-lt"/>
            </a:endParaRPr>
          </a:p>
          <a:p>
            <a:endParaRPr lang="zh-CN" altLang="en-US" dirty="0"/>
          </a:p>
          <a:p>
            <a:r>
              <a:rPr lang="zh-CN" altLang="zh-CN" b="1" dirty="0"/>
              <a:t>1. 增强跨视图一致性 约束不同视图学习的特征具备统一的关联模式，挖掘基因间共享的生物学关联信息；</a:t>
            </a:r>
            <a:endParaRPr lang="en-US" altLang="zh-CN" b="1" dirty="0"/>
          </a:p>
          <a:p>
            <a:r>
              <a:rPr lang="zh-CN" altLang="zh-CN" b="1" dirty="0"/>
              <a:t> </a:t>
            </a:r>
            <a:endParaRPr lang="en-US" altLang="zh-CN" b="1" dirty="0"/>
          </a:p>
          <a:p>
            <a:r>
              <a:rPr lang="zh-CN" altLang="zh-CN" b="1" dirty="0"/>
              <a:t>2. 降低特征冗余 过滤无效特征，提升模型对关键基因关联的捕捉能力； </a:t>
            </a:r>
            <a:endParaRPr lang="en-US" altLang="zh-CN" b="1" dirty="0"/>
          </a:p>
          <a:p>
            <a:endParaRPr lang="en-US" altLang="zh-CN" b="1" dirty="0"/>
          </a:p>
          <a:p>
            <a:r>
              <a:rPr lang="zh-CN" altLang="zh-CN" b="1" dirty="0"/>
              <a:t>3. 提升嵌入质量 融合多视图互补信息，让基因特征同时适配PPI网络与功能关联场景。 </a:t>
            </a:r>
            <a:endParaRPr lang="zh-CN" altLang="en-US" b="1" dirty="0">
              <a:latin typeface="+mj-lt"/>
              <a:ea typeface="宋体" panose="02010600030101010101" pitchFamily="2" charset="-122"/>
            </a:endParaRPr>
          </a:p>
        </p:txBody>
      </p:sp>
      <p:sp>
        <p:nvSpPr>
          <p:cNvPr id="6" name="文本框 5">
            <a:extLst>
              <a:ext uri="{FF2B5EF4-FFF2-40B4-BE49-F238E27FC236}">
                <a16:creationId xmlns:a16="http://schemas.microsoft.com/office/drawing/2014/main" id="{5C33406E-4E1C-DAD0-541F-5BD83358B7FE}"/>
              </a:ext>
            </a:extLst>
          </p:cNvPr>
          <p:cNvSpPr txBox="1"/>
          <p:nvPr/>
        </p:nvSpPr>
        <p:spPr>
          <a:xfrm>
            <a:off x="7442608" y="1437183"/>
            <a:ext cx="3094265" cy="3508653"/>
          </a:xfrm>
          <a:prstGeom prst="rect">
            <a:avLst/>
          </a:prstGeom>
          <a:noFill/>
        </p:spPr>
        <p:txBody>
          <a:bodyPr wrap="square">
            <a:spAutoFit/>
          </a:bodyPr>
          <a:lstStyle/>
          <a:p>
            <a:r>
              <a:rPr lang="zh-CN" altLang="en-US" sz="2400" b="1" dirty="0">
                <a:latin typeface="+mj-lt"/>
              </a:rPr>
              <a:t>与整体模型的衔接</a:t>
            </a:r>
          </a:p>
          <a:p>
            <a:r>
              <a:rPr lang="zh-CN" altLang="en-US" dirty="0"/>
              <a:t> </a:t>
            </a:r>
          </a:p>
          <a:p>
            <a:r>
              <a:rPr lang="zh-CN" altLang="zh-CN" b="1" dirty="0"/>
              <a:t>1. 输出增强后的基因特征嵌入，送入特征融合层；</a:t>
            </a:r>
            <a:endParaRPr lang="en-US" altLang="zh-CN" b="1" dirty="0"/>
          </a:p>
          <a:p>
            <a:r>
              <a:rPr lang="zh-CN" altLang="zh-CN" b="1" dirty="0"/>
              <a:t> </a:t>
            </a:r>
            <a:endParaRPr lang="en-US" altLang="zh-CN" b="1" dirty="0"/>
          </a:p>
          <a:p>
            <a:r>
              <a:rPr lang="zh-CN" altLang="zh-CN" b="1" dirty="0"/>
              <a:t>2. 拼接图特征与超图特征，通过全连接层与Softmax函数，输出癌症风险预测得分；</a:t>
            </a:r>
            <a:endParaRPr lang="en-US" altLang="zh-CN" b="1" dirty="0"/>
          </a:p>
          <a:p>
            <a:endParaRPr lang="en-US" altLang="zh-CN" b="1" dirty="0"/>
          </a:p>
          <a:p>
            <a:r>
              <a:rPr lang="zh-CN" altLang="zh-CN" b="1" dirty="0"/>
              <a:t>3. 联合癌症分类损失、跨视图损失共同优化，完成模型训练。</a:t>
            </a:r>
            <a:endParaRPr lang="en-US" altLang="zh-CN" b="1" dirty="0">
              <a:latin typeface="+mj-lt"/>
            </a:endParaRPr>
          </a:p>
        </p:txBody>
      </p:sp>
    </p:spTree>
    <p:extLst>
      <p:ext uri="{BB962C8B-B14F-4D97-AF65-F5344CB8AC3E}">
        <p14:creationId xmlns:p14="http://schemas.microsoft.com/office/powerpoint/2010/main" val="1134256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文本框 140"/>
          <p:cNvSpPr txBox="1"/>
          <p:nvPr/>
        </p:nvSpPr>
        <p:spPr>
          <a:xfrm>
            <a:off x="521921" y="139700"/>
            <a:ext cx="1858201" cy="1569660"/>
          </a:xfrm>
          <a:prstGeom prst="rect">
            <a:avLst/>
          </a:prstGeom>
          <a:noFill/>
        </p:spPr>
        <p:txBody>
          <a:bodyPr wrap="none" rtlCol="0">
            <a:spAutoFit/>
          </a:bodyPr>
          <a:lstStyle/>
          <a:p>
            <a:pPr algn="ctr"/>
            <a:r>
              <a:rPr lang="en-US" altLang="zh-CN" sz="9600" b="1" spc="600" dirty="0">
                <a:solidFill>
                  <a:schemeClr val="bg1"/>
                </a:solidFill>
                <a:latin typeface="+mj-ea"/>
                <a:ea typeface="+mj-ea"/>
              </a:rPr>
              <a:t>04</a:t>
            </a:r>
            <a:endParaRPr lang="zh-CN" altLang="en-US" sz="9600" b="1" spc="600" dirty="0">
              <a:solidFill>
                <a:schemeClr val="bg1"/>
              </a:solidFill>
              <a:latin typeface="+mj-ea"/>
              <a:ea typeface="+mj-ea"/>
            </a:endParaRPr>
          </a:p>
        </p:txBody>
      </p:sp>
      <p:sp>
        <p:nvSpPr>
          <p:cNvPr id="172" name="文本框 171"/>
          <p:cNvSpPr txBox="1"/>
          <p:nvPr/>
        </p:nvSpPr>
        <p:spPr>
          <a:xfrm>
            <a:off x="3879909" y="3365589"/>
            <a:ext cx="4575493" cy="14465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00000"/>
                </a:solidFill>
                <a:latin typeface="+mj-ea"/>
                <a:ea typeface="+mj-ea"/>
              </a:rPr>
              <a:t>实验</a:t>
            </a:r>
            <a:r>
              <a:rPr lang="en-US" altLang="zh-CN" sz="4400" b="1" dirty="0">
                <a:solidFill>
                  <a:srgbClr val="000000"/>
                </a:solidFill>
                <a:latin typeface="+mj-ea"/>
                <a:ea typeface="+mj-ea"/>
              </a:rPr>
              <a:t>/</a:t>
            </a:r>
            <a:r>
              <a:rPr lang="zh-CN" altLang="en-US" sz="4400" b="1" dirty="0">
                <a:solidFill>
                  <a:srgbClr val="000000"/>
                </a:solidFill>
                <a:latin typeface="+mj-ea"/>
                <a:ea typeface="+mj-ea"/>
              </a:rPr>
              <a:t>复现</a:t>
            </a:r>
            <a:endParaRPr lang="en-US" altLang="zh-CN" sz="4400" b="1" dirty="0">
              <a:solidFill>
                <a:srgbClr val="000000"/>
              </a:solidFill>
              <a:latin typeface="+mj-ea"/>
              <a:ea typeface="+mj-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4400" b="1" dirty="0">
                <a:solidFill>
                  <a:srgbClr val="000000"/>
                </a:solidFill>
                <a:latin typeface="+mj-ea"/>
                <a:ea typeface="+mj-ea"/>
              </a:rPr>
              <a:t>结论</a:t>
            </a:r>
            <a:endParaRPr kumimoji="0" lang="zh-CN" altLang="en-US" sz="4400" b="1" i="0" u="none" strike="noStrike" kern="1200" cap="none" spc="0" normalizeH="0" baseline="0" noProof="0" dirty="0">
              <a:ln>
                <a:noFill/>
              </a:ln>
              <a:solidFill>
                <a:srgbClr val="000000"/>
              </a:solidFill>
              <a:effectLst/>
              <a:uLnTx/>
              <a:uFillTx/>
              <a:latin typeface="+mj-ea"/>
              <a:ea typeface="+mj-ea"/>
              <a:cs typeface="+mn-cs"/>
            </a:endParaRPr>
          </a:p>
        </p:txBody>
      </p:sp>
      <p:sp>
        <p:nvSpPr>
          <p:cNvPr id="3" name="文本框 2"/>
          <p:cNvSpPr txBox="1"/>
          <p:nvPr/>
        </p:nvSpPr>
        <p:spPr>
          <a:xfrm>
            <a:off x="477197" y="1496200"/>
            <a:ext cx="1947649" cy="338554"/>
          </a:xfrm>
          <a:prstGeom prst="rect">
            <a:avLst/>
          </a:prstGeom>
          <a:noFill/>
        </p:spPr>
        <p:txBody>
          <a:bodyPr wrap="none" rtlCol="0">
            <a:spAutoFit/>
          </a:bodyPr>
          <a:lstStyle/>
          <a:p>
            <a:pPr algn="ctr"/>
            <a:r>
              <a:rPr lang="en-US" altLang="zh-CN" sz="1600" spc="600" dirty="0">
                <a:solidFill>
                  <a:schemeClr val="bg1"/>
                </a:solidFill>
                <a:latin typeface="+mn-ea"/>
              </a:rPr>
              <a:t>PART FOUR</a:t>
            </a:r>
            <a:endParaRPr lang="zh-CN" altLang="en-US" sz="1600" spc="600" dirty="0">
              <a:solidFill>
                <a:schemeClr val="bg1"/>
              </a:solidFill>
              <a:latin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3E75C6D3-133E-4A51-8F1C-F484242B8F05}" type="slidenum">
              <a:rPr lang="zh-CN" altLang="en-US" smtClean="0"/>
              <a:t>20</a:t>
            </a:fld>
            <a:endParaRPr lang="zh-CN" altLang="en-US"/>
          </a:p>
        </p:txBody>
      </p:sp>
      <p:sp>
        <p:nvSpPr>
          <p:cNvPr id="11" name="文本框 10">
            <a:hlinkClick r:id="rId2" action="ppaction://hlinksldjump"/>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p:cNvPr>
          <p:cNvSpPr txBox="1"/>
          <p:nvPr/>
        </p:nvSpPr>
        <p:spPr>
          <a:xfrm>
            <a:off x="82111" y="5350118"/>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360450" y="6060149"/>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数据来源与基准</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496E86B6-6E57-3BBC-2542-852CE8E0E0B9}"/>
              </a:ext>
            </a:extLst>
          </p:cNvPr>
          <p:cNvSpPr txBox="1"/>
          <p:nvPr/>
        </p:nvSpPr>
        <p:spPr>
          <a:xfrm>
            <a:off x="2014220" y="1198880"/>
            <a:ext cx="9850120" cy="3416320"/>
          </a:xfrm>
          <a:prstGeom prst="rect">
            <a:avLst/>
          </a:prstGeom>
          <a:noFill/>
        </p:spPr>
        <p:txBody>
          <a:bodyPr wrap="square" rtlCol="0">
            <a:spAutoFit/>
          </a:bodyPr>
          <a:lstStyle/>
          <a:p>
            <a:r>
              <a:rPr lang="zh-CN" altLang="en-US" b="1" dirty="0">
                <a:latin typeface="+mj-ea"/>
                <a:ea typeface="+mj-ea"/>
              </a:rPr>
              <a:t>数据来源：</a:t>
            </a:r>
            <a:endParaRPr lang="en-US" altLang="zh-CN" b="1" dirty="0">
              <a:latin typeface="+mj-ea"/>
              <a:ea typeface="+mj-ea"/>
            </a:endParaRPr>
          </a:p>
          <a:p>
            <a:r>
              <a:rPr lang="en-US" altLang="zh-CN" dirty="0"/>
              <a:t>PPI</a:t>
            </a:r>
            <a:r>
              <a:rPr lang="zh-CN" altLang="en-US" dirty="0"/>
              <a:t>：</a:t>
            </a:r>
            <a:r>
              <a:rPr lang="en-US" altLang="zh-CN" dirty="0" err="1"/>
              <a:t>ConsensusPathDB</a:t>
            </a:r>
            <a:r>
              <a:rPr lang="zh-CN" altLang="en-US" dirty="0"/>
              <a:t>（</a:t>
            </a:r>
            <a:r>
              <a:rPr lang="en-US" altLang="zh-CN" dirty="0"/>
              <a:t>13,627</a:t>
            </a:r>
            <a:r>
              <a:rPr lang="zh-CN" altLang="en-US" dirty="0"/>
              <a:t>个基因</a:t>
            </a:r>
            <a:r>
              <a:rPr lang="en-US" altLang="zh-CN" dirty="0"/>
              <a:t>504,378</a:t>
            </a:r>
            <a:r>
              <a:rPr lang="zh-CN" altLang="en-US" dirty="0"/>
              <a:t>条互作）</a:t>
            </a:r>
          </a:p>
          <a:p>
            <a:r>
              <a:rPr lang="zh-CN" altLang="en-US" dirty="0"/>
              <a:t>多组学特征：</a:t>
            </a:r>
            <a:r>
              <a:rPr lang="en-US" altLang="zh-CN" dirty="0"/>
              <a:t>TCGA</a:t>
            </a:r>
            <a:r>
              <a:rPr lang="zh-CN" altLang="en-US" dirty="0"/>
              <a:t>（</a:t>
            </a:r>
            <a:r>
              <a:rPr lang="en-US" altLang="zh-CN" dirty="0"/>
              <a:t>16</a:t>
            </a:r>
            <a:r>
              <a:rPr lang="zh-CN" altLang="en-US" dirty="0"/>
              <a:t>种癌症，</a:t>
            </a:r>
            <a:r>
              <a:rPr lang="en-US" altLang="zh-CN" dirty="0"/>
              <a:t>8,000</a:t>
            </a:r>
            <a:r>
              <a:rPr lang="zh-CN" altLang="en-US" dirty="0"/>
              <a:t>个样本）</a:t>
            </a:r>
          </a:p>
          <a:p>
            <a:r>
              <a:rPr lang="zh-CN" altLang="en-US" dirty="0"/>
              <a:t>功能注释集：</a:t>
            </a:r>
            <a:r>
              <a:rPr lang="en-US" altLang="zh-CN" dirty="0" err="1"/>
              <a:t>MSigDB</a:t>
            </a:r>
            <a:r>
              <a:rPr lang="en-US" altLang="zh-CN" dirty="0"/>
              <a:t>(C2+C5)</a:t>
            </a:r>
            <a:r>
              <a:rPr lang="zh-CN" altLang="en-US" dirty="0"/>
              <a:t>（</a:t>
            </a:r>
            <a:r>
              <a:rPr lang="en-US" altLang="zh-CN" dirty="0"/>
              <a:t>20,647</a:t>
            </a:r>
            <a:r>
              <a:rPr lang="zh-CN" altLang="en-US" dirty="0"/>
              <a:t>个注释基因集）</a:t>
            </a:r>
            <a:endParaRPr lang="en-US" altLang="zh-CN" dirty="0"/>
          </a:p>
          <a:p>
            <a:endParaRPr lang="zh-CN" altLang="en-US" dirty="0"/>
          </a:p>
          <a:p>
            <a:r>
              <a:rPr lang="zh-CN" altLang="en-US" b="1" dirty="0">
                <a:latin typeface="+mj-ea"/>
                <a:ea typeface="+mj-ea"/>
              </a:rPr>
              <a:t>样本：</a:t>
            </a:r>
            <a:r>
              <a:rPr lang="en-US" altLang="zh-CN" b="1" dirty="0">
                <a:latin typeface="+mj-ea"/>
                <a:ea typeface="+mj-ea"/>
              </a:rPr>
              <a:t> </a:t>
            </a:r>
            <a:r>
              <a:rPr lang="en-US" altLang="zh-CN" dirty="0"/>
              <a:t>796</a:t>
            </a:r>
            <a:r>
              <a:rPr lang="zh-CN" altLang="en-US" dirty="0"/>
              <a:t>个癌症基因</a:t>
            </a:r>
            <a:r>
              <a:rPr lang="en-US" altLang="zh-CN" dirty="0"/>
              <a:t>(</a:t>
            </a:r>
            <a:r>
              <a:rPr lang="zh-CN" altLang="en-US" dirty="0"/>
              <a:t>正样本</a:t>
            </a:r>
            <a:r>
              <a:rPr lang="en-US" altLang="zh-CN" dirty="0"/>
              <a:t>)</a:t>
            </a:r>
            <a:r>
              <a:rPr lang="zh-CN" altLang="en-US" dirty="0"/>
              <a:t> </a:t>
            </a:r>
            <a:r>
              <a:rPr lang="en-US" altLang="zh-CN" dirty="0"/>
              <a:t>+ 2,187</a:t>
            </a:r>
            <a:r>
              <a:rPr lang="zh-CN" altLang="en-US" dirty="0"/>
              <a:t>个非癌症基因</a:t>
            </a:r>
            <a:r>
              <a:rPr lang="en-US" altLang="zh-CN" dirty="0"/>
              <a:t>(</a:t>
            </a:r>
            <a:r>
              <a:rPr lang="zh-CN" altLang="en-US" dirty="0"/>
              <a:t>负样本</a:t>
            </a:r>
            <a:r>
              <a:rPr lang="en-US" altLang="zh-CN" dirty="0"/>
              <a:t>)</a:t>
            </a:r>
          </a:p>
          <a:p>
            <a:endParaRPr lang="en-US" altLang="zh-CN" dirty="0"/>
          </a:p>
          <a:p>
            <a:r>
              <a:rPr lang="zh-CN" altLang="en-US" b="1" dirty="0">
                <a:latin typeface="+mj-ea"/>
                <a:ea typeface="+mj-ea"/>
              </a:rPr>
              <a:t>对比方法：</a:t>
            </a:r>
            <a:endParaRPr lang="en-US" altLang="zh-CN" b="1" dirty="0">
              <a:latin typeface="+mj-ea"/>
              <a:ea typeface="+mj-ea"/>
            </a:endParaRPr>
          </a:p>
          <a:p>
            <a:r>
              <a:rPr lang="zh-CN" altLang="en-US" dirty="0"/>
              <a:t>手工特征型：</a:t>
            </a:r>
            <a:r>
              <a:rPr lang="en-US" altLang="zh-CN" dirty="0"/>
              <a:t>20/20+</a:t>
            </a:r>
            <a:r>
              <a:rPr lang="zh-CN" altLang="en-US" dirty="0"/>
              <a:t>、</a:t>
            </a:r>
            <a:r>
              <a:rPr lang="en-US" altLang="zh-CN" dirty="0"/>
              <a:t>DORGE</a:t>
            </a:r>
          </a:p>
          <a:p>
            <a:r>
              <a:rPr lang="zh-CN" altLang="en-US" dirty="0"/>
              <a:t>生物网络型：</a:t>
            </a:r>
            <a:r>
              <a:rPr lang="en-US" altLang="zh-CN" dirty="0"/>
              <a:t>EMOGI</a:t>
            </a:r>
            <a:r>
              <a:rPr lang="zh-CN" altLang="en-US" dirty="0"/>
              <a:t>、</a:t>
            </a:r>
            <a:r>
              <a:rPr lang="en-US" altLang="zh-CN" dirty="0"/>
              <a:t>MTGCN</a:t>
            </a:r>
            <a:r>
              <a:rPr lang="zh-CN" altLang="en-US" dirty="0"/>
              <a:t>、</a:t>
            </a:r>
            <a:r>
              <a:rPr lang="en-US" altLang="zh-CN" dirty="0"/>
              <a:t>MODIG</a:t>
            </a:r>
          </a:p>
          <a:p>
            <a:r>
              <a:rPr lang="zh-CN" altLang="en-US" dirty="0"/>
              <a:t>功能关联型：</a:t>
            </a:r>
            <a:r>
              <a:rPr lang="en-US" altLang="zh-CN" dirty="0" err="1"/>
              <a:t>DISHyper</a:t>
            </a:r>
            <a:endParaRPr lang="en-US" altLang="zh-CN" dirty="0"/>
          </a:p>
          <a:p>
            <a:endParaRPr lang="en-US" altLang="zh-C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814D1-851A-C69B-0999-6D836CCE82B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474BE5A-FED0-4BAF-1A75-34D9291C8F03}"/>
              </a:ext>
            </a:extLst>
          </p:cNvPr>
          <p:cNvSpPr>
            <a:spLocks noGrp="1"/>
          </p:cNvSpPr>
          <p:nvPr>
            <p:ph type="sldNum" sz="quarter" idx="12"/>
          </p:nvPr>
        </p:nvSpPr>
        <p:spPr/>
        <p:txBody>
          <a:bodyPr/>
          <a:lstStyle/>
          <a:p>
            <a:fld id="{3E75C6D3-133E-4A51-8F1C-F484242B8F05}" type="slidenum">
              <a:rPr lang="zh-CN" altLang="en-US" smtClean="0"/>
              <a:t>21</a:t>
            </a:fld>
            <a:endParaRPr lang="zh-CN" altLang="en-US"/>
          </a:p>
        </p:txBody>
      </p:sp>
      <p:sp>
        <p:nvSpPr>
          <p:cNvPr id="11" name="文本框 10">
            <a:hlinkClick r:id="rId2" action="ppaction://hlinksldjump"/>
            <a:extLst>
              <a:ext uri="{FF2B5EF4-FFF2-40B4-BE49-F238E27FC236}">
                <a16:creationId xmlns:a16="http://schemas.microsoft.com/office/drawing/2014/main" id="{9122EF04-1820-3F4B-70C4-3DC52AF49E29}"/>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79B2158C-EC40-5A13-198C-16B9513F40AF}"/>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CAB41721-AE74-0E32-0267-E3A6556C8B0B}"/>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798527C2-8558-6EB0-1A6B-87F23311C13E}"/>
              </a:ext>
            </a:extLst>
          </p:cNvPr>
          <p:cNvSpPr txBox="1"/>
          <p:nvPr/>
        </p:nvSpPr>
        <p:spPr>
          <a:xfrm>
            <a:off x="82112" y="5412392"/>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23D2D939-524F-9A38-2813-9FD5B4ECD05F}"/>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21A4BE51-22AF-226C-9275-6B1D74ED26DA}"/>
              </a:ext>
            </a:extLst>
          </p:cNvPr>
          <p:cNvCxnSpPr/>
          <p:nvPr/>
        </p:nvCxnSpPr>
        <p:spPr>
          <a:xfrm>
            <a:off x="418958" y="6142389"/>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F2F1D592-17E7-C434-9E15-362429F1DC23}"/>
              </a:ext>
            </a:extLst>
          </p:cNvPr>
          <p:cNvSpPr txBox="1"/>
          <p:nvPr/>
        </p:nvSpPr>
        <p:spPr>
          <a:xfrm>
            <a:off x="1982961" y="213716"/>
            <a:ext cx="5699287" cy="535531"/>
          </a:xfrm>
          <a:prstGeom prst="rect">
            <a:avLst/>
          </a:prstGeom>
          <a:noFill/>
        </p:spPr>
        <p:txBody>
          <a:bodyPr wrap="square" rtlCol="0">
            <a:spAutoFit/>
          </a:bodyPr>
          <a:lstStyle/>
          <a:p>
            <a:pPr lvl="0">
              <a:lnSpc>
                <a:spcPct val="110000"/>
              </a:lnSpc>
              <a:defRPr/>
            </a:pPr>
            <a:r>
              <a:rPr lang="zh-CN" altLang="en-US" sz="2800" b="1" dirty="0">
                <a:latin typeface="+mj-ea"/>
                <a:ea typeface="+mj-ea"/>
              </a:rPr>
              <a:t>泛癌症基因识别任务的性能表现</a:t>
            </a:r>
          </a:p>
        </p:txBody>
      </p:sp>
      <p:cxnSp>
        <p:nvCxnSpPr>
          <p:cNvPr id="10" name="直接连接符 9">
            <a:extLst>
              <a:ext uri="{FF2B5EF4-FFF2-40B4-BE49-F238E27FC236}">
                <a16:creationId xmlns:a16="http://schemas.microsoft.com/office/drawing/2014/main" id="{0B1F9F01-495D-9ABE-3F48-C7A019121535}"/>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B647EDE5-D0E8-B948-A871-B9AAED5DC9F6}"/>
              </a:ext>
            </a:extLst>
          </p:cNvPr>
          <p:cNvSpPr txBox="1"/>
          <p:nvPr/>
        </p:nvSpPr>
        <p:spPr>
          <a:xfrm>
            <a:off x="2014220" y="1198880"/>
            <a:ext cx="4946650" cy="2308324"/>
          </a:xfrm>
          <a:prstGeom prst="rect">
            <a:avLst/>
          </a:prstGeom>
          <a:noFill/>
        </p:spPr>
        <p:txBody>
          <a:bodyPr wrap="square" rtlCol="0">
            <a:spAutoFit/>
          </a:bodyPr>
          <a:lstStyle/>
          <a:p>
            <a:r>
              <a:rPr lang="zh-CN" altLang="en-US" b="1" dirty="0">
                <a:latin typeface="+mj-ea"/>
                <a:ea typeface="+mj-ea"/>
              </a:rPr>
              <a:t>评估指标</a:t>
            </a:r>
            <a:r>
              <a:rPr lang="zh-CN" altLang="en-US" dirty="0"/>
              <a:t>：</a:t>
            </a:r>
            <a:r>
              <a:rPr lang="en-US" altLang="zh-CN" dirty="0"/>
              <a:t>AUROC</a:t>
            </a:r>
            <a:r>
              <a:rPr lang="zh-CN" altLang="en-US" dirty="0"/>
              <a:t>、</a:t>
            </a:r>
            <a:r>
              <a:rPr lang="en-US" altLang="zh-CN" dirty="0"/>
              <a:t>AUPRC</a:t>
            </a:r>
          </a:p>
          <a:p>
            <a:r>
              <a:rPr lang="en-US" altLang="zh-CN" b="1" dirty="0" err="1">
                <a:solidFill>
                  <a:schemeClr val="accent1"/>
                </a:solidFill>
              </a:rPr>
              <a:t>DISFusion</a:t>
            </a:r>
            <a:r>
              <a:rPr lang="en-US" altLang="zh-CN" b="1" dirty="0">
                <a:solidFill>
                  <a:schemeClr val="accent1"/>
                </a:solidFill>
              </a:rPr>
              <a:t> </a:t>
            </a:r>
            <a:r>
              <a:rPr lang="zh-CN" altLang="en-US" b="1" dirty="0">
                <a:solidFill>
                  <a:schemeClr val="accent1"/>
                </a:solidFill>
              </a:rPr>
              <a:t>在所有对比方法中均显著最优</a:t>
            </a:r>
          </a:p>
          <a:p>
            <a:r>
              <a:rPr lang="zh-CN" altLang="en-US" dirty="0"/>
              <a:t>相比：</a:t>
            </a:r>
          </a:p>
          <a:p>
            <a:pPr lvl="1"/>
            <a:r>
              <a:rPr lang="en-US" altLang="zh-CN" dirty="0" err="1"/>
              <a:t>DISHyper</a:t>
            </a:r>
            <a:r>
              <a:rPr lang="zh-CN" altLang="en-US" dirty="0"/>
              <a:t>：</a:t>
            </a:r>
            <a:r>
              <a:rPr lang="en-US" altLang="zh-CN" dirty="0"/>
              <a:t>+1.8%</a:t>
            </a:r>
            <a:r>
              <a:rPr lang="zh-CN" altLang="en-US" dirty="0"/>
              <a:t>（</a:t>
            </a:r>
            <a:r>
              <a:rPr lang="en-US" altLang="zh-CN" dirty="0"/>
              <a:t>AUROC</a:t>
            </a:r>
            <a:r>
              <a:rPr lang="zh-CN" altLang="en-US" dirty="0"/>
              <a:t>），</a:t>
            </a:r>
            <a:r>
              <a:rPr lang="en-US" altLang="zh-CN" dirty="0"/>
              <a:t>+2.7%</a:t>
            </a:r>
            <a:r>
              <a:rPr lang="zh-CN" altLang="en-US" dirty="0"/>
              <a:t>（</a:t>
            </a:r>
            <a:r>
              <a:rPr lang="en-US" altLang="zh-CN" dirty="0"/>
              <a:t>AUPRC</a:t>
            </a:r>
            <a:r>
              <a:rPr lang="zh-CN" altLang="en-US" dirty="0"/>
              <a:t>）</a:t>
            </a:r>
          </a:p>
          <a:p>
            <a:pPr lvl="1"/>
            <a:r>
              <a:rPr lang="en-US" altLang="zh-CN" dirty="0"/>
              <a:t>MODIG</a:t>
            </a:r>
            <a:r>
              <a:rPr lang="zh-CN" altLang="en-US" dirty="0"/>
              <a:t>：</a:t>
            </a:r>
            <a:r>
              <a:rPr lang="en-US" altLang="zh-CN" dirty="0"/>
              <a:t>+4.5%</a:t>
            </a:r>
            <a:r>
              <a:rPr lang="zh-CN" altLang="en-US" dirty="0"/>
              <a:t>（</a:t>
            </a:r>
            <a:r>
              <a:rPr lang="en-US" altLang="zh-CN" dirty="0"/>
              <a:t>AUROC</a:t>
            </a:r>
            <a:r>
              <a:rPr lang="zh-CN" altLang="en-US" dirty="0"/>
              <a:t>），</a:t>
            </a:r>
            <a:r>
              <a:rPr lang="en-US" altLang="zh-CN" dirty="0"/>
              <a:t>+7.8%</a:t>
            </a:r>
            <a:r>
              <a:rPr lang="zh-CN" altLang="en-US" dirty="0"/>
              <a:t>（</a:t>
            </a:r>
            <a:r>
              <a:rPr lang="en-US" altLang="zh-CN" dirty="0"/>
              <a:t>AUPRC</a:t>
            </a:r>
            <a:r>
              <a:rPr lang="zh-CN" altLang="en-US" dirty="0"/>
              <a:t>）</a:t>
            </a:r>
            <a:endParaRPr lang="en-US" altLang="zh-CN" dirty="0"/>
          </a:p>
          <a:p>
            <a:pPr lvl="1"/>
            <a:endParaRPr lang="en-US" altLang="zh-CN" dirty="0"/>
          </a:p>
        </p:txBody>
      </p:sp>
      <p:sp>
        <p:nvSpPr>
          <p:cNvPr id="6" name="文本框 5">
            <a:extLst>
              <a:ext uri="{FF2B5EF4-FFF2-40B4-BE49-F238E27FC236}">
                <a16:creationId xmlns:a16="http://schemas.microsoft.com/office/drawing/2014/main" id="{AE01B6D4-5131-7121-99CF-5A3CFA8034B5}"/>
              </a:ext>
            </a:extLst>
          </p:cNvPr>
          <p:cNvSpPr txBox="1"/>
          <p:nvPr/>
        </p:nvSpPr>
        <p:spPr>
          <a:xfrm>
            <a:off x="6602222" y="1180706"/>
            <a:ext cx="4946650" cy="1754326"/>
          </a:xfrm>
          <a:prstGeom prst="rect">
            <a:avLst/>
          </a:prstGeom>
          <a:noFill/>
        </p:spPr>
        <p:txBody>
          <a:bodyPr wrap="square" rtlCol="0">
            <a:spAutoFit/>
          </a:bodyPr>
          <a:lstStyle/>
          <a:p>
            <a:r>
              <a:rPr lang="zh-CN" altLang="en-US" b="1" dirty="0">
                <a:latin typeface="+mj-ea"/>
                <a:ea typeface="+mj-ea"/>
              </a:rPr>
              <a:t>独立测试集与泛化能力：</a:t>
            </a:r>
            <a:endParaRPr lang="en-US" altLang="zh-CN" b="1" dirty="0">
              <a:latin typeface="+mj-ea"/>
              <a:ea typeface="+mj-ea"/>
            </a:endParaRPr>
          </a:p>
          <a:p>
            <a:r>
              <a:rPr lang="zh-CN" altLang="en-US" dirty="0"/>
              <a:t>使用 </a:t>
            </a:r>
            <a:r>
              <a:rPr lang="en-US" altLang="zh-CN" dirty="0" err="1"/>
              <a:t>OncoKB</a:t>
            </a:r>
            <a:r>
              <a:rPr lang="en-US" altLang="zh-CN" dirty="0"/>
              <a:t> </a:t>
            </a:r>
            <a:r>
              <a:rPr lang="zh-CN" altLang="en-US" dirty="0"/>
              <a:t>和 </a:t>
            </a:r>
            <a:r>
              <a:rPr lang="en-US" altLang="zh-CN" dirty="0" err="1"/>
              <a:t>ONGene</a:t>
            </a:r>
            <a:r>
              <a:rPr lang="en-US" altLang="zh-CN" dirty="0"/>
              <a:t> </a:t>
            </a:r>
            <a:r>
              <a:rPr lang="zh-CN" altLang="en-US" dirty="0"/>
              <a:t>作为独立测试集</a:t>
            </a:r>
          </a:p>
          <a:p>
            <a:r>
              <a:rPr lang="en-US" altLang="zh-CN" dirty="0" err="1"/>
              <a:t>DISFusion</a:t>
            </a:r>
            <a:r>
              <a:rPr lang="en-US" altLang="zh-CN" dirty="0"/>
              <a:t> </a:t>
            </a:r>
            <a:r>
              <a:rPr lang="zh-CN" altLang="en-US" dirty="0"/>
              <a:t>在</a:t>
            </a:r>
            <a:r>
              <a:rPr lang="en-US" altLang="zh-CN" dirty="0"/>
              <a:t>AUPRC</a:t>
            </a:r>
            <a:r>
              <a:rPr lang="zh-CN" altLang="en-US" dirty="0"/>
              <a:t>上相对</a:t>
            </a:r>
            <a:r>
              <a:rPr lang="en-US" altLang="zh-CN" dirty="0" err="1"/>
              <a:t>DISHyper</a:t>
            </a:r>
            <a:r>
              <a:rPr lang="zh-CN" altLang="en-US" dirty="0"/>
              <a:t>：</a:t>
            </a:r>
          </a:p>
          <a:p>
            <a:pPr lvl="1"/>
            <a:r>
              <a:rPr lang="en-US" altLang="zh-CN" dirty="0" err="1"/>
              <a:t>OncoKB</a:t>
            </a:r>
            <a:r>
              <a:rPr lang="zh-CN" altLang="en-US" dirty="0"/>
              <a:t>： </a:t>
            </a:r>
            <a:r>
              <a:rPr lang="zh-CN" altLang="en-US" b="1" dirty="0">
                <a:solidFill>
                  <a:schemeClr val="accent1"/>
                </a:solidFill>
              </a:rPr>
              <a:t>提升</a:t>
            </a:r>
            <a:r>
              <a:rPr lang="en-US" altLang="zh-CN" b="1" dirty="0">
                <a:solidFill>
                  <a:schemeClr val="accent1"/>
                </a:solidFill>
              </a:rPr>
              <a:t>25%</a:t>
            </a:r>
            <a:endParaRPr lang="zh-CN" altLang="en-US" dirty="0">
              <a:solidFill>
                <a:schemeClr val="accent1"/>
              </a:solidFill>
            </a:endParaRPr>
          </a:p>
          <a:p>
            <a:pPr lvl="1"/>
            <a:r>
              <a:rPr lang="en-US" altLang="zh-CN" dirty="0" err="1"/>
              <a:t>ONGene</a:t>
            </a:r>
            <a:r>
              <a:rPr lang="zh-CN" altLang="en-US" dirty="0"/>
              <a:t>：</a:t>
            </a:r>
            <a:r>
              <a:rPr lang="zh-CN" altLang="en-US" b="1" dirty="0">
                <a:solidFill>
                  <a:schemeClr val="accent1"/>
                </a:solidFill>
              </a:rPr>
              <a:t>提升</a:t>
            </a:r>
            <a:r>
              <a:rPr lang="en-US" altLang="zh-CN" b="1" dirty="0">
                <a:solidFill>
                  <a:schemeClr val="accent1"/>
                </a:solidFill>
              </a:rPr>
              <a:t>13%</a:t>
            </a:r>
            <a:endParaRPr lang="zh-CN" altLang="en-US" dirty="0">
              <a:solidFill>
                <a:schemeClr val="accent1"/>
              </a:solidFill>
            </a:endParaRPr>
          </a:p>
          <a:p>
            <a:r>
              <a:rPr lang="zh-CN" altLang="en-US" dirty="0"/>
              <a:t>表明</a:t>
            </a:r>
            <a:r>
              <a:rPr lang="en-US" altLang="zh-CN" dirty="0" err="1"/>
              <a:t>DISFusion</a:t>
            </a:r>
            <a:r>
              <a:rPr lang="zh-CN" altLang="en-US" dirty="0"/>
              <a:t>具有更强的</a:t>
            </a:r>
            <a:r>
              <a:rPr lang="zh-CN" altLang="en-US" b="1" dirty="0"/>
              <a:t>泛化能力</a:t>
            </a:r>
            <a:endParaRPr lang="zh-CN" altLang="en-US" dirty="0"/>
          </a:p>
        </p:txBody>
      </p:sp>
      <p:pic>
        <p:nvPicPr>
          <p:cNvPr id="8" name="图片 7">
            <a:extLst>
              <a:ext uri="{FF2B5EF4-FFF2-40B4-BE49-F238E27FC236}">
                <a16:creationId xmlns:a16="http://schemas.microsoft.com/office/drawing/2014/main" id="{4FA5DB4A-71CE-F423-5B4F-BA65B476CA63}"/>
              </a:ext>
            </a:extLst>
          </p:cNvPr>
          <p:cNvPicPr>
            <a:picLocks noChangeAspect="1"/>
          </p:cNvPicPr>
          <p:nvPr/>
        </p:nvPicPr>
        <p:blipFill>
          <a:blip r:embed="rId4"/>
          <a:stretch>
            <a:fillRect/>
          </a:stretch>
        </p:blipFill>
        <p:spPr>
          <a:xfrm>
            <a:off x="1999304" y="3129146"/>
            <a:ext cx="3708166" cy="2920816"/>
          </a:xfrm>
          <a:prstGeom prst="rect">
            <a:avLst/>
          </a:prstGeom>
        </p:spPr>
      </p:pic>
      <p:pic>
        <p:nvPicPr>
          <p:cNvPr id="9" name="图片 8">
            <a:extLst>
              <a:ext uri="{FF2B5EF4-FFF2-40B4-BE49-F238E27FC236}">
                <a16:creationId xmlns:a16="http://schemas.microsoft.com/office/drawing/2014/main" id="{7E861697-D21B-934C-2370-E9AC42F1C23C}"/>
              </a:ext>
            </a:extLst>
          </p:cNvPr>
          <p:cNvPicPr>
            <a:picLocks noChangeAspect="1"/>
          </p:cNvPicPr>
          <p:nvPr/>
        </p:nvPicPr>
        <p:blipFill>
          <a:blip r:embed="rId5"/>
          <a:stretch>
            <a:fillRect/>
          </a:stretch>
        </p:blipFill>
        <p:spPr>
          <a:xfrm>
            <a:off x="6169738" y="2986116"/>
            <a:ext cx="4763165" cy="3134162"/>
          </a:xfrm>
          <a:prstGeom prst="rect">
            <a:avLst/>
          </a:prstGeom>
        </p:spPr>
      </p:pic>
      <p:sp>
        <p:nvSpPr>
          <p:cNvPr id="16" name="文本框 15">
            <a:extLst>
              <a:ext uri="{FF2B5EF4-FFF2-40B4-BE49-F238E27FC236}">
                <a16:creationId xmlns:a16="http://schemas.microsoft.com/office/drawing/2014/main" id="{70AA520B-63FB-5F70-74CA-451734726B12}"/>
              </a:ext>
            </a:extLst>
          </p:cNvPr>
          <p:cNvSpPr txBox="1"/>
          <p:nvPr/>
        </p:nvSpPr>
        <p:spPr>
          <a:xfrm>
            <a:off x="2263183" y="6122700"/>
            <a:ext cx="8298185" cy="584775"/>
          </a:xfrm>
          <a:prstGeom prst="rect">
            <a:avLst/>
          </a:prstGeom>
          <a:noFill/>
        </p:spPr>
        <p:txBody>
          <a:bodyPr wrap="square" rtlCol="0">
            <a:spAutoFit/>
          </a:bodyPr>
          <a:lstStyle/>
          <a:p>
            <a:r>
              <a:rPr lang="zh-CN" altLang="en-US" sz="1600" dirty="0"/>
              <a:t>图 </a:t>
            </a:r>
            <a:r>
              <a:rPr lang="en-US" altLang="zh-CN" sz="1600" dirty="0"/>
              <a:t>2</a:t>
            </a:r>
            <a:r>
              <a:rPr lang="zh-CN" altLang="en-US" sz="1600" dirty="0"/>
              <a:t>：</a:t>
            </a:r>
            <a:r>
              <a:rPr lang="en-US" altLang="zh-CN" sz="1600" dirty="0" err="1"/>
              <a:t>DISFusion</a:t>
            </a:r>
            <a:r>
              <a:rPr lang="en-US" altLang="zh-CN" sz="1600" dirty="0"/>
              <a:t> </a:t>
            </a:r>
            <a:r>
              <a:rPr lang="zh-CN" altLang="en-US" sz="1600" dirty="0"/>
              <a:t>模型的基准测试结果。</a:t>
            </a:r>
            <a:r>
              <a:rPr lang="en-US" altLang="zh-CN" sz="1600" dirty="0"/>
              <a:t>(A) </a:t>
            </a:r>
            <a:r>
              <a:rPr lang="en-US" altLang="zh-CN" sz="1600" dirty="0" err="1"/>
              <a:t>DISFusion</a:t>
            </a:r>
            <a:r>
              <a:rPr lang="en-US" altLang="zh-CN" sz="1600" dirty="0"/>
              <a:t> </a:t>
            </a:r>
            <a:r>
              <a:rPr lang="zh-CN" altLang="en-US" sz="1600" dirty="0"/>
              <a:t>与六种主流癌症基因识别方法的性能对比。</a:t>
            </a:r>
            <a:r>
              <a:rPr lang="en-US" altLang="zh-CN" sz="1600" dirty="0"/>
              <a:t>(B) </a:t>
            </a:r>
            <a:r>
              <a:rPr lang="en-US" altLang="zh-CN" sz="1600" dirty="0" err="1"/>
              <a:t>DISFusion</a:t>
            </a:r>
            <a:r>
              <a:rPr lang="en-US" altLang="zh-CN" sz="1600" dirty="0"/>
              <a:t> </a:t>
            </a:r>
            <a:r>
              <a:rPr lang="zh-CN" altLang="en-US" sz="1600" dirty="0"/>
              <a:t>与其他方法在两个独立测试集上的性能对比。</a:t>
            </a:r>
          </a:p>
        </p:txBody>
      </p:sp>
    </p:spTree>
    <p:extLst>
      <p:ext uri="{BB962C8B-B14F-4D97-AF65-F5344CB8AC3E}">
        <p14:creationId xmlns:p14="http://schemas.microsoft.com/office/powerpoint/2010/main" val="549286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6C5E0-3C5E-DA17-FCAC-9ADBC0BFC6A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04D8405-D4A9-3D13-CA0D-5EBF99D24F1B}"/>
              </a:ext>
            </a:extLst>
          </p:cNvPr>
          <p:cNvSpPr>
            <a:spLocks noGrp="1"/>
          </p:cNvSpPr>
          <p:nvPr>
            <p:ph type="sldNum" sz="quarter" idx="12"/>
          </p:nvPr>
        </p:nvSpPr>
        <p:spPr/>
        <p:txBody>
          <a:bodyPr/>
          <a:lstStyle/>
          <a:p>
            <a:fld id="{3E75C6D3-133E-4A51-8F1C-F484242B8F05}" type="slidenum">
              <a:rPr lang="zh-CN" altLang="en-US" smtClean="0"/>
              <a:t>22</a:t>
            </a:fld>
            <a:endParaRPr lang="zh-CN" altLang="en-US"/>
          </a:p>
        </p:txBody>
      </p:sp>
      <p:sp>
        <p:nvSpPr>
          <p:cNvPr id="11" name="文本框 10">
            <a:hlinkClick r:id="rId2" action="ppaction://hlinksldjump"/>
            <a:extLst>
              <a:ext uri="{FF2B5EF4-FFF2-40B4-BE49-F238E27FC236}">
                <a16:creationId xmlns:a16="http://schemas.microsoft.com/office/drawing/2014/main" id="{A7EB0788-130C-C761-F140-075FC61E8676}"/>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D3F06C34-EFC4-3AA7-1C1A-2676BB7C1A2A}"/>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0BCB3B9C-DDAA-1D6D-D4FB-05CC07CAA1CE}"/>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E431D40D-1521-6146-FD17-70BDAADCF76F}"/>
              </a:ext>
            </a:extLst>
          </p:cNvPr>
          <p:cNvSpPr txBox="1"/>
          <p:nvPr/>
        </p:nvSpPr>
        <p:spPr>
          <a:xfrm>
            <a:off x="82112" y="5252054"/>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46E44308-3151-AA5B-DEC4-CF194B84FDDE}"/>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502B74B1-44AF-B932-53D2-DB9DC873A129}"/>
              </a:ext>
            </a:extLst>
          </p:cNvPr>
          <p:cNvCxnSpPr/>
          <p:nvPr/>
        </p:nvCxnSpPr>
        <p:spPr>
          <a:xfrm>
            <a:off x="337762" y="595994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009FFC5C-8531-2818-954A-0C279788D6C3}"/>
              </a:ext>
            </a:extLst>
          </p:cNvPr>
          <p:cNvSpPr txBox="1"/>
          <p:nvPr/>
        </p:nvSpPr>
        <p:spPr>
          <a:xfrm>
            <a:off x="1982961" y="213716"/>
            <a:ext cx="5998191" cy="523220"/>
          </a:xfrm>
          <a:prstGeom prst="rect">
            <a:avLst/>
          </a:prstGeom>
          <a:noFill/>
        </p:spPr>
        <p:txBody>
          <a:bodyPr wrap="square" rtlCol="0">
            <a:spAutoFit/>
          </a:bodyPr>
          <a:lstStyle/>
          <a:p>
            <a:r>
              <a:rPr lang="zh-CN" altLang="en-US" sz="2800" b="1" dirty="0">
                <a:latin typeface="+mj-ea"/>
                <a:ea typeface="+mj-ea"/>
              </a:rPr>
              <a:t>癌种特异性驱动基因识别性能表现</a:t>
            </a:r>
            <a:endParaRPr lang="zh-CN" altLang="en-US" sz="2800" dirty="0">
              <a:latin typeface="+mj-ea"/>
              <a:ea typeface="+mj-ea"/>
            </a:endParaRPr>
          </a:p>
        </p:txBody>
      </p:sp>
      <p:cxnSp>
        <p:nvCxnSpPr>
          <p:cNvPr id="10" name="直接连接符 9">
            <a:extLst>
              <a:ext uri="{FF2B5EF4-FFF2-40B4-BE49-F238E27FC236}">
                <a16:creationId xmlns:a16="http://schemas.microsoft.com/office/drawing/2014/main" id="{B86DC1E4-63EB-A721-54E8-E1E214B4FC6A}"/>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0BF54F48-12C7-2118-435D-9947510195BE}"/>
              </a:ext>
            </a:extLst>
          </p:cNvPr>
          <p:cNvPicPr>
            <a:picLocks noChangeAspect="1"/>
          </p:cNvPicPr>
          <p:nvPr/>
        </p:nvPicPr>
        <p:blipFill>
          <a:blip r:embed="rId4"/>
          <a:stretch>
            <a:fillRect/>
          </a:stretch>
        </p:blipFill>
        <p:spPr>
          <a:xfrm>
            <a:off x="1982961" y="2650576"/>
            <a:ext cx="9970578" cy="2892655"/>
          </a:xfrm>
          <a:prstGeom prst="rect">
            <a:avLst/>
          </a:prstGeom>
        </p:spPr>
      </p:pic>
      <p:sp>
        <p:nvSpPr>
          <p:cNvPr id="6" name="文本框 5">
            <a:extLst>
              <a:ext uri="{FF2B5EF4-FFF2-40B4-BE49-F238E27FC236}">
                <a16:creationId xmlns:a16="http://schemas.microsoft.com/office/drawing/2014/main" id="{E54498ED-548F-798F-3163-FDEBA40051E1}"/>
              </a:ext>
            </a:extLst>
          </p:cNvPr>
          <p:cNvSpPr txBox="1"/>
          <p:nvPr/>
        </p:nvSpPr>
        <p:spPr>
          <a:xfrm>
            <a:off x="2034438" y="1220828"/>
            <a:ext cx="8329930" cy="1200329"/>
          </a:xfrm>
          <a:prstGeom prst="rect">
            <a:avLst/>
          </a:prstGeom>
          <a:noFill/>
        </p:spPr>
        <p:txBody>
          <a:bodyPr wrap="square" rtlCol="0">
            <a:spAutoFit/>
          </a:bodyPr>
          <a:lstStyle/>
          <a:p>
            <a:r>
              <a:rPr lang="zh-CN" altLang="en-US" b="1" dirty="0">
                <a:latin typeface="+mj-ea"/>
                <a:ea typeface="+mj-ea"/>
              </a:rPr>
              <a:t>六种癌症</a:t>
            </a:r>
            <a:r>
              <a:rPr lang="zh-CN" altLang="en-US" dirty="0"/>
              <a:t>：</a:t>
            </a:r>
            <a:r>
              <a:rPr lang="en-US" altLang="zh-CN" dirty="0"/>
              <a:t>CESC</a:t>
            </a:r>
            <a:r>
              <a:rPr lang="zh-CN" altLang="en-US" dirty="0"/>
              <a:t>、</a:t>
            </a:r>
            <a:r>
              <a:rPr lang="en-US" altLang="zh-CN" dirty="0"/>
              <a:t>BLCA</a:t>
            </a:r>
            <a:r>
              <a:rPr lang="zh-CN" altLang="en-US" dirty="0"/>
              <a:t>、</a:t>
            </a:r>
            <a:r>
              <a:rPr lang="en-US" altLang="zh-CN" dirty="0"/>
              <a:t>ESCA</a:t>
            </a:r>
            <a:r>
              <a:rPr lang="zh-CN" altLang="en-US" dirty="0"/>
              <a:t>、</a:t>
            </a:r>
            <a:r>
              <a:rPr lang="en-US" altLang="zh-CN" dirty="0"/>
              <a:t>HNSC</a:t>
            </a:r>
            <a:r>
              <a:rPr lang="zh-CN" altLang="en-US" dirty="0"/>
              <a:t>、</a:t>
            </a:r>
            <a:r>
              <a:rPr lang="en-US" altLang="zh-CN" dirty="0"/>
              <a:t>LUAD</a:t>
            </a:r>
            <a:r>
              <a:rPr lang="zh-CN" altLang="en-US" dirty="0"/>
              <a:t>、</a:t>
            </a:r>
            <a:r>
              <a:rPr lang="en-US" altLang="zh-CN" dirty="0"/>
              <a:t>LUSC</a:t>
            </a:r>
          </a:p>
          <a:p>
            <a:r>
              <a:rPr lang="en-US" altLang="zh-CN" b="1" dirty="0" err="1">
                <a:solidFill>
                  <a:schemeClr val="accent1"/>
                </a:solidFill>
              </a:rPr>
              <a:t>DISFusion</a:t>
            </a:r>
            <a:r>
              <a:rPr lang="en-US" altLang="zh-CN" b="1" dirty="0">
                <a:solidFill>
                  <a:schemeClr val="accent1"/>
                </a:solidFill>
              </a:rPr>
              <a:t> </a:t>
            </a:r>
            <a:r>
              <a:rPr lang="zh-CN" altLang="en-US" b="1" dirty="0">
                <a:solidFill>
                  <a:schemeClr val="accent1"/>
                </a:solidFill>
              </a:rPr>
              <a:t>在所有癌种中均优于或显著优于第二名</a:t>
            </a:r>
          </a:p>
          <a:p>
            <a:pPr lvl="1"/>
            <a:r>
              <a:rPr lang="en-US" altLang="zh-CN" dirty="0"/>
              <a:t>HNSC</a:t>
            </a:r>
            <a:r>
              <a:rPr lang="zh-CN" altLang="en-US" dirty="0"/>
              <a:t>：</a:t>
            </a:r>
            <a:r>
              <a:rPr lang="en-US" altLang="zh-CN" dirty="0"/>
              <a:t>+6.8%</a:t>
            </a:r>
            <a:r>
              <a:rPr lang="zh-CN" altLang="en-US" dirty="0"/>
              <a:t>（相比</a:t>
            </a:r>
            <a:r>
              <a:rPr lang="en-US" altLang="zh-CN" dirty="0" err="1"/>
              <a:t>DISHyper</a:t>
            </a:r>
            <a:r>
              <a:rPr lang="zh-CN" altLang="en-US" dirty="0"/>
              <a:t>）</a:t>
            </a:r>
          </a:p>
          <a:p>
            <a:pPr lvl="1"/>
            <a:r>
              <a:rPr lang="en-US" altLang="zh-CN" dirty="0"/>
              <a:t>LUAD</a:t>
            </a:r>
            <a:r>
              <a:rPr lang="zh-CN" altLang="en-US" dirty="0"/>
              <a:t>：</a:t>
            </a:r>
            <a:r>
              <a:rPr lang="en-US" altLang="zh-CN" dirty="0"/>
              <a:t>+9.8%</a:t>
            </a:r>
            <a:r>
              <a:rPr lang="zh-CN" altLang="en-US" dirty="0"/>
              <a:t>（相比</a:t>
            </a:r>
            <a:r>
              <a:rPr lang="en-US" altLang="zh-CN" dirty="0" err="1"/>
              <a:t>DISHyper</a:t>
            </a:r>
            <a:r>
              <a:rPr lang="zh-CN" altLang="en-US" dirty="0"/>
              <a:t>）</a:t>
            </a:r>
          </a:p>
        </p:txBody>
      </p:sp>
      <p:sp>
        <p:nvSpPr>
          <p:cNvPr id="7" name="文本框 6">
            <a:extLst>
              <a:ext uri="{FF2B5EF4-FFF2-40B4-BE49-F238E27FC236}">
                <a16:creationId xmlns:a16="http://schemas.microsoft.com/office/drawing/2014/main" id="{FB1CA7C1-7177-1D30-1F06-6EB7CF02142D}"/>
              </a:ext>
            </a:extLst>
          </p:cNvPr>
          <p:cNvSpPr txBox="1"/>
          <p:nvPr/>
        </p:nvSpPr>
        <p:spPr>
          <a:xfrm>
            <a:off x="2780835" y="5679863"/>
            <a:ext cx="7724140" cy="338554"/>
          </a:xfrm>
          <a:prstGeom prst="rect">
            <a:avLst/>
          </a:prstGeom>
          <a:noFill/>
        </p:spPr>
        <p:txBody>
          <a:bodyPr wrap="square" rtlCol="0">
            <a:spAutoFit/>
          </a:bodyPr>
          <a:lstStyle/>
          <a:p>
            <a:r>
              <a:rPr lang="zh-CN" altLang="en-US" sz="1600" dirty="0"/>
              <a:t>表 </a:t>
            </a:r>
            <a:r>
              <a:rPr lang="en-US" altLang="zh-CN" sz="1600" dirty="0"/>
              <a:t>1</a:t>
            </a:r>
            <a:r>
              <a:rPr lang="zh-CN" altLang="en-US" sz="1600" dirty="0"/>
              <a:t>：各癌症类型特异性驱动基因识别的性能结果：平均 </a:t>
            </a:r>
            <a:r>
              <a:rPr lang="en-US" altLang="zh-CN" sz="1600" dirty="0"/>
              <a:t>AUPRC ± </a:t>
            </a:r>
            <a:r>
              <a:rPr lang="zh-CN" altLang="en-US" sz="1600" dirty="0"/>
              <a:t>标准差。</a:t>
            </a:r>
          </a:p>
        </p:txBody>
      </p:sp>
    </p:spTree>
    <p:extLst>
      <p:ext uri="{BB962C8B-B14F-4D97-AF65-F5344CB8AC3E}">
        <p14:creationId xmlns:p14="http://schemas.microsoft.com/office/powerpoint/2010/main" val="1589322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36831-9D77-115F-15A3-5529DD151D4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A354469-34E7-81B5-6C2E-C49023611D49}"/>
              </a:ext>
            </a:extLst>
          </p:cNvPr>
          <p:cNvSpPr>
            <a:spLocks noGrp="1"/>
          </p:cNvSpPr>
          <p:nvPr>
            <p:ph type="sldNum" sz="quarter" idx="12"/>
          </p:nvPr>
        </p:nvSpPr>
        <p:spPr/>
        <p:txBody>
          <a:bodyPr/>
          <a:lstStyle/>
          <a:p>
            <a:fld id="{3E75C6D3-133E-4A51-8F1C-F484242B8F05}" type="slidenum">
              <a:rPr lang="zh-CN" altLang="en-US" smtClean="0"/>
              <a:t>23</a:t>
            </a:fld>
            <a:endParaRPr lang="zh-CN" altLang="en-US"/>
          </a:p>
        </p:txBody>
      </p:sp>
      <p:sp>
        <p:nvSpPr>
          <p:cNvPr id="11" name="文本框 10">
            <a:hlinkClick r:id="rId2" action="ppaction://hlinksldjump"/>
            <a:extLst>
              <a:ext uri="{FF2B5EF4-FFF2-40B4-BE49-F238E27FC236}">
                <a16:creationId xmlns:a16="http://schemas.microsoft.com/office/drawing/2014/main" id="{FD7E0E35-EF94-BC97-6157-FAD2DD661259}"/>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19FB8720-E8EC-CB22-F809-74FED1ADC630}"/>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AFE925DB-BC17-B121-8353-A9E9703E4AF1}"/>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605B1367-5001-1FD0-0B50-88E8FAD2714A}"/>
              </a:ext>
            </a:extLst>
          </p:cNvPr>
          <p:cNvSpPr txBox="1"/>
          <p:nvPr/>
        </p:nvSpPr>
        <p:spPr>
          <a:xfrm>
            <a:off x="82112" y="5350118"/>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82A179D4-ACA7-0EC9-5A8B-FF0085B83900}"/>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E0A72D0C-2B02-F12B-A928-EEE671F44F5D}"/>
              </a:ext>
            </a:extLst>
          </p:cNvPr>
          <p:cNvCxnSpPr/>
          <p:nvPr/>
        </p:nvCxnSpPr>
        <p:spPr>
          <a:xfrm>
            <a:off x="412517" y="6070049"/>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7D5AC033-21ED-82D8-D3BB-BB3792A24D29}"/>
              </a:ext>
            </a:extLst>
          </p:cNvPr>
          <p:cNvSpPr txBox="1"/>
          <p:nvPr/>
        </p:nvSpPr>
        <p:spPr>
          <a:xfrm>
            <a:off x="1982961" y="213716"/>
            <a:ext cx="5998191" cy="523220"/>
          </a:xfrm>
          <a:prstGeom prst="rect">
            <a:avLst/>
          </a:prstGeom>
          <a:noFill/>
        </p:spPr>
        <p:txBody>
          <a:bodyPr wrap="square" rtlCol="0">
            <a:spAutoFit/>
          </a:bodyPr>
          <a:lstStyle/>
          <a:p>
            <a:r>
              <a:rPr lang="zh-CN" altLang="en-US" sz="2800" b="1" dirty="0">
                <a:latin typeface="+mj-ea"/>
                <a:ea typeface="+mj-ea"/>
              </a:rPr>
              <a:t>解相关损失的作用</a:t>
            </a:r>
            <a:endParaRPr lang="zh-CN" altLang="en-US" sz="2800" dirty="0">
              <a:latin typeface="+mj-ea"/>
              <a:ea typeface="+mj-ea"/>
            </a:endParaRPr>
          </a:p>
        </p:txBody>
      </p:sp>
      <p:cxnSp>
        <p:nvCxnSpPr>
          <p:cNvPr id="10" name="直接连接符 9">
            <a:extLst>
              <a:ext uri="{FF2B5EF4-FFF2-40B4-BE49-F238E27FC236}">
                <a16:creationId xmlns:a16="http://schemas.microsoft.com/office/drawing/2014/main" id="{066ED8F4-8489-FA94-5163-58ED85B0E2D7}"/>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2CA338F4-9C09-F44C-F6FD-F2B732917573}"/>
              </a:ext>
            </a:extLst>
          </p:cNvPr>
          <p:cNvSpPr txBox="1"/>
          <p:nvPr/>
        </p:nvSpPr>
        <p:spPr>
          <a:xfrm>
            <a:off x="1918527" y="1786344"/>
            <a:ext cx="5109312" cy="2862322"/>
          </a:xfrm>
          <a:prstGeom prst="rect">
            <a:avLst/>
          </a:prstGeom>
          <a:noFill/>
        </p:spPr>
        <p:txBody>
          <a:bodyPr wrap="square" rtlCol="0">
            <a:spAutoFit/>
          </a:bodyPr>
          <a:lstStyle/>
          <a:p>
            <a:r>
              <a:rPr lang="zh-CN" altLang="en-US" b="1" dirty="0">
                <a:latin typeface="+mj-ea"/>
                <a:ea typeface="+mj-ea"/>
              </a:rPr>
              <a:t>消融实验：</a:t>
            </a:r>
          </a:p>
          <a:p>
            <a:pPr lvl="1"/>
            <a:r>
              <a:rPr lang="zh-CN" altLang="en-US" dirty="0"/>
              <a:t>单独使用</a:t>
            </a:r>
            <a:r>
              <a:rPr lang="en-US" altLang="zh-CN" dirty="0"/>
              <a:t>PPI</a:t>
            </a:r>
            <a:r>
              <a:rPr lang="zh-CN" altLang="en-US" dirty="0"/>
              <a:t>或功能集 → 性能下降</a:t>
            </a:r>
          </a:p>
          <a:p>
            <a:pPr lvl="1"/>
            <a:r>
              <a:rPr lang="zh-CN" altLang="en-US" dirty="0"/>
              <a:t>融合但不加解相关损失 → 中等性能</a:t>
            </a:r>
          </a:p>
          <a:p>
            <a:pPr lvl="1"/>
            <a:r>
              <a:rPr lang="zh-CN" altLang="en-US" b="1" dirty="0"/>
              <a:t>融合 </a:t>
            </a:r>
            <a:r>
              <a:rPr lang="en-US" altLang="zh-CN" b="1" dirty="0"/>
              <a:t>+ </a:t>
            </a:r>
            <a:r>
              <a:rPr lang="zh-CN" altLang="en-US" b="1" dirty="0"/>
              <a:t>解相关损失 → 最佳性能</a:t>
            </a:r>
            <a:endParaRPr lang="en-US" altLang="zh-CN" b="1" dirty="0"/>
          </a:p>
          <a:p>
            <a:pPr lvl="1"/>
            <a:endParaRPr lang="zh-CN" altLang="en-US" dirty="0"/>
          </a:p>
          <a:p>
            <a:r>
              <a:rPr lang="zh-CN" altLang="en-US" b="1" dirty="0">
                <a:latin typeface="+mj-ea"/>
                <a:ea typeface="+mj-ea"/>
              </a:rPr>
              <a:t>参数分析</a:t>
            </a:r>
            <a:r>
              <a:rPr lang="zh-CN" altLang="en-US" dirty="0"/>
              <a:t>：</a:t>
            </a:r>
            <a:r>
              <a:rPr lang="en-US" altLang="zh-CN" dirty="0"/>
              <a:t>α=0.005</a:t>
            </a:r>
            <a:r>
              <a:rPr lang="zh-CN" altLang="en-US" dirty="0"/>
              <a:t>时最优</a:t>
            </a:r>
            <a:endParaRPr lang="en-US" altLang="zh-CN" dirty="0"/>
          </a:p>
          <a:p>
            <a:endParaRPr lang="zh-CN" altLang="en-US" dirty="0"/>
          </a:p>
          <a:p>
            <a:r>
              <a:rPr lang="zh-CN" altLang="en-US" b="1" dirty="0">
                <a:latin typeface="+mj-ea"/>
                <a:ea typeface="+mj-ea"/>
              </a:rPr>
              <a:t>案例研究：</a:t>
            </a:r>
          </a:p>
          <a:p>
            <a:pPr lvl="1"/>
            <a:r>
              <a:rPr lang="en-US" altLang="zh-CN" dirty="0"/>
              <a:t>ANXA1</a:t>
            </a:r>
            <a:r>
              <a:rPr lang="zh-CN" altLang="en-US" dirty="0"/>
              <a:t>、</a:t>
            </a:r>
            <a:r>
              <a:rPr lang="en-US" altLang="zh-CN" dirty="0"/>
              <a:t>TLR2 </a:t>
            </a:r>
            <a:r>
              <a:rPr lang="zh-CN" altLang="en-US" dirty="0"/>
              <a:t>等基因仅被</a:t>
            </a:r>
            <a:r>
              <a:rPr lang="en-US" altLang="zh-CN" dirty="0" err="1"/>
              <a:t>DISFusion</a:t>
            </a:r>
            <a:r>
              <a:rPr lang="zh-CN" altLang="en-US" dirty="0"/>
              <a:t>识别为高风险</a:t>
            </a:r>
          </a:p>
        </p:txBody>
      </p:sp>
      <p:pic>
        <p:nvPicPr>
          <p:cNvPr id="8" name="图片 7">
            <a:extLst>
              <a:ext uri="{FF2B5EF4-FFF2-40B4-BE49-F238E27FC236}">
                <a16:creationId xmlns:a16="http://schemas.microsoft.com/office/drawing/2014/main" id="{086A6A7E-1453-FC2D-549B-E44653EF1074}"/>
              </a:ext>
            </a:extLst>
          </p:cNvPr>
          <p:cNvPicPr>
            <a:picLocks noChangeAspect="1"/>
          </p:cNvPicPr>
          <p:nvPr/>
        </p:nvPicPr>
        <p:blipFill>
          <a:blip r:embed="rId4"/>
          <a:stretch>
            <a:fillRect/>
          </a:stretch>
        </p:blipFill>
        <p:spPr>
          <a:xfrm>
            <a:off x="6892612" y="1284387"/>
            <a:ext cx="4776052" cy="2971616"/>
          </a:xfrm>
          <a:prstGeom prst="rect">
            <a:avLst/>
          </a:prstGeom>
        </p:spPr>
      </p:pic>
      <p:sp>
        <p:nvSpPr>
          <p:cNvPr id="18" name="文本框 17">
            <a:extLst>
              <a:ext uri="{FF2B5EF4-FFF2-40B4-BE49-F238E27FC236}">
                <a16:creationId xmlns:a16="http://schemas.microsoft.com/office/drawing/2014/main" id="{57D95584-913A-0DDC-7E6A-DE69227AB9C0}"/>
              </a:ext>
            </a:extLst>
          </p:cNvPr>
          <p:cNvSpPr txBox="1"/>
          <p:nvPr/>
        </p:nvSpPr>
        <p:spPr>
          <a:xfrm>
            <a:off x="7763510" y="4496395"/>
            <a:ext cx="3723640" cy="1077218"/>
          </a:xfrm>
          <a:prstGeom prst="rect">
            <a:avLst/>
          </a:prstGeom>
          <a:noFill/>
        </p:spPr>
        <p:txBody>
          <a:bodyPr wrap="square" rtlCol="0">
            <a:spAutoFit/>
          </a:bodyPr>
          <a:lstStyle/>
          <a:p>
            <a:r>
              <a:rPr lang="zh-CN" altLang="en-US" sz="1600" dirty="0"/>
              <a:t>图 </a:t>
            </a:r>
            <a:r>
              <a:rPr lang="en-US" altLang="zh-CN" sz="1600" dirty="0"/>
              <a:t>3</a:t>
            </a:r>
            <a:r>
              <a:rPr lang="zh-CN" altLang="en-US" sz="1600" dirty="0"/>
              <a:t>：</a:t>
            </a:r>
            <a:r>
              <a:rPr lang="en-US" altLang="zh-CN" sz="1600" dirty="0"/>
              <a:t>(A) </a:t>
            </a:r>
            <a:r>
              <a:rPr lang="en-US" altLang="zh-CN" sz="1600" dirty="0" err="1"/>
              <a:t>DISFusion</a:t>
            </a:r>
            <a:r>
              <a:rPr lang="en-US" altLang="zh-CN" sz="1600" dirty="0"/>
              <a:t> </a:t>
            </a:r>
            <a:r>
              <a:rPr lang="zh-CN" altLang="en-US" sz="1600" dirty="0"/>
              <a:t>模型的消融实验结果。图中误差棒代表 </a:t>
            </a:r>
            <a:r>
              <a:rPr lang="en-US" altLang="zh-CN" sz="1600" dirty="0"/>
              <a:t>95% </a:t>
            </a:r>
            <a:r>
              <a:rPr lang="zh-CN" altLang="en-US" sz="1600" dirty="0"/>
              <a:t>置信区间。</a:t>
            </a:r>
            <a:r>
              <a:rPr lang="en-US" altLang="zh-CN" sz="1600" dirty="0"/>
              <a:t>(B) </a:t>
            </a:r>
            <a:r>
              <a:rPr lang="zh-CN" altLang="en-US" sz="1600" dirty="0"/>
              <a:t>参数 </a:t>
            </a:r>
            <a:r>
              <a:rPr lang="el-GR" altLang="zh-CN" sz="1600" dirty="0"/>
              <a:t>α </a:t>
            </a:r>
            <a:r>
              <a:rPr lang="zh-CN" altLang="en-US" sz="1600" dirty="0"/>
              <a:t>对 </a:t>
            </a:r>
            <a:r>
              <a:rPr lang="en-US" altLang="zh-CN" sz="1600" dirty="0" err="1"/>
              <a:t>DISFusion</a:t>
            </a:r>
            <a:r>
              <a:rPr lang="en-US" altLang="zh-CN" sz="1600" dirty="0"/>
              <a:t> </a:t>
            </a:r>
            <a:r>
              <a:rPr lang="zh-CN" altLang="en-US" sz="1600" dirty="0"/>
              <a:t>模型性能的影响。</a:t>
            </a:r>
          </a:p>
        </p:txBody>
      </p:sp>
    </p:spTree>
    <p:extLst>
      <p:ext uri="{BB962C8B-B14F-4D97-AF65-F5344CB8AC3E}">
        <p14:creationId xmlns:p14="http://schemas.microsoft.com/office/powerpoint/2010/main" val="6344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A383B-31DC-E586-F036-093F970D7C8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B79FE5A-C247-50A5-71DE-703257E820DD}"/>
              </a:ext>
            </a:extLst>
          </p:cNvPr>
          <p:cNvSpPr>
            <a:spLocks noGrp="1"/>
          </p:cNvSpPr>
          <p:nvPr>
            <p:ph type="sldNum" sz="quarter" idx="12"/>
          </p:nvPr>
        </p:nvSpPr>
        <p:spPr/>
        <p:txBody>
          <a:bodyPr/>
          <a:lstStyle/>
          <a:p>
            <a:fld id="{3E75C6D3-133E-4A51-8F1C-F484242B8F05}" type="slidenum">
              <a:rPr lang="zh-CN" altLang="en-US" smtClean="0"/>
              <a:t>24</a:t>
            </a:fld>
            <a:endParaRPr lang="zh-CN" altLang="en-US"/>
          </a:p>
        </p:txBody>
      </p:sp>
      <p:sp>
        <p:nvSpPr>
          <p:cNvPr id="11" name="文本框 10">
            <a:hlinkClick r:id="rId2" action="ppaction://hlinksldjump"/>
            <a:extLst>
              <a:ext uri="{FF2B5EF4-FFF2-40B4-BE49-F238E27FC236}">
                <a16:creationId xmlns:a16="http://schemas.microsoft.com/office/drawing/2014/main" id="{7B6D2884-A6CE-EF64-6165-C80170F62517}"/>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ABD91006-3731-3602-3E1D-82D4DEE07607}"/>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F7139CFD-0E4C-D860-EF05-D783EB2D1563}"/>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E9D22B37-696E-6DA3-D95F-9A8F4245CA85}"/>
              </a:ext>
            </a:extLst>
          </p:cNvPr>
          <p:cNvSpPr txBox="1"/>
          <p:nvPr/>
        </p:nvSpPr>
        <p:spPr>
          <a:xfrm>
            <a:off x="82112" y="5234992"/>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397BF992-A97E-2041-693B-E4229E783303}"/>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E0EDE425-98C6-612C-8032-D2CBC32669F6}"/>
              </a:ext>
            </a:extLst>
          </p:cNvPr>
          <p:cNvCxnSpPr/>
          <p:nvPr/>
        </p:nvCxnSpPr>
        <p:spPr>
          <a:xfrm>
            <a:off x="367442" y="5897947"/>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40B97873-8053-446B-3AC0-F80A3B9A6BF8}"/>
              </a:ext>
            </a:extLst>
          </p:cNvPr>
          <p:cNvSpPr txBox="1"/>
          <p:nvPr/>
        </p:nvSpPr>
        <p:spPr>
          <a:xfrm>
            <a:off x="1982961" y="213716"/>
            <a:ext cx="5998191" cy="954107"/>
          </a:xfrm>
          <a:prstGeom prst="rect">
            <a:avLst/>
          </a:prstGeom>
          <a:noFill/>
        </p:spPr>
        <p:txBody>
          <a:bodyPr wrap="square" rtlCol="0">
            <a:spAutoFit/>
          </a:bodyPr>
          <a:lstStyle/>
          <a:p>
            <a:r>
              <a:rPr lang="zh-CN" altLang="en-US" sz="2800" b="1" dirty="0">
                <a:latin typeface="+mj-ea"/>
                <a:ea typeface="+mj-ea"/>
              </a:rPr>
              <a:t>蛋白质组数据验证预测的新型癌基因</a:t>
            </a:r>
            <a:endParaRPr lang="zh-CN" altLang="en-US" sz="2800" dirty="0">
              <a:latin typeface="+mj-ea"/>
              <a:ea typeface="+mj-ea"/>
            </a:endParaRPr>
          </a:p>
          <a:p>
            <a:endParaRPr lang="zh-CN" altLang="en-US" sz="2800" dirty="0">
              <a:latin typeface="+mj-ea"/>
              <a:ea typeface="+mj-ea"/>
            </a:endParaRPr>
          </a:p>
        </p:txBody>
      </p:sp>
      <p:cxnSp>
        <p:nvCxnSpPr>
          <p:cNvPr id="10" name="直接连接符 9">
            <a:extLst>
              <a:ext uri="{FF2B5EF4-FFF2-40B4-BE49-F238E27FC236}">
                <a16:creationId xmlns:a16="http://schemas.microsoft.com/office/drawing/2014/main" id="{846EFF4E-6D53-E50F-FCA9-EA5DCF334D73}"/>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0B647A47-39C6-6933-00C0-04D722F51A73}"/>
              </a:ext>
            </a:extLst>
          </p:cNvPr>
          <p:cNvSpPr txBox="1"/>
          <p:nvPr/>
        </p:nvSpPr>
        <p:spPr>
          <a:xfrm>
            <a:off x="2034438" y="1205178"/>
            <a:ext cx="8329930" cy="1477328"/>
          </a:xfrm>
          <a:prstGeom prst="rect">
            <a:avLst/>
          </a:prstGeom>
          <a:noFill/>
        </p:spPr>
        <p:txBody>
          <a:bodyPr wrap="square" rtlCol="0">
            <a:spAutoFit/>
          </a:bodyPr>
          <a:lstStyle/>
          <a:p>
            <a:r>
              <a:rPr lang="zh-CN" altLang="en-US" dirty="0"/>
              <a:t>从预测前</a:t>
            </a:r>
            <a:r>
              <a:rPr lang="en-US" altLang="zh-CN" dirty="0"/>
              <a:t>200</a:t>
            </a:r>
            <a:r>
              <a:rPr lang="zh-CN" altLang="en-US" dirty="0"/>
              <a:t>个基因中筛选出</a:t>
            </a:r>
            <a:r>
              <a:rPr lang="en-US" altLang="zh-CN" b="1" dirty="0"/>
              <a:t>30</a:t>
            </a:r>
            <a:r>
              <a:rPr lang="zh-CN" altLang="en-US" b="1" dirty="0"/>
              <a:t>个未被注释的新候选基因</a:t>
            </a:r>
            <a:endParaRPr lang="zh-CN" altLang="en-US" dirty="0"/>
          </a:p>
          <a:p>
            <a:r>
              <a:rPr lang="zh-CN" altLang="en-US" dirty="0"/>
              <a:t>使用</a:t>
            </a:r>
            <a:r>
              <a:rPr lang="en-US" altLang="zh-CN" dirty="0"/>
              <a:t>CPTAC</a:t>
            </a:r>
            <a:r>
              <a:rPr lang="zh-CN" altLang="en-US" dirty="0"/>
              <a:t>蛋白组数据验证：</a:t>
            </a:r>
          </a:p>
          <a:p>
            <a:pPr lvl="1"/>
            <a:r>
              <a:rPr lang="en-US" altLang="zh-CN" dirty="0"/>
              <a:t>21</a:t>
            </a:r>
            <a:r>
              <a:rPr lang="zh-CN" altLang="en-US" dirty="0"/>
              <a:t>个基因在至少一种癌症中显著差异表达</a:t>
            </a:r>
          </a:p>
          <a:p>
            <a:pPr lvl="1"/>
            <a:r>
              <a:rPr lang="en-US" altLang="zh-CN" dirty="0"/>
              <a:t>TGFB2</a:t>
            </a:r>
            <a:r>
              <a:rPr lang="zh-CN" altLang="en-US" dirty="0"/>
              <a:t>、</a:t>
            </a:r>
            <a:r>
              <a:rPr lang="en-US" altLang="zh-CN" dirty="0"/>
              <a:t>TGFB3</a:t>
            </a:r>
            <a:r>
              <a:rPr lang="zh-CN" altLang="en-US" dirty="0"/>
              <a:t>、</a:t>
            </a:r>
            <a:r>
              <a:rPr lang="en-US" altLang="zh-CN" dirty="0"/>
              <a:t>FBN1</a:t>
            </a:r>
            <a:r>
              <a:rPr lang="zh-CN" altLang="en-US" dirty="0"/>
              <a:t>等在多种癌症中异常表达</a:t>
            </a:r>
          </a:p>
          <a:p>
            <a:r>
              <a:rPr lang="zh-CN" altLang="en-US" b="1" dirty="0">
                <a:latin typeface="+mj-ea"/>
                <a:ea typeface="+mj-ea"/>
              </a:rPr>
              <a:t>结论：</a:t>
            </a:r>
            <a:r>
              <a:rPr lang="en-US" altLang="zh-CN" b="1" dirty="0" err="1">
                <a:solidFill>
                  <a:schemeClr val="accent1"/>
                </a:solidFill>
              </a:rPr>
              <a:t>DISFusion</a:t>
            </a:r>
            <a:r>
              <a:rPr lang="zh-CN" altLang="en-US" b="1" dirty="0">
                <a:solidFill>
                  <a:schemeClr val="accent1"/>
                </a:solidFill>
              </a:rPr>
              <a:t>具有实际发现新癌基因的能力</a:t>
            </a:r>
          </a:p>
        </p:txBody>
      </p:sp>
      <p:sp>
        <p:nvSpPr>
          <p:cNvPr id="7" name="文本框 6">
            <a:extLst>
              <a:ext uri="{FF2B5EF4-FFF2-40B4-BE49-F238E27FC236}">
                <a16:creationId xmlns:a16="http://schemas.microsoft.com/office/drawing/2014/main" id="{273F42E4-FFF0-68F2-7278-7337646311BC}"/>
              </a:ext>
            </a:extLst>
          </p:cNvPr>
          <p:cNvSpPr txBox="1"/>
          <p:nvPr/>
        </p:nvSpPr>
        <p:spPr>
          <a:xfrm>
            <a:off x="2034438" y="5897947"/>
            <a:ext cx="9442560" cy="738664"/>
          </a:xfrm>
          <a:prstGeom prst="rect">
            <a:avLst/>
          </a:prstGeom>
          <a:noFill/>
        </p:spPr>
        <p:txBody>
          <a:bodyPr wrap="square" rtlCol="0">
            <a:spAutoFit/>
          </a:bodyPr>
          <a:lstStyle/>
          <a:p>
            <a:r>
              <a:rPr lang="zh-CN" altLang="en-US" sz="1400" dirty="0"/>
              <a:t>图 </a:t>
            </a:r>
            <a:r>
              <a:rPr lang="en-US" altLang="zh-CN" sz="1400" dirty="0"/>
              <a:t>4</a:t>
            </a:r>
            <a:r>
              <a:rPr lang="zh-CN" altLang="en-US" sz="1400" dirty="0"/>
              <a:t>：利用 </a:t>
            </a:r>
            <a:r>
              <a:rPr lang="en-US" altLang="zh-CN" sz="1400" dirty="0"/>
              <a:t>CPTAC </a:t>
            </a:r>
            <a:r>
              <a:rPr lang="zh-CN" altLang="en-US" sz="1400" dirty="0"/>
              <a:t>蛋白质组数据评估 </a:t>
            </a:r>
            <a:r>
              <a:rPr lang="en-US" altLang="zh-CN" sz="1400" dirty="0" err="1"/>
              <a:t>DISFusion</a:t>
            </a:r>
            <a:r>
              <a:rPr lang="en-US" altLang="zh-CN" sz="1400" dirty="0"/>
              <a:t> </a:t>
            </a:r>
            <a:r>
              <a:rPr lang="zh-CN" altLang="en-US" sz="1400" dirty="0"/>
              <a:t>预测的新型癌基因（</a:t>
            </a:r>
            <a:r>
              <a:rPr lang="en-US" altLang="zh-CN" sz="1400" dirty="0" err="1"/>
              <a:t>novelCG</a:t>
            </a:r>
            <a:r>
              <a:rPr lang="zh-CN" altLang="en-US" sz="1400" dirty="0"/>
              <a:t>）。图中展示了 </a:t>
            </a:r>
            <a:r>
              <a:rPr lang="en-US" altLang="zh-CN" sz="1400" dirty="0"/>
              <a:t>12 </a:t>
            </a:r>
            <a:r>
              <a:rPr lang="zh-CN" altLang="en-US" sz="1400" dirty="0"/>
              <a:t>套癌症蛋白质组数据里 </a:t>
            </a:r>
            <a:r>
              <a:rPr lang="en-US" altLang="zh-CN" sz="1400" dirty="0"/>
              <a:t>30 </a:t>
            </a:r>
            <a:r>
              <a:rPr lang="zh-CN" altLang="en-US" sz="1400" dirty="0"/>
              <a:t>个新型癌基因的蛋白差异表达情况：棕色为癌症中蛋白显著上调，蓝色为显著下调，灰色代表数据缺失，白色表示表达无明显差异。</a:t>
            </a:r>
          </a:p>
        </p:txBody>
      </p:sp>
      <p:pic>
        <p:nvPicPr>
          <p:cNvPr id="8" name="图片 7">
            <a:extLst>
              <a:ext uri="{FF2B5EF4-FFF2-40B4-BE49-F238E27FC236}">
                <a16:creationId xmlns:a16="http://schemas.microsoft.com/office/drawing/2014/main" id="{1F557709-F53F-5ABA-BD49-700E6BCE4E95}"/>
              </a:ext>
            </a:extLst>
          </p:cNvPr>
          <p:cNvPicPr>
            <a:picLocks noChangeAspect="1"/>
          </p:cNvPicPr>
          <p:nvPr/>
        </p:nvPicPr>
        <p:blipFill>
          <a:blip r:embed="rId4"/>
          <a:stretch>
            <a:fillRect/>
          </a:stretch>
        </p:blipFill>
        <p:spPr>
          <a:xfrm>
            <a:off x="2131588" y="2735511"/>
            <a:ext cx="8404979" cy="3125081"/>
          </a:xfrm>
          <a:prstGeom prst="rect">
            <a:avLst/>
          </a:prstGeom>
        </p:spPr>
      </p:pic>
    </p:spTree>
    <p:extLst>
      <p:ext uri="{BB962C8B-B14F-4D97-AF65-F5344CB8AC3E}">
        <p14:creationId xmlns:p14="http://schemas.microsoft.com/office/powerpoint/2010/main" val="2861174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3AF7-F5C3-F991-C066-0D75C46209B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3BD721C-3023-C5C0-2A83-9EB2A177CECD}"/>
              </a:ext>
            </a:extLst>
          </p:cNvPr>
          <p:cNvSpPr>
            <a:spLocks noGrp="1"/>
          </p:cNvSpPr>
          <p:nvPr>
            <p:ph type="sldNum" sz="quarter" idx="12"/>
          </p:nvPr>
        </p:nvSpPr>
        <p:spPr/>
        <p:txBody>
          <a:bodyPr/>
          <a:lstStyle/>
          <a:p>
            <a:fld id="{3E75C6D3-133E-4A51-8F1C-F484242B8F05}" type="slidenum">
              <a:rPr lang="zh-CN" altLang="en-US" smtClean="0"/>
              <a:t>25</a:t>
            </a:fld>
            <a:endParaRPr lang="zh-CN" altLang="en-US"/>
          </a:p>
        </p:txBody>
      </p:sp>
      <p:sp>
        <p:nvSpPr>
          <p:cNvPr id="11" name="文本框 10">
            <a:hlinkClick r:id="rId2" action="ppaction://hlinksldjump"/>
            <a:extLst>
              <a:ext uri="{FF2B5EF4-FFF2-40B4-BE49-F238E27FC236}">
                <a16:creationId xmlns:a16="http://schemas.microsoft.com/office/drawing/2014/main" id="{B82AE0F1-C942-77E0-FFC1-413CFF692292}"/>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0FBB95D1-95DC-A479-2AE2-A8E977F71D24}"/>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1A7E96BB-2B08-6EDE-ABB0-C666804851D3}"/>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5F0383ED-D569-6F05-AD48-2C9B96A4BC27}"/>
              </a:ext>
            </a:extLst>
          </p:cNvPr>
          <p:cNvSpPr txBox="1"/>
          <p:nvPr/>
        </p:nvSpPr>
        <p:spPr>
          <a:xfrm>
            <a:off x="92474" y="5142584"/>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A7426575-55C0-1E60-B30D-7AFF790DFF77}"/>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DF87C884-2B86-B636-1E75-1BB65D97443B}"/>
              </a:ext>
            </a:extLst>
          </p:cNvPr>
          <p:cNvCxnSpPr/>
          <p:nvPr/>
        </p:nvCxnSpPr>
        <p:spPr>
          <a:xfrm>
            <a:off x="348124" y="5850470"/>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E10CF85A-3476-4754-A72F-FF5B665D5C79}"/>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dirty="0">
                <a:latin typeface="微软雅黑" panose="020B0503020204020204" charset="-122"/>
                <a:ea typeface="微软雅黑" panose="020B0503020204020204" charset="-122"/>
              </a:rPr>
              <a:t>实验复现</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402CA314-AFAE-04D7-10B1-3527CC3D0F76}"/>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B4E2C4BE-E193-BC2F-F1AB-8295FB28E614}"/>
              </a:ext>
            </a:extLst>
          </p:cNvPr>
          <p:cNvPicPr>
            <a:picLocks noChangeAspect="1"/>
          </p:cNvPicPr>
          <p:nvPr/>
        </p:nvPicPr>
        <p:blipFill>
          <a:blip r:embed="rId4"/>
          <a:stretch>
            <a:fillRect/>
          </a:stretch>
        </p:blipFill>
        <p:spPr>
          <a:xfrm>
            <a:off x="7437974" y="1754868"/>
            <a:ext cx="3953389" cy="1001980"/>
          </a:xfrm>
          <a:prstGeom prst="rect">
            <a:avLst/>
          </a:prstGeom>
        </p:spPr>
      </p:pic>
      <p:sp>
        <p:nvSpPr>
          <p:cNvPr id="7" name="文本框 6">
            <a:extLst>
              <a:ext uri="{FF2B5EF4-FFF2-40B4-BE49-F238E27FC236}">
                <a16:creationId xmlns:a16="http://schemas.microsoft.com/office/drawing/2014/main" id="{3CE03E70-FB76-3129-B8F1-33831A0B2B5D}"/>
              </a:ext>
            </a:extLst>
          </p:cNvPr>
          <p:cNvSpPr txBox="1"/>
          <p:nvPr/>
        </p:nvSpPr>
        <p:spPr>
          <a:xfrm>
            <a:off x="7243673" y="3190005"/>
            <a:ext cx="5109312" cy="369332"/>
          </a:xfrm>
          <a:prstGeom prst="rect">
            <a:avLst/>
          </a:prstGeom>
          <a:noFill/>
        </p:spPr>
        <p:txBody>
          <a:bodyPr wrap="square" rtlCol="0">
            <a:spAutoFit/>
          </a:bodyPr>
          <a:lstStyle/>
          <a:p>
            <a:r>
              <a:rPr lang="en-US" altLang="zh-CN" dirty="0"/>
              <a:t>0.9468792334358979 0.8968324459733513</a:t>
            </a:r>
            <a:endParaRPr lang="zh-CN" altLang="en-US" dirty="0"/>
          </a:p>
        </p:txBody>
      </p:sp>
      <p:sp>
        <p:nvSpPr>
          <p:cNvPr id="9" name="文本框 8">
            <a:extLst>
              <a:ext uri="{FF2B5EF4-FFF2-40B4-BE49-F238E27FC236}">
                <a16:creationId xmlns:a16="http://schemas.microsoft.com/office/drawing/2014/main" id="{B8FCBCA1-087A-62BC-8A1D-FFE2C5EEA391}"/>
              </a:ext>
            </a:extLst>
          </p:cNvPr>
          <p:cNvSpPr txBox="1"/>
          <p:nvPr/>
        </p:nvSpPr>
        <p:spPr>
          <a:xfrm>
            <a:off x="7620860" y="1398283"/>
            <a:ext cx="1004978" cy="369332"/>
          </a:xfrm>
          <a:prstGeom prst="rect">
            <a:avLst/>
          </a:prstGeom>
          <a:noFill/>
        </p:spPr>
        <p:txBody>
          <a:bodyPr wrap="square" rtlCol="0">
            <a:spAutoFit/>
          </a:bodyPr>
          <a:lstStyle/>
          <a:p>
            <a:r>
              <a:rPr lang="zh-CN" altLang="en-US" b="1" dirty="0">
                <a:latin typeface="+mj-ea"/>
                <a:ea typeface="+mj-ea"/>
              </a:rPr>
              <a:t>第一次</a:t>
            </a:r>
          </a:p>
        </p:txBody>
      </p:sp>
      <p:sp>
        <p:nvSpPr>
          <p:cNvPr id="16" name="文本框 15">
            <a:extLst>
              <a:ext uri="{FF2B5EF4-FFF2-40B4-BE49-F238E27FC236}">
                <a16:creationId xmlns:a16="http://schemas.microsoft.com/office/drawing/2014/main" id="{F5A8001B-9DA6-2802-7B3B-5928B5F793C3}"/>
              </a:ext>
            </a:extLst>
          </p:cNvPr>
          <p:cNvSpPr txBox="1"/>
          <p:nvPr/>
        </p:nvSpPr>
        <p:spPr>
          <a:xfrm>
            <a:off x="7620860" y="2782203"/>
            <a:ext cx="1004978" cy="369332"/>
          </a:xfrm>
          <a:prstGeom prst="rect">
            <a:avLst/>
          </a:prstGeom>
          <a:noFill/>
        </p:spPr>
        <p:txBody>
          <a:bodyPr wrap="square" rtlCol="0">
            <a:spAutoFit/>
          </a:bodyPr>
          <a:lstStyle/>
          <a:p>
            <a:r>
              <a:rPr lang="zh-CN" altLang="en-US" b="1" dirty="0">
                <a:latin typeface="+mj-ea"/>
                <a:ea typeface="+mj-ea"/>
              </a:rPr>
              <a:t>第二次</a:t>
            </a:r>
          </a:p>
        </p:txBody>
      </p:sp>
      <p:pic>
        <p:nvPicPr>
          <p:cNvPr id="18" name="图片 17">
            <a:extLst>
              <a:ext uri="{FF2B5EF4-FFF2-40B4-BE49-F238E27FC236}">
                <a16:creationId xmlns:a16="http://schemas.microsoft.com/office/drawing/2014/main" id="{87DDB2D4-32C9-225D-D797-337427D6A4AD}"/>
              </a:ext>
            </a:extLst>
          </p:cNvPr>
          <p:cNvPicPr>
            <a:picLocks noChangeAspect="1"/>
          </p:cNvPicPr>
          <p:nvPr/>
        </p:nvPicPr>
        <p:blipFill>
          <a:blip r:embed="rId5"/>
          <a:stretch>
            <a:fillRect/>
          </a:stretch>
        </p:blipFill>
        <p:spPr>
          <a:xfrm>
            <a:off x="7381344" y="3526805"/>
            <a:ext cx="3708166" cy="2920816"/>
          </a:xfrm>
          <a:prstGeom prst="rect">
            <a:avLst/>
          </a:prstGeom>
        </p:spPr>
      </p:pic>
      <p:sp>
        <p:nvSpPr>
          <p:cNvPr id="21" name="文本框 20">
            <a:extLst>
              <a:ext uri="{FF2B5EF4-FFF2-40B4-BE49-F238E27FC236}">
                <a16:creationId xmlns:a16="http://schemas.microsoft.com/office/drawing/2014/main" id="{DD50E7F6-8035-5D4B-669F-B0791DE72789}"/>
              </a:ext>
            </a:extLst>
          </p:cNvPr>
          <p:cNvSpPr txBox="1"/>
          <p:nvPr/>
        </p:nvSpPr>
        <p:spPr>
          <a:xfrm>
            <a:off x="2814035" y="1048406"/>
            <a:ext cx="5815235" cy="369332"/>
          </a:xfrm>
          <a:prstGeom prst="rect">
            <a:avLst/>
          </a:prstGeom>
          <a:noFill/>
        </p:spPr>
        <p:txBody>
          <a:bodyPr wrap="square" rtlCol="0">
            <a:spAutoFit/>
          </a:bodyPr>
          <a:lstStyle/>
          <a:p>
            <a:r>
              <a:rPr lang="en-US" altLang="zh-CN" dirty="0">
                <a:hlinkClick r:id="rId6"/>
              </a:rPr>
              <a:t>https://github.com/CharlesDeng0814/DISFusion.git</a:t>
            </a:r>
            <a:endParaRPr lang="zh-CN" altLang="en-US" dirty="0"/>
          </a:p>
        </p:txBody>
      </p:sp>
      <p:sp>
        <p:nvSpPr>
          <p:cNvPr id="22" name="文本框 21">
            <a:extLst>
              <a:ext uri="{FF2B5EF4-FFF2-40B4-BE49-F238E27FC236}">
                <a16:creationId xmlns:a16="http://schemas.microsoft.com/office/drawing/2014/main" id="{E9C105FA-AB26-B6E9-5A3B-022DDCF3DF8F}"/>
              </a:ext>
            </a:extLst>
          </p:cNvPr>
          <p:cNvSpPr txBox="1"/>
          <p:nvPr/>
        </p:nvSpPr>
        <p:spPr>
          <a:xfrm>
            <a:off x="2105271" y="1048406"/>
            <a:ext cx="1004978" cy="369332"/>
          </a:xfrm>
          <a:prstGeom prst="rect">
            <a:avLst/>
          </a:prstGeom>
          <a:noFill/>
        </p:spPr>
        <p:txBody>
          <a:bodyPr wrap="square" rtlCol="0">
            <a:spAutoFit/>
          </a:bodyPr>
          <a:lstStyle/>
          <a:p>
            <a:r>
              <a:rPr lang="zh-CN" altLang="en-US" b="1" dirty="0">
                <a:latin typeface="+mj-ea"/>
                <a:ea typeface="+mj-ea"/>
              </a:rPr>
              <a:t>代码：</a:t>
            </a:r>
          </a:p>
        </p:txBody>
      </p:sp>
      <p:sp>
        <p:nvSpPr>
          <p:cNvPr id="23" name="文本框 22">
            <a:extLst>
              <a:ext uri="{FF2B5EF4-FFF2-40B4-BE49-F238E27FC236}">
                <a16:creationId xmlns:a16="http://schemas.microsoft.com/office/drawing/2014/main" id="{4A922E22-550A-B79B-1DBE-E99938E3C2E9}"/>
              </a:ext>
            </a:extLst>
          </p:cNvPr>
          <p:cNvSpPr txBox="1"/>
          <p:nvPr/>
        </p:nvSpPr>
        <p:spPr>
          <a:xfrm>
            <a:off x="2048641" y="1668876"/>
            <a:ext cx="5332703" cy="5355312"/>
          </a:xfrm>
          <a:prstGeom prst="rect">
            <a:avLst/>
          </a:prstGeom>
          <a:noFill/>
        </p:spPr>
        <p:txBody>
          <a:bodyPr wrap="square" rtlCol="0">
            <a:spAutoFit/>
          </a:bodyPr>
          <a:lstStyle/>
          <a:p>
            <a:r>
              <a:rPr lang="zh-CN" altLang="en-US" dirty="0">
                <a:ea typeface="+mj-ea"/>
              </a:rPr>
              <a:t>根据</a:t>
            </a:r>
            <a:r>
              <a:rPr lang="en-US" altLang="zh-CN" dirty="0" err="1">
                <a:ea typeface="+mj-ea"/>
              </a:rPr>
              <a:t>github</a:t>
            </a:r>
            <a:r>
              <a:rPr lang="zh-CN" altLang="en-US" dirty="0">
                <a:ea typeface="+mj-ea"/>
              </a:rPr>
              <a:t>上作者提供的</a:t>
            </a:r>
            <a:r>
              <a:rPr lang="en-US" altLang="zh-CN" dirty="0">
                <a:ea typeface="+mj-ea"/>
              </a:rPr>
              <a:t>readme</a:t>
            </a:r>
            <a:r>
              <a:rPr lang="zh-CN" altLang="en-US" dirty="0">
                <a:ea typeface="+mj-ea"/>
              </a:rPr>
              <a:t>文档及环境配置，借用系里算力，成功复现文章实验，由以下两次实验结果算出的</a:t>
            </a:r>
            <a:r>
              <a:rPr lang="en-US" altLang="zh-CN" dirty="0">
                <a:ea typeface="+mj-ea"/>
              </a:rPr>
              <a:t>AUROC</a:t>
            </a:r>
            <a:r>
              <a:rPr lang="zh-CN" altLang="en-US" dirty="0">
                <a:ea typeface="+mj-ea"/>
              </a:rPr>
              <a:t>、</a:t>
            </a:r>
            <a:r>
              <a:rPr lang="en-US" altLang="zh-CN" dirty="0">
                <a:ea typeface="+mj-ea"/>
              </a:rPr>
              <a:t>AUPRC,</a:t>
            </a:r>
            <a:r>
              <a:rPr lang="zh-CN" altLang="en-US" dirty="0">
                <a:ea typeface="+mj-ea"/>
              </a:rPr>
              <a:t>与图</a:t>
            </a:r>
            <a:r>
              <a:rPr lang="en-US" altLang="zh-CN" dirty="0">
                <a:ea typeface="+mj-ea"/>
              </a:rPr>
              <a:t>A</a:t>
            </a:r>
            <a:r>
              <a:rPr lang="zh-CN" altLang="en-US" dirty="0">
                <a:ea typeface="+mj-ea"/>
              </a:rPr>
              <a:t>对比可知与实验结果基本一致，此外实验结果还包含一份</a:t>
            </a:r>
            <a:r>
              <a:rPr lang="en-US" altLang="zh-CN" b="1" dirty="0"/>
              <a:t>13627</a:t>
            </a:r>
            <a:r>
              <a:rPr lang="zh-CN" altLang="en-US" b="1" dirty="0"/>
              <a:t>个基因的预测结果及其排名的</a:t>
            </a:r>
            <a:r>
              <a:rPr lang="zh-CN" altLang="en-US" dirty="0">
                <a:ea typeface="+mj-ea"/>
              </a:rPr>
              <a:t>文件：</a:t>
            </a:r>
            <a:r>
              <a:rPr lang="en-US" altLang="zh-CN" dirty="0">
                <a:ea typeface="+mj-ea"/>
                <a:hlinkClick r:id="rId7" action="ppaction://hlinkfile"/>
              </a:rPr>
              <a:t>:\</a:t>
            </a:r>
            <a:r>
              <a:rPr lang="zh-CN" altLang="en-US" dirty="0">
                <a:ea typeface="+mj-ea"/>
                <a:hlinkClick r:id="rId7" action="ppaction://hlinkfile"/>
              </a:rPr>
              <a:t>复现项目整理</a:t>
            </a:r>
            <a:r>
              <a:rPr lang="en-US" altLang="zh-CN" dirty="0">
                <a:ea typeface="+mj-ea"/>
                <a:hlinkClick r:id="rId7" action="ppaction://hlinkfile"/>
              </a:rPr>
              <a:t>\</a:t>
            </a:r>
            <a:r>
              <a:rPr lang="en-US" altLang="zh-CN" dirty="0" err="1">
                <a:ea typeface="+mj-ea"/>
                <a:hlinkClick r:id="rId7" action="ppaction://hlinkfile"/>
              </a:rPr>
              <a:t>DISFusion</a:t>
            </a:r>
            <a:r>
              <a:rPr lang="en-US" altLang="zh-CN" dirty="0">
                <a:ea typeface="+mj-ea"/>
                <a:hlinkClick r:id="rId7" action="ppaction://hlinkfile"/>
              </a:rPr>
              <a:t>\outputfile.txt</a:t>
            </a:r>
            <a:endParaRPr lang="en-US" altLang="zh-CN" dirty="0">
              <a:ea typeface="+mj-ea"/>
            </a:endParaRPr>
          </a:p>
          <a:p>
            <a:r>
              <a:rPr lang="zh-CN" altLang="en-US" dirty="0">
                <a:latin typeface="+mj-ea"/>
                <a:ea typeface="+mj-ea"/>
              </a:rPr>
              <a:t>运行环境：</a:t>
            </a:r>
          </a:p>
          <a:p>
            <a:r>
              <a:rPr lang="en-US" altLang="zh-CN" dirty="0"/>
              <a:t>python==3.7.0</a:t>
            </a:r>
            <a:br>
              <a:rPr lang="en-US" altLang="zh-CN" dirty="0"/>
            </a:br>
            <a:r>
              <a:rPr lang="en-US" altLang="zh-CN" dirty="0" err="1"/>
              <a:t>scipy</a:t>
            </a:r>
            <a:r>
              <a:rPr lang="en-US" altLang="zh-CN" dirty="0"/>
              <a:t>==1.1.0</a:t>
            </a:r>
            <a:br>
              <a:rPr lang="en-US" altLang="zh-CN" dirty="0"/>
            </a:br>
            <a:r>
              <a:rPr lang="en-US" altLang="zh-CN" dirty="0"/>
              <a:t>torch==1.13.0+cu117</a:t>
            </a:r>
            <a:br>
              <a:rPr lang="en-US" altLang="zh-CN" dirty="0"/>
            </a:br>
            <a:r>
              <a:rPr lang="en-US" altLang="zh-CN" dirty="0" err="1"/>
              <a:t>numpy</a:t>
            </a:r>
            <a:r>
              <a:rPr lang="en-US" altLang="zh-CN" dirty="0"/>
              <a:t>==1.15.2</a:t>
            </a:r>
            <a:br>
              <a:rPr lang="en-US" altLang="zh-CN" dirty="0"/>
            </a:br>
            <a:r>
              <a:rPr lang="en-US" altLang="zh-CN" dirty="0"/>
              <a:t>pandas==0.23.4</a:t>
            </a:r>
            <a:br>
              <a:rPr lang="en-US" altLang="zh-CN" dirty="0"/>
            </a:br>
            <a:r>
              <a:rPr lang="en-US" altLang="zh-CN" dirty="0" err="1"/>
              <a:t>scikit_learn</a:t>
            </a:r>
            <a:r>
              <a:rPr lang="en-US" altLang="zh-CN" dirty="0"/>
              <a:t>==0.19.2</a:t>
            </a:r>
          </a:p>
          <a:p>
            <a:r>
              <a:rPr lang="zh-CN" altLang="en-US" dirty="0"/>
              <a:t>源实验环境</a:t>
            </a:r>
            <a:endParaRPr lang="en-US" altLang="zh-CN" dirty="0"/>
          </a:p>
          <a:p>
            <a:r>
              <a:rPr lang="en-US" altLang="zh-CN" dirty="0"/>
              <a:t>GPU: GeForce RTX 2080 11G</a:t>
            </a:r>
            <a:br>
              <a:rPr lang="en-US" altLang="zh-CN" dirty="0"/>
            </a:br>
            <a:r>
              <a:rPr lang="en-US" altLang="zh-CN" dirty="0"/>
              <a:t>CPU: Intel(R) Xeon(R) Gold 6230 CPU @ 2.10GHz</a:t>
            </a:r>
          </a:p>
          <a:p>
            <a:r>
              <a:rPr lang="zh-CN" altLang="en-US" dirty="0">
                <a:ea typeface="+mj-ea"/>
              </a:rPr>
              <a:t>复现环境：</a:t>
            </a:r>
            <a:r>
              <a:rPr lang="en-US" altLang="zh-CN" dirty="0"/>
              <a:t>GPU</a:t>
            </a:r>
            <a:r>
              <a:rPr lang="zh-CN" altLang="en-US" dirty="0"/>
              <a:t>：</a:t>
            </a:r>
            <a:r>
              <a:rPr lang="en-US" altLang="zh-CN" dirty="0"/>
              <a:t>NVIDIA RTX 4090</a:t>
            </a:r>
            <a:r>
              <a:rPr lang="zh-CN" altLang="en-US" dirty="0"/>
              <a:t>（显存</a:t>
            </a:r>
            <a:r>
              <a:rPr lang="en-US" altLang="zh-CN" dirty="0"/>
              <a:t>24GB</a:t>
            </a:r>
            <a:r>
              <a:rPr lang="zh-CN" altLang="en-US" dirty="0"/>
              <a:t>）</a:t>
            </a:r>
          </a:p>
          <a:p>
            <a:br>
              <a:rPr lang="en-US" altLang="zh-CN" dirty="0"/>
            </a:br>
            <a:endParaRPr lang="zh-CN" altLang="en-US" dirty="0">
              <a:ea typeface="+mj-ea"/>
            </a:endParaRPr>
          </a:p>
        </p:txBody>
      </p:sp>
    </p:spTree>
    <p:extLst>
      <p:ext uri="{BB962C8B-B14F-4D97-AF65-F5344CB8AC3E}">
        <p14:creationId xmlns:p14="http://schemas.microsoft.com/office/powerpoint/2010/main" val="3701992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F8B9-ED94-233D-94F1-0595C8216F6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A79F20E-7745-0F7B-63C5-CC7BD3544846}"/>
              </a:ext>
            </a:extLst>
          </p:cNvPr>
          <p:cNvSpPr>
            <a:spLocks noGrp="1"/>
          </p:cNvSpPr>
          <p:nvPr>
            <p:ph type="sldNum" sz="quarter" idx="12"/>
          </p:nvPr>
        </p:nvSpPr>
        <p:spPr/>
        <p:txBody>
          <a:bodyPr/>
          <a:lstStyle/>
          <a:p>
            <a:fld id="{3E75C6D3-133E-4A51-8F1C-F484242B8F05}" type="slidenum">
              <a:rPr lang="zh-CN" altLang="en-US" smtClean="0"/>
              <a:t>26</a:t>
            </a:fld>
            <a:endParaRPr lang="zh-CN" altLang="en-US"/>
          </a:p>
        </p:txBody>
      </p:sp>
      <p:sp>
        <p:nvSpPr>
          <p:cNvPr id="11" name="文本框 10">
            <a:hlinkClick r:id="rId2" action="ppaction://hlinksldjump"/>
            <a:extLst>
              <a:ext uri="{FF2B5EF4-FFF2-40B4-BE49-F238E27FC236}">
                <a16:creationId xmlns:a16="http://schemas.microsoft.com/office/drawing/2014/main" id="{4CA42991-E15F-4DED-721A-E237CE020940}"/>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0A997206-8F95-8B32-831C-3AA9925532EC}"/>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323E88F3-F097-CF46-B785-1C961BAE2815}"/>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07BC83CE-4AA6-4F6A-08FC-D000E5398F79}"/>
              </a:ext>
            </a:extLst>
          </p:cNvPr>
          <p:cNvSpPr txBox="1"/>
          <p:nvPr/>
        </p:nvSpPr>
        <p:spPr>
          <a:xfrm>
            <a:off x="82111" y="5291227"/>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ACBF5B3D-051F-A06E-C51E-A7A479A27BE3}"/>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8CD65BB8-D485-2859-9935-93699EC7A2F4}"/>
              </a:ext>
            </a:extLst>
          </p:cNvPr>
          <p:cNvCxnSpPr/>
          <p:nvPr/>
        </p:nvCxnSpPr>
        <p:spPr>
          <a:xfrm>
            <a:off x="348124" y="5942878"/>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CEC7C326-6C3A-7707-F99D-CD4E8F97A3EE}"/>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kumimoji="0" lang="zh-CN" altLang="en-US"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rPr>
              <a:t>数据来源与基准</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D1F31E85-9279-8F1B-5DEF-AC91D46A384F}"/>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9D72C616-830E-FAC7-B744-4E53807F052B}"/>
              </a:ext>
            </a:extLst>
          </p:cNvPr>
          <p:cNvSpPr txBox="1"/>
          <p:nvPr/>
        </p:nvSpPr>
        <p:spPr>
          <a:xfrm>
            <a:off x="2014220" y="1198880"/>
            <a:ext cx="9850120" cy="646331"/>
          </a:xfrm>
          <a:prstGeom prst="rect">
            <a:avLst/>
          </a:prstGeom>
          <a:noFill/>
        </p:spPr>
        <p:txBody>
          <a:bodyPr wrap="square" rtlCol="0">
            <a:spAutoFit/>
          </a:bodyPr>
          <a:lstStyle/>
          <a:p>
            <a:r>
              <a:rPr lang="zh-CN" altLang="en-US" b="1" dirty="0">
                <a:latin typeface="+mj-ea"/>
                <a:ea typeface="+mj-ea"/>
              </a:rPr>
              <a:t>数据来源：</a:t>
            </a:r>
            <a:endParaRPr lang="en-US" altLang="zh-CN" b="1" dirty="0">
              <a:latin typeface="+mj-ea"/>
              <a:ea typeface="+mj-ea"/>
            </a:endParaRPr>
          </a:p>
          <a:p>
            <a:r>
              <a:rPr lang="zh-CN" altLang="en-US" dirty="0"/>
              <a:t>以下展示</a:t>
            </a:r>
            <a:r>
              <a:rPr lang="en-US" altLang="zh-CN" dirty="0"/>
              <a:t>outputfile.txt</a:t>
            </a:r>
            <a:r>
              <a:rPr lang="zh-CN" altLang="en-US" dirty="0"/>
              <a:t>的前</a:t>
            </a:r>
            <a:r>
              <a:rPr lang="en-US" altLang="zh-CN" dirty="0"/>
              <a:t>10</a:t>
            </a:r>
            <a:r>
              <a:rPr lang="zh-CN" altLang="en-US" dirty="0"/>
              <a:t>行和后</a:t>
            </a:r>
            <a:r>
              <a:rPr lang="en-US" altLang="zh-CN" dirty="0"/>
              <a:t>10</a:t>
            </a:r>
            <a:r>
              <a:rPr lang="zh-CN" altLang="en-US" dirty="0"/>
              <a:t>行截图：</a:t>
            </a:r>
            <a:endParaRPr lang="en-US" altLang="zh-CN" dirty="0"/>
          </a:p>
        </p:txBody>
      </p:sp>
      <p:pic>
        <p:nvPicPr>
          <p:cNvPr id="8" name="图片 7">
            <a:extLst>
              <a:ext uri="{FF2B5EF4-FFF2-40B4-BE49-F238E27FC236}">
                <a16:creationId xmlns:a16="http://schemas.microsoft.com/office/drawing/2014/main" id="{33EBA6C2-078B-C107-C0AE-4091C881CE48}"/>
              </a:ext>
            </a:extLst>
          </p:cNvPr>
          <p:cNvPicPr>
            <a:picLocks noChangeAspect="1"/>
          </p:cNvPicPr>
          <p:nvPr/>
        </p:nvPicPr>
        <p:blipFill>
          <a:blip r:embed="rId4"/>
          <a:stretch>
            <a:fillRect/>
          </a:stretch>
        </p:blipFill>
        <p:spPr>
          <a:xfrm>
            <a:off x="2014220" y="2055618"/>
            <a:ext cx="4591691" cy="3048425"/>
          </a:xfrm>
          <a:prstGeom prst="rect">
            <a:avLst/>
          </a:prstGeom>
        </p:spPr>
      </p:pic>
      <p:pic>
        <p:nvPicPr>
          <p:cNvPr id="19" name="图片 18">
            <a:extLst>
              <a:ext uri="{FF2B5EF4-FFF2-40B4-BE49-F238E27FC236}">
                <a16:creationId xmlns:a16="http://schemas.microsoft.com/office/drawing/2014/main" id="{8F7C0D1A-9129-B553-8A88-7696EFF131C0}"/>
              </a:ext>
            </a:extLst>
          </p:cNvPr>
          <p:cNvPicPr>
            <a:picLocks noChangeAspect="1"/>
          </p:cNvPicPr>
          <p:nvPr/>
        </p:nvPicPr>
        <p:blipFill>
          <a:blip r:embed="rId5"/>
          <a:stretch>
            <a:fillRect/>
          </a:stretch>
        </p:blipFill>
        <p:spPr>
          <a:xfrm>
            <a:off x="6858950" y="2074670"/>
            <a:ext cx="3677163" cy="3010320"/>
          </a:xfrm>
          <a:prstGeom prst="rect">
            <a:avLst/>
          </a:prstGeom>
        </p:spPr>
      </p:pic>
    </p:spTree>
    <p:extLst>
      <p:ext uri="{BB962C8B-B14F-4D97-AF65-F5344CB8AC3E}">
        <p14:creationId xmlns:p14="http://schemas.microsoft.com/office/powerpoint/2010/main" val="3160161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6C86A-04B9-E1AA-5AF0-CBDEC7AA24E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9819058-B506-7960-5F91-748F3833ABF1}"/>
              </a:ext>
            </a:extLst>
          </p:cNvPr>
          <p:cNvSpPr>
            <a:spLocks noGrp="1"/>
          </p:cNvSpPr>
          <p:nvPr>
            <p:ph type="sldNum" sz="quarter" idx="12"/>
          </p:nvPr>
        </p:nvSpPr>
        <p:spPr/>
        <p:txBody>
          <a:bodyPr/>
          <a:lstStyle/>
          <a:p>
            <a:fld id="{3E75C6D3-133E-4A51-8F1C-F484242B8F05}" type="slidenum">
              <a:rPr lang="zh-CN" altLang="en-US" smtClean="0"/>
              <a:t>27</a:t>
            </a:fld>
            <a:endParaRPr lang="zh-CN" altLang="en-US"/>
          </a:p>
        </p:txBody>
      </p:sp>
      <p:sp>
        <p:nvSpPr>
          <p:cNvPr id="11" name="文本框 10">
            <a:hlinkClick r:id="rId2" action="ppaction://hlinksldjump"/>
            <a:extLst>
              <a:ext uri="{FF2B5EF4-FFF2-40B4-BE49-F238E27FC236}">
                <a16:creationId xmlns:a16="http://schemas.microsoft.com/office/drawing/2014/main" id="{DE9B68B3-F709-CE37-21EB-67A265A11758}"/>
              </a:ext>
            </a:extLst>
          </p:cNvPr>
          <p:cNvSpPr txBox="1"/>
          <p:nvPr/>
        </p:nvSpPr>
        <p:spPr>
          <a:xfrm>
            <a:off x="82112" y="1849145"/>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摘要</a:t>
            </a:r>
            <a:endParaRPr lang="en-US" altLang="zh-CN" dirty="0"/>
          </a:p>
          <a:p>
            <a:r>
              <a:rPr lang="zh-CN" altLang="en-US" dirty="0"/>
              <a:t>介绍</a:t>
            </a:r>
            <a:r>
              <a:rPr lang="en-US" altLang="zh-CN" dirty="0"/>
              <a:t>/</a:t>
            </a:r>
            <a:r>
              <a:rPr lang="zh-CN" altLang="en-US" dirty="0"/>
              <a:t>引言</a:t>
            </a:r>
            <a:endParaRPr lang="en-US" dirty="0"/>
          </a:p>
        </p:txBody>
      </p:sp>
      <p:sp>
        <p:nvSpPr>
          <p:cNvPr id="12" name="文本框 11">
            <a:extLst>
              <a:ext uri="{FF2B5EF4-FFF2-40B4-BE49-F238E27FC236}">
                <a16:creationId xmlns:a16="http://schemas.microsoft.com/office/drawing/2014/main" id="{3F045E68-C751-95BE-EF6D-0A9B85C2AA4B}"/>
              </a:ext>
            </a:extLst>
          </p:cNvPr>
          <p:cNvSpPr txBox="1"/>
          <p:nvPr/>
        </p:nvSpPr>
        <p:spPr>
          <a:xfrm>
            <a:off x="82112" y="3225120"/>
            <a:ext cx="1573322" cy="400110"/>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i="0" u="none" strike="noStrike" cap="none" spc="0" normalizeH="0" baseline="0">
                <a:ln>
                  <a:noFill/>
                </a:ln>
                <a:solidFill>
                  <a:schemeClr val="bg1">
                    <a:lumMod val="65000"/>
                  </a:schemeClr>
                </a:solidFill>
                <a:effectLst/>
                <a:uLnTx/>
                <a:uFillTx/>
                <a:latin typeface="+mn-ea"/>
              </a:defRPr>
            </a:lvl1pPr>
          </a:lstStyle>
          <a:p>
            <a:r>
              <a:rPr lang="zh-CN" altLang="en-US" dirty="0"/>
              <a:t>相关工作</a:t>
            </a:r>
            <a:endParaRPr lang="en-US" altLang="zh-CN" dirty="0"/>
          </a:p>
        </p:txBody>
      </p:sp>
      <p:sp>
        <p:nvSpPr>
          <p:cNvPr id="13" name="文本框 12">
            <a:hlinkClick r:id="rId3" action="ppaction://hlinksldjump"/>
            <a:extLst>
              <a:ext uri="{FF2B5EF4-FFF2-40B4-BE49-F238E27FC236}">
                <a16:creationId xmlns:a16="http://schemas.microsoft.com/office/drawing/2014/main" id="{1B7A011C-FCFF-A776-8E7F-46DC7617C953}"/>
              </a:ext>
            </a:extLst>
          </p:cNvPr>
          <p:cNvSpPr txBox="1"/>
          <p:nvPr/>
        </p:nvSpPr>
        <p:spPr>
          <a:xfrm>
            <a:off x="82112" y="4435810"/>
            <a:ext cx="1573322"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chemeClr val="bg1">
                    <a:lumMod val="65000"/>
                  </a:schemeClr>
                </a:solidFill>
                <a:latin typeface="+mn-ea"/>
              </a:rPr>
              <a:t>方法论</a:t>
            </a:r>
            <a:endParaRPr kumimoji="0" lang="en-US" altLang="zh-CN" sz="2000" i="0" u="none" strike="noStrike" kern="1200" cap="none" spc="0" normalizeH="0" baseline="0" noProof="0" dirty="0">
              <a:ln>
                <a:noFill/>
              </a:ln>
              <a:solidFill>
                <a:schemeClr val="bg1">
                  <a:lumMod val="65000"/>
                </a:schemeClr>
              </a:solidFill>
              <a:effectLst/>
              <a:uLnTx/>
              <a:uFillTx/>
              <a:latin typeface="+mn-ea"/>
              <a:cs typeface="+mn-cs"/>
            </a:endParaRPr>
          </a:p>
        </p:txBody>
      </p:sp>
      <p:sp>
        <p:nvSpPr>
          <p:cNvPr id="14" name="文本框 13">
            <a:hlinkClick r:id="" action="ppaction://noaction"/>
            <a:extLst>
              <a:ext uri="{FF2B5EF4-FFF2-40B4-BE49-F238E27FC236}">
                <a16:creationId xmlns:a16="http://schemas.microsoft.com/office/drawing/2014/main" id="{EB4FE4F6-054F-C63C-1CC0-43978FDD8704}"/>
              </a:ext>
            </a:extLst>
          </p:cNvPr>
          <p:cNvSpPr txBox="1"/>
          <p:nvPr/>
        </p:nvSpPr>
        <p:spPr>
          <a:xfrm>
            <a:off x="92474" y="5234992"/>
            <a:ext cx="1573322" cy="707886"/>
          </a:xfrm>
          <a:prstGeom prst="rect">
            <a:avLst/>
          </a:prstGeom>
          <a:noFill/>
        </p:spPr>
        <p:txBody>
          <a:bodyPr wrap="square">
            <a:spAutoFit/>
          </a:bodyPr>
          <a:lstStyle>
            <a:defPPr>
              <a:defRPr lang="zh-CN"/>
            </a:defPPr>
            <a:lvl1pPr marR="0" lvl="0" indent="0" algn="ctr" fontAlgn="auto">
              <a:lnSpc>
                <a:spcPct val="100000"/>
              </a:lnSpc>
              <a:spcBef>
                <a:spcPts val="0"/>
              </a:spcBef>
              <a:spcAft>
                <a:spcPts val="0"/>
              </a:spcAft>
              <a:buClrTx/>
              <a:buSzTx/>
              <a:buFontTx/>
              <a:buNone/>
              <a:defRPr kumimoji="0" sz="2000" b="1" i="0" u="none" strike="noStrike" cap="none" spc="0" normalizeH="0" baseline="0">
                <a:ln>
                  <a:noFill/>
                </a:ln>
                <a:solidFill>
                  <a:schemeClr val="bg1"/>
                </a:solidFill>
                <a:effectLst/>
                <a:uLnTx/>
                <a:uFillTx/>
                <a:latin typeface="+mj-ea"/>
                <a:ea typeface="+mj-ea"/>
              </a:defRPr>
            </a:lvl1pPr>
          </a:lstStyle>
          <a:p>
            <a:r>
              <a:rPr lang="zh-CN" altLang="en-US" dirty="0"/>
              <a:t>实验</a:t>
            </a:r>
            <a:r>
              <a:rPr lang="en-US" altLang="zh-CN" dirty="0"/>
              <a:t>/</a:t>
            </a:r>
            <a:r>
              <a:rPr lang="zh-CN" altLang="en-US" dirty="0"/>
              <a:t>复现结论</a:t>
            </a:r>
            <a:endParaRPr lang="en-US" altLang="zh-CN" dirty="0"/>
          </a:p>
        </p:txBody>
      </p:sp>
      <p:sp>
        <p:nvSpPr>
          <p:cNvPr id="15" name="等腰三角形 14">
            <a:extLst>
              <a:ext uri="{FF2B5EF4-FFF2-40B4-BE49-F238E27FC236}">
                <a16:creationId xmlns:a16="http://schemas.microsoft.com/office/drawing/2014/main" id="{333B6525-5F49-E1E9-86C2-AB18C351813E}"/>
              </a:ext>
            </a:extLst>
          </p:cNvPr>
          <p:cNvSpPr/>
          <p:nvPr/>
        </p:nvSpPr>
        <p:spPr>
          <a:xfrm rot="16200000">
            <a:off x="1647494" y="5596875"/>
            <a:ext cx="115125" cy="992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B5E4AFF0-5234-B5F3-6E5D-DEDD69C3A238}"/>
              </a:ext>
            </a:extLst>
          </p:cNvPr>
          <p:cNvCxnSpPr/>
          <p:nvPr/>
        </p:nvCxnSpPr>
        <p:spPr>
          <a:xfrm>
            <a:off x="348124" y="5942878"/>
            <a:ext cx="531011"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BAF1374A-B758-9BB1-59FE-C5607C052A42}"/>
              </a:ext>
            </a:extLst>
          </p:cNvPr>
          <p:cNvSpPr txBox="1"/>
          <p:nvPr/>
        </p:nvSpPr>
        <p:spPr>
          <a:xfrm>
            <a:off x="1982961" y="213716"/>
            <a:ext cx="4429315" cy="533288"/>
          </a:xfrm>
          <a:prstGeom prst="rect">
            <a:avLst/>
          </a:prstGeom>
          <a:noFill/>
        </p:spPr>
        <p:txBody>
          <a:bodyPr wrap="square" rtlCol="0">
            <a:spAutoFit/>
          </a:bodyPr>
          <a:lstStyle/>
          <a:p>
            <a:pPr marL="0" marR="0" lvl="0" indent="0" defTabSz="914400" rtl="0" eaLnBrk="1" fontAlgn="auto" latinLnBrk="0" hangingPunct="1">
              <a:lnSpc>
                <a:spcPct val="110000"/>
              </a:lnSpc>
              <a:spcBef>
                <a:spcPts val="0"/>
              </a:spcBef>
              <a:spcAft>
                <a:spcPts val="0"/>
              </a:spcAft>
              <a:buClrTx/>
              <a:buSzTx/>
              <a:buFontTx/>
              <a:buNone/>
              <a:defRPr/>
            </a:pPr>
            <a:r>
              <a:rPr lang="zh-CN" altLang="en-US" sz="2800" b="1" dirty="0">
                <a:latin typeface="微软雅黑" panose="020B0503020204020204" charset="-122"/>
                <a:ea typeface="微软雅黑" panose="020B0503020204020204" charset="-122"/>
              </a:rPr>
              <a:t>结论</a:t>
            </a:r>
            <a:endParaRPr kumimoji="0" lang="en-US" altLang="zh-CN" sz="2800" b="1" i="0" u="none" strike="noStrike" kern="1200" cap="none" spc="0" normalizeH="0" baseline="0" noProof="0" dirty="0">
              <a:ln>
                <a:noFill/>
              </a:ln>
              <a:effectLst/>
              <a:uLnTx/>
              <a:uFillTx/>
              <a:latin typeface="微软雅黑" panose="020B0503020204020204" charset="-122"/>
              <a:ea typeface="微软雅黑" panose="020B0503020204020204" charset="-122"/>
              <a:cs typeface="+mn-cs"/>
            </a:endParaRPr>
          </a:p>
        </p:txBody>
      </p:sp>
      <p:cxnSp>
        <p:nvCxnSpPr>
          <p:cNvPr id="10" name="直接连接符 9">
            <a:extLst>
              <a:ext uri="{FF2B5EF4-FFF2-40B4-BE49-F238E27FC236}">
                <a16:creationId xmlns:a16="http://schemas.microsoft.com/office/drawing/2014/main" id="{A60F6279-4BA5-5E06-DFA8-56FB665A1AB4}"/>
              </a:ext>
            </a:extLst>
          </p:cNvPr>
          <p:cNvCxnSpPr/>
          <p:nvPr/>
        </p:nvCxnSpPr>
        <p:spPr>
          <a:xfrm>
            <a:off x="2034438" y="921941"/>
            <a:ext cx="5998191"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42C71D0E-EDB6-772C-912E-CCE5F4188E84}"/>
              </a:ext>
            </a:extLst>
          </p:cNvPr>
          <p:cNvSpPr txBox="1"/>
          <p:nvPr/>
        </p:nvSpPr>
        <p:spPr>
          <a:xfrm>
            <a:off x="1854134" y="1849145"/>
            <a:ext cx="9772752" cy="2862322"/>
          </a:xfrm>
          <a:prstGeom prst="rect">
            <a:avLst/>
          </a:prstGeom>
          <a:noFill/>
        </p:spPr>
        <p:txBody>
          <a:bodyPr wrap="square" rtlCol="0">
            <a:spAutoFit/>
          </a:bodyPr>
          <a:lstStyle/>
          <a:p>
            <a:r>
              <a:rPr lang="zh-CN" altLang="en-US" dirty="0"/>
              <a:t>   本文提出一种名为 </a:t>
            </a:r>
            <a:r>
              <a:rPr lang="en-US" altLang="zh-CN" dirty="0" err="1"/>
              <a:t>DISFusion</a:t>
            </a:r>
            <a:r>
              <a:rPr lang="en-US" altLang="zh-CN" dirty="0"/>
              <a:t> </a:t>
            </a:r>
            <a:r>
              <a:rPr lang="zh-CN" altLang="en-US" dirty="0"/>
              <a:t>的新方法。该方法</a:t>
            </a:r>
            <a:r>
              <a:rPr lang="zh-CN" altLang="en-US" b="1" dirty="0">
                <a:solidFill>
                  <a:schemeClr val="accent1"/>
                </a:solidFill>
              </a:rPr>
              <a:t>融合多组学特征、蛋白质相互作用网络与基因功能关联信息</a:t>
            </a:r>
            <a:r>
              <a:rPr lang="zh-CN" altLang="en-US" dirty="0"/>
              <a:t>，提升癌症基因的识别效果。</a:t>
            </a:r>
          </a:p>
          <a:p>
            <a:r>
              <a:rPr lang="en-US" altLang="zh-CN" dirty="0"/>
              <a:t>   </a:t>
            </a:r>
            <a:r>
              <a:rPr lang="en-US" altLang="zh-CN" dirty="0" err="1"/>
              <a:t>DISFusion</a:t>
            </a:r>
            <a:r>
              <a:rPr lang="en-US" altLang="zh-CN" dirty="0"/>
              <a:t> </a:t>
            </a:r>
            <a:r>
              <a:rPr lang="zh-CN" altLang="en-US" dirty="0"/>
              <a:t>首先采用图卷积网络（</a:t>
            </a:r>
            <a:r>
              <a:rPr lang="en-US" altLang="zh-CN" dirty="0"/>
              <a:t>GCN</a:t>
            </a:r>
            <a:r>
              <a:rPr lang="zh-CN" altLang="en-US" dirty="0"/>
              <a:t>）与异构图神经网络（</a:t>
            </a:r>
            <a:r>
              <a:rPr lang="en-US" altLang="zh-CN" dirty="0"/>
              <a:t>HGNN</a:t>
            </a:r>
            <a:r>
              <a:rPr lang="zh-CN" altLang="en-US" dirty="0"/>
              <a:t>），从蛋白质相互作用网络和注释基因集中提取基因关联信息，并生成基因嵌入向量；随后引入</a:t>
            </a:r>
            <a:r>
              <a:rPr lang="zh-CN" altLang="en-US" b="1" dirty="0">
                <a:solidFill>
                  <a:schemeClr val="accent1"/>
                </a:solidFill>
              </a:rPr>
              <a:t>跨视图解相关损失函数</a:t>
            </a:r>
            <a:r>
              <a:rPr lang="zh-CN" altLang="en-US" dirty="0"/>
              <a:t>，强化蛋白质相互作用网络与注释基因集的基因功能关联之间的共有特征，进一步优化基因嵌入向量的质量；最后融合两类关联信息对应的基因嵌入向量，完成癌症基因识别。</a:t>
            </a:r>
          </a:p>
          <a:p>
            <a:r>
              <a:rPr lang="zh-CN" altLang="en-US" dirty="0"/>
              <a:t>   大量实验结果表明，</a:t>
            </a:r>
            <a:r>
              <a:rPr lang="en-US" altLang="zh-CN" b="1" dirty="0" err="1">
                <a:solidFill>
                  <a:schemeClr val="accent1"/>
                </a:solidFill>
              </a:rPr>
              <a:t>DISFusion</a:t>
            </a:r>
            <a:r>
              <a:rPr lang="en-US" altLang="zh-CN" b="1" dirty="0">
                <a:solidFill>
                  <a:schemeClr val="accent1"/>
                </a:solidFill>
              </a:rPr>
              <a:t> </a:t>
            </a:r>
            <a:r>
              <a:rPr lang="zh-CN" altLang="en-US" b="1" dirty="0">
                <a:solidFill>
                  <a:schemeClr val="accent1"/>
                </a:solidFill>
              </a:rPr>
              <a:t>的性能优于当前主流方法，且具备更强的泛化能力</a:t>
            </a:r>
            <a:r>
              <a:rPr lang="zh-CN" altLang="en-US" dirty="0"/>
              <a:t>。分析证实，跨视图解相关损失函数对提升模型性能、精准识别癌症基因起到关键作用。此外，基于临床蛋白质组肿瘤分析联盟（</a:t>
            </a:r>
            <a:r>
              <a:rPr lang="en-US" altLang="zh-CN" dirty="0"/>
              <a:t>CPTAC</a:t>
            </a:r>
            <a:r>
              <a:rPr lang="zh-CN" altLang="en-US" dirty="0"/>
              <a:t>）泛癌蛋白质组数据的验证，也证明了 </a:t>
            </a:r>
            <a:r>
              <a:rPr lang="en-US" altLang="zh-CN" dirty="0" err="1"/>
              <a:t>DISFusion</a:t>
            </a:r>
            <a:r>
              <a:rPr lang="en-US" altLang="zh-CN" dirty="0"/>
              <a:t> </a:t>
            </a:r>
            <a:r>
              <a:rPr lang="zh-CN" altLang="en-US" dirty="0"/>
              <a:t>具备实际应用价值，有望推动癌症基因挖掘领域的发展。</a:t>
            </a:r>
          </a:p>
        </p:txBody>
      </p:sp>
    </p:spTree>
    <p:extLst>
      <p:ext uri="{BB962C8B-B14F-4D97-AF65-F5344CB8AC3E}">
        <p14:creationId xmlns:p14="http://schemas.microsoft.com/office/powerpoint/2010/main" val="3463440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rcRect l="50151"/>
          <a:stretch>
            <a:fillRect/>
          </a:stretch>
        </p:blipFill>
        <p:spPr>
          <a:xfrm>
            <a:off x="0" y="17891"/>
            <a:ext cx="3439538" cy="6858000"/>
          </a:xfrm>
          <a:prstGeom prst="rect">
            <a:avLst/>
          </a:prstGeom>
        </p:spPr>
      </p:pic>
      <p:sp>
        <p:nvSpPr>
          <p:cNvPr id="2" name="标题 1"/>
          <p:cNvSpPr>
            <a:spLocks noGrp="1"/>
          </p:cNvSpPr>
          <p:nvPr>
            <p:ph type="ctrTitle"/>
          </p:nvPr>
        </p:nvSpPr>
        <p:spPr>
          <a:xfrm>
            <a:off x="1005431" y="948805"/>
            <a:ext cx="7578019" cy="1655761"/>
          </a:xfrm>
        </p:spPr>
        <p:txBody>
          <a:bodyPr>
            <a:noAutofit/>
          </a:bodyPr>
          <a:lstStyle/>
          <a:p>
            <a:pPr algn="l">
              <a:lnSpc>
                <a:spcPct val="130000"/>
              </a:lnSpc>
            </a:pPr>
            <a:br>
              <a:rPr lang="en-US" altLang="zh-CN" sz="2400" b="1" dirty="0"/>
            </a:br>
            <a:r>
              <a:rPr lang="zh-CN" altLang="en-US" sz="4800" b="1" dirty="0">
                <a:solidFill>
                  <a:schemeClr val="accent1"/>
                </a:solidFill>
              </a:rPr>
              <a:t>敬请各位老师批评指正！</a:t>
            </a:r>
            <a:endParaRPr lang="zh-CN" altLang="en-US" sz="4400" b="1" dirty="0">
              <a:solidFill>
                <a:schemeClr val="accent1"/>
              </a:solidFill>
            </a:endParaRPr>
          </a:p>
        </p:txBody>
      </p:sp>
      <p:sp>
        <p:nvSpPr>
          <p:cNvPr id="5" name="矩形 4"/>
          <p:cNvSpPr/>
          <p:nvPr/>
        </p:nvSpPr>
        <p:spPr>
          <a:xfrm>
            <a:off x="9266841" y="0"/>
            <a:ext cx="187839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9020174" y="2243138"/>
            <a:ext cx="2371725" cy="2371725"/>
          </a:xfrm>
          <a:prstGeom prst="ellipse">
            <a:avLst/>
          </a:prstGeom>
          <a:solidFill>
            <a:schemeClr val="bg1"/>
          </a:solidFill>
          <a:ln>
            <a:noFill/>
          </a:ln>
          <a:effectLst>
            <a:glow rad="127000">
              <a:schemeClr val="bg1">
                <a:lumMod val="8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p:cNvCxnSpPr/>
          <p:nvPr/>
        </p:nvCxnSpPr>
        <p:spPr>
          <a:xfrm>
            <a:off x="1136650" y="2875165"/>
            <a:ext cx="17526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85397" y="2250943"/>
            <a:ext cx="2406502" cy="23918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M4ZjdkYmQ2Nzk0ZTIzYThjMTRlNTk4YWVkZGI0ZTA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47.18582677165358,&quot;left&quot;:28.685826771653534,&quot;top&quot;:219.99968503937006,&quot;width&quot;:886.414094488188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44.9215748031496,&quot;left&quot;:6.465511811023622,&quot;top&quot;:65.0655905511811,&quot;width&quot;:966.5038582677164}"/>
</p:tagLst>
</file>

<file path=ppt/theme/theme1.xml><?xml version="1.0" encoding="utf-8"?>
<a:theme xmlns:a="http://schemas.openxmlformats.org/drawingml/2006/main" name="Office 主题​​">
  <a:themeElements>
    <a:clrScheme name="北大红">
      <a:dk1>
        <a:sysClr val="windowText" lastClr="000000"/>
      </a:dk1>
      <a:lt1>
        <a:sysClr val="window" lastClr="FFFFFF"/>
      </a:lt1>
      <a:dk2>
        <a:srgbClr val="44546A"/>
      </a:dk2>
      <a:lt2>
        <a:srgbClr val="E7E6E6"/>
      </a:lt2>
      <a:accent1>
        <a:srgbClr val="8B0012"/>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微软雅黑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125</TotalTime>
  <Words>3339</Words>
  <Application>Microsoft Office PowerPoint</Application>
  <PresentationFormat>宽屏</PresentationFormat>
  <Paragraphs>347</Paragraphs>
  <Slides>28</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Color Emoji</vt:lpstr>
      <vt:lpstr>quote-cjk-patch</vt:lpstr>
      <vt:lpstr>等线</vt:lpstr>
      <vt:lpstr>黑体</vt:lpstr>
      <vt:lpstr>微软雅黑</vt:lpstr>
      <vt:lpstr>微软雅黑 Light</vt:lpstr>
      <vt:lpstr>Arial</vt:lpstr>
      <vt:lpstr>Office 主题​​</vt:lpstr>
      <vt:lpstr> 通过增强PPI网络与基因功能关联 之间的共同信息来改进癌症基因预测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敬请各位老师批评指正！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学术风顶部导航栏 毕业论文答辩通用PPT模板</dc:title>
  <dc:creator>周家宝</dc:creator>
  <cp:lastModifiedBy>静芸 刘</cp:lastModifiedBy>
  <cp:revision>466</cp:revision>
  <dcterms:created xsi:type="dcterms:W3CDTF">2023-04-28T01:38:00Z</dcterms:created>
  <dcterms:modified xsi:type="dcterms:W3CDTF">2026-05-29T06:18:50Z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DCD4E0FF5672475DA71A04E4BAEB9AB8_13</vt:lpwstr>
  </property>
  <property fmtid="{D5CDD505-2E9C-101B-9397-08002B2CF9AE}" pid="3" name="KSOProductBuildVer">
    <vt:lpwstr>2052-12.1.0.26375</vt:lpwstr>
  </property>
</Properties>
</file>